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7" r:id="rId1"/>
  </p:sldMasterIdLst>
  <p:notesMasterIdLst>
    <p:notesMasterId r:id="rId21"/>
  </p:notesMasterIdLst>
  <p:sldIdLst>
    <p:sldId id="256" r:id="rId2"/>
    <p:sldId id="267" r:id="rId3"/>
    <p:sldId id="262" r:id="rId4"/>
    <p:sldId id="264" r:id="rId5"/>
    <p:sldId id="268" r:id="rId6"/>
    <p:sldId id="269" r:id="rId7"/>
    <p:sldId id="270" r:id="rId8"/>
    <p:sldId id="271" r:id="rId9"/>
    <p:sldId id="273" r:id="rId10"/>
    <p:sldId id="261" r:id="rId11"/>
    <p:sldId id="257" r:id="rId12"/>
    <p:sldId id="258" r:id="rId13"/>
    <p:sldId id="259" r:id="rId14"/>
    <p:sldId id="260" r:id="rId15"/>
    <p:sldId id="275" r:id="rId16"/>
    <p:sldId id="276" r:id="rId17"/>
    <p:sldId id="277" r:id="rId18"/>
    <p:sldId id="278"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8647"/>
    <a:srgbClr val="78B68F"/>
    <a:srgbClr val="FF7A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339" autoAdjust="0"/>
  </p:normalViewPr>
  <p:slideViewPr>
    <p:cSldViewPr snapToGrid="0">
      <p:cViewPr varScale="1">
        <p:scale>
          <a:sx n="76" d="100"/>
          <a:sy n="76" d="100"/>
        </p:scale>
        <p:origin x="91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part of the </a:t>
            </a:r>
            <a:r>
              <a:rPr dirty="0"/>
              <a:t>requirements covers the financial transactions that power Finora. I will explain how users review and manage their transaction history, then show how they add income and expenses. These features work together to keep the user’s</a:t>
            </a:r>
            <a:r>
              <a:rPr lang="en-US" dirty="0"/>
              <a:t> budget</a:t>
            </a:r>
            <a:r>
              <a:rPr dirty="0"/>
              <a:t> balance and financial records current.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UML use cases are a type of behavioral diagram that visually and maps out how the user interact with a system's core functions.</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3635953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sz="1200" b="0" dirty="0">
                <a:solidFill>
                  <a:srgbClr val="5B6B7E"/>
                </a:solidFill>
                <a:latin typeface="Nimbus Sans"/>
                <a:ea typeface="Nimbus Sans"/>
                <a:cs typeface="Nimbus Sans"/>
              </a:rPr>
              <a:t>The page retrieves prior transactions from the database and shows the details needed to understand each balance change.</a:t>
            </a:r>
          </a:p>
          <a:p>
            <a:br>
              <a:rPr lang="en-US" dirty="0"/>
            </a:br>
            <a:r>
              <a:rPr dirty="0"/>
              <a:t>The transaction history page gives users one place to review earlier financial activity. Finora retrieves the records from the database and displays the transaction name, amount, category, frequency, and date. These fields make it clear why the balance changed and whether the transaction will repeat. Users can also correct a record through Edit. The popup opens with the existing values already filled in, and Confirm updates the database. Remove opens a second confirmation popup, so a user does not erase a transaction by mistake. Cancel closes either popup without making a change. The sample records on this slide only illustrate the planned layout.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5B6B7E"/>
                </a:solidFill>
                <a:latin typeface="Nimbus Sans"/>
                <a:ea typeface="Nimbus Sans"/>
                <a:cs typeface="Nimbus Sans"/>
              </a:rPr>
              <a:t>Sorting and filtering keep a long transaction list usable without changing the stored records.</a:t>
            </a:r>
          </a:p>
          <a:p>
            <a:endParaRPr lang="en-US" dirty="0"/>
          </a:p>
          <a:p>
            <a:r>
              <a:rPr dirty="0"/>
              <a:t>As the user adds more records, the history needs tools for finding the right transaction. Date is the default sort, with the newest items first. The user can switch the sort to name, amount, category, or frequency, and a separate button reverses the order. When two records have the same priority, the system applies the secondary sequence specified in the requirements. Filtering focuses the list on one category, including both expense and income categories. The include and exclude control changes the meaning of that filter. Include shows the selected category. Exclude hides that category and keeps the rest. The filter changes only what the user sees. It does not delete or modify any record.</a:t>
            </a:r>
            <a:r>
              <a:rPr lang="en-US" dirty="0"/>
              <a:t>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5B6B7E"/>
                </a:solidFill>
                <a:latin typeface="Nimbus Sans"/>
                <a:ea typeface="Nimbus Sans"/>
                <a:cs typeface="Nimbus Sans"/>
              </a:rPr>
              <a:t>Two views: Include shows the chosen category. Exclude hides it and shows everything else.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Income Tracking records money coming into the account. When the user chooses Add Income, the form asks for the amount, date, category, and a source or description. The predefined categories include employment, financial aid, scholarships, allowance, self employment, and other income. Before saving, Finora checks that the amount is greater than zero and that the user selected both a date and a category. Missing or invalid information produces an error message. If the entry passes validation, Add Income saves it to the database and adds it to the user's transaction history. Cancel closes the form without saving.</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0F766E"/>
                </a:solidFill>
                <a:latin typeface="Nimbus Sans"/>
                <a:ea typeface="Nimbus Sans"/>
                <a:cs typeface="Nimbus Sans"/>
              </a:rPr>
              <a:t>Valid entries become part of the user's transaction history.</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Expense Tracking follows the same workflow, but it records money leaving the account. The user enters an amount, chooses a date and expense category, and can add an optional description. The categories cover common student expenses such as food, housing, transportation, tuition, entertainment, utilities, subscriptions, and other. The amount must be greater than zero, and the date and category are required. Invalid information causes an error message, while a valid entry saves to the user's records. Once saved, the expense appears in transaction history and reduces the calculated balance. Together, income and expense tracking provide the records that the management page can sort, filter, edit, or remove.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2DC7E-5DC3-BA4F-E16E-6195DF69C2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DA133AA-3462-F347-F7E2-D9E576792C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E83C4A3-CBA0-60D0-5441-984BE39968B2}"/>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F2D59E94-0534-0284-1DB8-BFE32F8FEF05}"/>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9999A46D-4DE3-090F-3894-951B861D4CD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97508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CEFBF-75CF-F1D6-43A1-3990204113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4419DD-352B-446D-66DB-7162B403A1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8B58B9-B35A-D7FB-AC95-00CBE79F93AE}"/>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A0D8CCAE-A7CF-0597-5080-F5B5E8411648}"/>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532F9B50-3AD7-C73D-1619-B74ACA65482A}"/>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092692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E0303-E45D-FBD8-622C-A07CF4EBD9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843C01-AEB7-E327-0144-24405709C37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6C1176-C25C-8D39-67BE-FC93A674D48E}"/>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2A863860-F31B-A7C1-F743-229EB7E6DC58}"/>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A9897128-F83A-AAD5-2BF9-E4F17E1C2F2A}"/>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03701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A1A90-6AE0-A707-EE48-ED4205CC6D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FA3F94-8E98-34CA-8BF6-B3421DF3B3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B2229CE-F0FC-3577-2327-40AF2E6E31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6AA144-3804-60A4-D3D2-8DBA62AF8E3F}"/>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9B7112E7-4019-927E-5C07-7DA66D6ED36B}"/>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AA9A972F-A998-51CA-26F0-7B03B60714B5}"/>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5287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7BE1E-DD5A-5514-347E-69FA0FC0C6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AA0F408-0F68-905C-0244-36E7A10743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DB97AE-8EBB-E047-D158-07E02D0372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361F6B-95CA-8D74-61EF-9F6C6CB802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C6A00D-ADDC-9BD2-D57F-6C39487EA8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29E4B2-EB3B-9C33-09C0-BFDCE5A386BD}"/>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8641D05E-4037-0652-80DE-3CC860209BF0}"/>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23ECBA26-7114-CE6B-7FED-785347E19DEC}"/>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6054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D3397-4042-B5F1-40DE-6F407A087B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4FC2C7B-6314-A560-E6B2-708EE8B741AB}"/>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EB4DB1CB-A57D-A021-04EB-52C335C63CBA}"/>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FD9FCBC1-DC09-CF93-7B3D-AEB236F0EA0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83733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6231D-9BB2-9FD4-E58C-2C58EFD3934F}"/>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2F79A366-B54F-BF86-34AC-72C0235CFF4C}"/>
              </a:ext>
            </a:extLst>
          </p:cNvPr>
          <p:cNvSpPr>
            <a:spLocks noGrp="1"/>
          </p:cNvSpPr>
          <p:nvPr>
            <p:ph type="ftr" sz="quarter" idx="11"/>
          </p:nvPr>
        </p:nvSpPr>
        <p:spPr/>
        <p:txBody>
          <a:bodyPr/>
          <a:lstStyle/>
          <a:p>
            <a:r>
              <a:rPr lang="en-US"/>
              <a:t>Sample footer text</a:t>
            </a:r>
            <a:endParaRPr lang="en-US" dirty="0"/>
          </a:p>
        </p:txBody>
      </p:sp>
      <p:sp>
        <p:nvSpPr>
          <p:cNvPr id="4" name="Slide Number Placeholder 3">
            <a:extLst>
              <a:ext uri="{FF2B5EF4-FFF2-40B4-BE49-F238E27FC236}">
                <a16:creationId xmlns:a16="http://schemas.microsoft.com/office/drawing/2014/main" id="{A6867116-EF72-A918-E2CD-0B1971EF713C}"/>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5395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BCCA5-32AE-43D1-5748-643127009A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91658F-02CE-B145-058B-FDEFC4E14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EE6887-98FC-B8BC-1612-8445CE1B9A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51CB27-C304-C17C-BDD2-54C812E3A446}"/>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CC5DE8AD-9463-1FB7-083B-5728CCE400E7}"/>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86DCE4B4-B4DA-104C-C372-20829A285846}"/>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13107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887CE-E7DF-A55D-42EF-601C4DFF73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1934B0C-7E82-72B5-A98C-1608FF9235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14F806-6AAD-269A-8659-9FD74942EB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DD734C-6F89-9342-2EDF-EB4D72082201}"/>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FF4FABA-EBA8-F158-B660-874F2DE51675}"/>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2B3966A0-AE56-D0E5-1B44-B4BB433BDA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60732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5009-9A31-B22B-2BC5-8230430FE2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5938C5E-DA8F-AB91-94FF-1068E7CE84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1D4E07-E657-DEBA-4803-18F532AA5D9D}"/>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F9BED935-1903-968F-B5EB-0A975BB97E36}"/>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EE1F5221-ECF7-4B4D-0464-54F183C58B48}"/>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48511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FA2B1C-E04F-32B0-8435-2DF6DCA914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90253A8-5E1D-06EB-D923-AB758BD907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65D109-1200-98E1-D6D6-03B864CA545F}"/>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747BBEE7-D055-AF15-83AC-F9E497AA2CA5}"/>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BA04649F-3AF4-711E-E00B-984AF875CC56}"/>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231768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2C0C9E7-CD0B-E0B9-8CC5-C8A4313F11CE}"/>
              </a:ext>
            </a:extLst>
          </p:cNvPr>
          <p:cNvSpPr>
            <a:spLocks noGrp="1"/>
          </p:cNvSpPr>
          <p:nvPr userDrawn="1"/>
        </p:nvSpPr>
        <p:spPr>
          <a:xfrm>
            <a:off x="0" y="0"/>
            <a:ext cx="12192000" cy="1028700"/>
          </a:xfrm>
          <a:prstGeom prst="rect">
            <a:avLst/>
          </a:prstGeom>
          <a:solidFill>
            <a:srgbClr val="081A2D"/>
          </a:solidFill>
          <a:ln w="0">
            <a:noFill/>
          </a:ln>
        </p:spPr>
        <p:txBody>
          <a:bodyPr/>
          <a:lstStyle/>
          <a:p>
            <a:endParaRPr lang="en-US"/>
          </a:p>
        </p:txBody>
      </p:sp>
    </p:spTree>
    <p:extLst>
      <p:ext uri="{BB962C8B-B14F-4D97-AF65-F5344CB8AC3E}">
        <p14:creationId xmlns:p14="http://schemas.microsoft.com/office/powerpoint/2010/main" val="28083142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1478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CEAC30-5320-13B3-A61B-CE9BF59A11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89550F-8B66-3D02-D3F9-C0C30F21B4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ED03D3-CBF8-C284-C29F-9202BE14EB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dirty="0"/>
          </a:p>
        </p:txBody>
      </p:sp>
      <p:sp>
        <p:nvSpPr>
          <p:cNvPr id="5" name="Footer Placeholder 4">
            <a:extLst>
              <a:ext uri="{FF2B5EF4-FFF2-40B4-BE49-F238E27FC236}">
                <a16:creationId xmlns:a16="http://schemas.microsoft.com/office/drawing/2014/main" id="{EAFA29D2-D11A-CA71-ECC6-F78E28DF29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56EE565B-5241-4262-4EC7-8583756AAE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82980437"/>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5.sv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27" b="27"/>
          <a:stretch>
            <a:fillRect/>
          </a:stretch>
        </p:blipFill>
        <p:spPr>
          <a:xfrm>
            <a:off x="-57150" y="0"/>
            <a:ext cx="12192000" cy="6858000"/>
          </a:xfrm>
          <a:prstGeom prst="rect">
            <a:avLst/>
          </a:prstGeom>
        </p:spPr>
      </p:pic>
      <p:sp>
        <p:nvSpPr>
          <p:cNvPr id="2" name="Rectangle 1">
            <a:extLst>
              <a:ext uri="{FF2B5EF4-FFF2-40B4-BE49-F238E27FC236}">
                <a16:creationId xmlns:a16="http://schemas.microsoft.com/office/drawing/2014/main" id="{6C574DF7-ED14-4203-8E7A-DADAA07FC1BF}"/>
              </a:ext>
            </a:extLst>
          </p:cNvPr>
          <p:cNvSpPr>
            <a:spLocks noGrp="1"/>
          </p:cNvSpPr>
          <p:nvPr/>
        </p:nvSpPr>
        <p:spPr>
          <a:xfrm>
            <a:off x="609600" y="876300"/>
            <a:ext cx="704850" cy="57150"/>
          </a:xfrm>
          <a:prstGeom prst="rect">
            <a:avLst/>
          </a:prstGeom>
          <a:solidFill>
            <a:srgbClr val="FF7A59"/>
          </a:solidFill>
          <a:ln w="0">
            <a:noFill/>
          </a:ln>
        </p:spPr>
        <p:txBody>
          <a:bodyPr/>
          <a:lstStyle/>
          <a:p>
            <a:endParaRPr lang="en-US"/>
          </a:p>
        </p:txBody>
      </p:sp>
      <p:sp>
        <p:nvSpPr>
          <p:cNvPr id="3" name="Rectangle 2">
            <a:extLst>
              <a:ext uri="{FF2B5EF4-FFF2-40B4-BE49-F238E27FC236}">
                <a16:creationId xmlns:a16="http://schemas.microsoft.com/office/drawing/2014/main" id="{E33DA43C-07EE-44CE-B99C-E961BB31D749}"/>
              </a:ext>
            </a:extLst>
          </p:cNvPr>
          <p:cNvSpPr>
            <a:spLocks noGrp="1"/>
          </p:cNvSpPr>
          <p:nvPr/>
        </p:nvSpPr>
        <p:spPr>
          <a:xfrm>
            <a:off x="609600" y="457200"/>
            <a:ext cx="3429000" cy="323850"/>
          </a:xfrm>
          <a:prstGeom prst="rect">
            <a:avLst/>
          </a:prstGeom>
          <a:noFill/>
          <a:ln w="0">
            <a:noFill/>
          </a:ln>
        </p:spPr>
        <p:txBody>
          <a:bodyPr wrap="square" lIns="0" tIns="0" rIns="0" bIns="0" anchor="ctr">
            <a:noAutofit/>
          </a:bodyPr>
          <a:lstStyle/>
          <a:p>
            <a:pPr algn="l">
              <a:defRPr sz="1200" b="1">
                <a:solidFill>
                  <a:srgbClr val="2DD4BF"/>
                </a:solidFill>
                <a:latin typeface="Nimbus Sans"/>
                <a:ea typeface="Nimbus Sans"/>
                <a:cs typeface="Nimbus Sans"/>
              </a:defRPr>
            </a:pPr>
            <a:r>
              <a:rPr sz="1200" b="1" dirty="0">
                <a:solidFill>
                  <a:srgbClr val="2DD4BF"/>
                </a:solidFill>
                <a:latin typeface="Nimbus Sans"/>
                <a:ea typeface="Nimbus Sans"/>
                <a:cs typeface="Nimbus Sans"/>
              </a:rPr>
              <a:t>FINORA REQUIREMENTS</a:t>
            </a:r>
          </a:p>
        </p:txBody>
      </p:sp>
      <p:sp>
        <p:nvSpPr>
          <p:cNvPr id="4" name="Rectangle 3">
            <a:extLst>
              <a:ext uri="{FF2B5EF4-FFF2-40B4-BE49-F238E27FC236}">
                <a16:creationId xmlns:a16="http://schemas.microsoft.com/office/drawing/2014/main" id="{614C70CE-1B8E-4571-BF8F-A44C96328C1C}"/>
              </a:ext>
            </a:extLst>
          </p:cNvPr>
          <p:cNvSpPr>
            <a:spLocks noGrp="1"/>
          </p:cNvSpPr>
          <p:nvPr/>
        </p:nvSpPr>
        <p:spPr>
          <a:xfrm>
            <a:off x="609600" y="1257300"/>
            <a:ext cx="6689558" cy="742950"/>
          </a:xfrm>
          <a:prstGeom prst="rect">
            <a:avLst/>
          </a:prstGeom>
          <a:noFill/>
          <a:ln w="0">
            <a:noFill/>
          </a:ln>
        </p:spPr>
        <p:txBody>
          <a:bodyPr wrap="square" lIns="0" tIns="0" rIns="0" bIns="0" anchor="ctr">
            <a:noAutofit/>
          </a:bodyPr>
          <a:lstStyle/>
          <a:p>
            <a:pPr algn="l">
              <a:defRPr sz="3900" b="1">
                <a:solidFill>
                  <a:srgbClr val="FFFFFF"/>
                </a:solidFill>
                <a:latin typeface="Nimbus Sans"/>
                <a:ea typeface="Nimbus Sans"/>
                <a:cs typeface="Nimbus Sans"/>
              </a:defRPr>
            </a:pPr>
            <a:r>
              <a:rPr lang="en-US" sz="3900" b="1" dirty="0">
                <a:solidFill>
                  <a:srgbClr val="FFFFFF"/>
                </a:solidFill>
                <a:latin typeface="Nimbus Sans"/>
                <a:ea typeface="Nimbus Sans"/>
                <a:cs typeface="Nimbus Sans"/>
              </a:rPr>
              <a:t>Finora Project Requirements</a:t>
            </a:r>
            <a:endParaRPr sz="3900" b="1" dirty="0">
              <a:solidFill>
                <a:srgbClr val="FFFFFF"/>
              </a:solidFill>
              <a:latin typeface="Nimbus Sans"/>
              <a:ea typeface="Nimbus Sans"/>
              <a:cs typeface="Nimbus Sans"/>
            </a:endParaRPr>
          </a:p>
        </p:txBody>
      </p:sp>
      <p:sp>
        <p:nvSpPr>
          <p:cNvPr id="5" name="Rectangle 4">
            <a:extLst>
              <a:ext uri="{FF2B5EF4-FFF2-40B4-BE49-F238E27FC236}">
                <a16:creationId xmlns:a16="http://schemas.microsoft.com/office/drawing/2014/main" id="{B8F87751-2172-4309-B192-46FCAC3CC311}"/>
              </a:ext>
            </a:extLst>
          </p:cNvPr>
          <p:cNvSpPr>
            <a:spLocks noGrp="1"/>
          </p:cNvSpPr>
          <p:nvPr/>
        </p:nvSpPr>
        <p:spPr>
          <a:xfrm>
            <a:off x="609600" y="2133600"/>
            <a:ext cx="5429250" cy="1809750"/>
          </a:xfrm>
          <a:prstGeom prst="rect">
            <a:avLst/>
          </a:prstGeom>
          <a:noFill/>
          <a:ln w="0">
            <a:noFill/>
          </a:ln>
        </p:spPr>
        <p:txBody>
          <a:bodyPr wrap="square" lIns="0" tIns="0" rIns="0" bIns="0" anchor="t">
            <a:noAutofit/>
          </a:bodyPr>
          <a:lstStyle/>
          <a:p>
            <a:pPr algn="l">
              <a:lnSpc>
                <a:spcPct val="106000"/>
              </a:lnSpc>
              <a:buNone/>
              <a:defRPr sz="1950" b="0">
                <a:solidFill>
                  <a:srgbClr val="D8E6EF"/>
                </a:solidFill>
                <a:latin typeface="Nimbus Sans"/>
                <a:ea typeface="Nimbus Sans"/>
                <a:cs typeface="Nimbus Sans"/>
              </a:defRPr>
            </a:pPr>
            <a:r>
              <a:rPr lang="en-US" sz="1950" dirty="0">
                <a:solidFill>
                  <a:srgbClr val="D8E6EF"/>
                </a:solidFill>
                <a:latin typeface="Nimbus Sans"/>
                <a:ea typeface="Nimbus Sans"/>
                <a:cs typeface="Nimbus Sans"/>
              </a:rPr>
              <a:t>By:</a:t>
            </a:r>
            <a:endParaRPr lang="en-US" sz="1950" b="0" dirty="0">
              <a:solidFill>
                <a:srgbClr val="D8E6EF"/>
              </a:solidFill>
              <a:latin typeface="Nimbus Sans"/>
              <a:ea typeface="Nimbus Sans"/>
              <a:cs typeface="Nimbus Sans"/>
            </a:endParaRPr>
          </a:p>
          <a:p>
            <a:pPr marL="342900" indent="-342900">
              <a:buFont typeface="Wingdings" panose="05000000000000000000" pitchFamily="2" charset="2"/>
              <a:buChar char="n"/>
              <a:defRPr sz="1950" b="0">
                <a:solidFill>
                  <a:srgbClr val="D8E6EF"/>
                </a:solidFill>
                <a:latin typeface="Nimbus Sans"/>
                <a:ea typeface="Nimbus Sans"/>
                <a:cs typeface="Nimbus Sans"/>
              </a:defRPr>
            </a:pPr>
            <a:r>
              <a:rPr lang="en-US" sz="1950" i="1" dirty="0">
                <a:solidFill>
                  <a:srgbClr val="D8E6EF"/>
                </a:solidFill>
                <a:latin typeface="Nimbus Sans"/>
              </a:rPr>
              <a:t>Samuel Martin</a:t>
            </a:r>
          </a:p>
          <a:p>
            <a:pPr marL="342900" indent="-342900">
              <a:buFont typeface="Wingdings" panose="05000000000000000000" pitchFamily="2" charset="2"/>
              <a:buChar char="n"/>
              <a:defRPr sz="1950" b="0">
                <a:solidFill>
                  <a:srgbClr val="D8E6EF"/>
                </a:solidFill>
                <a:latin typeface="Nimbus Sans"/>
                <a:ea typeface="Nimbus Sans"/>
                <a:cs typeface="Nimbus Sans"/>
              </a:defRPr>
            </a:pPr>
            <a:r>
              <a:rPr lang="en-US" sz="1950" i="1" dirty="0">
                <a:solidFill>
                  <a:srgbClr val="D8E6EF"/>
                </a:solidFill>
                <a:latin typeface="Nimbus Sans"/>
              </a:rPr>
              <a:t>Steven De Jesus</a:t>
            </a:r>
          </a:p>
          <a:p>
            <a:pPr marL="342900" indent="-342900">
              <a:buFont typeface="Wingdings" panose="05000000000000000000" pitchFamily="2" charset="2"/>
              <a:buChar char="n"/>
              <a:defRPr sz="1950" b="0">
                <a:solidFill>
                  <a:srgbClr val="D8E6EF"/>
                </a:solidFill>
                <a:latin typeface="Nimbus Sans"/>
                <a:ea typeface="Nimbus Sans"/>
                <a:cs typeface="Nimbus Sans"/>
              </a:defRPr>
            </a:pPr>
            <a:r>
              <a:rPr lang="en-US" sz="1950" i="1" dirty="0">
                <a:solidFill>
                  <a:srgbClr val="D8E6EF"/>
                </a:solidFill>
                <a:latin typeface="Nimbus Sans"/>
              </a:rPr>
              <a:t>Wilfredo Cedano Ventura</a:t>
            </a:r>
          </a:p>
          <a:p>
            <a:pPr marL="342900" indent="-342900">
              <a:buFont typeface="Wingdings" panose="05000000000000000000" pitchFamily="2" charset="2"/>
              <a:buChar char="n"/>
              <a:defRPr sz="1950" b="0">
                <a:solidFill>
                  <a:srgbClr val="D8E6EF"/>
                </a:solidFill>
                <a:latin typeface="Nimbus Sans"/>
                <a:ea typeface="Nimbus Sans"/>
                <a:cs typeface="Nimbus Sans"/>
              </a:defRPr>
            </a:pPr>
            <a:r>
              <a:rPr lang="en-US" sz="1950" i="1" dirty="0">
                <a:solidFill>
                  <a:srgbClr val="D8E6EF"/>
                </a:solidFill>
                <a:latin typeface="Nimbus Sans"/>
              </a:rPr>
              <a:t>William Hite</a:t>
            </a:r>
            <a:endParaRPr sz="1950" b="0" dirty="0">
              <a:solidFill>
                <a:srgbClr val="D8E6EF"/>
              </a:solidFill>
              <a:latin typeface="Nimbus Sans"/>
              <a:ea typeface="Nimbus Sans"/>
              <a:cs typeface="Nimbus Sans"/>
            </a:endParaRPr>
          </a:p>
        </p:txBody>
      </p:sp>
      <p:sp>
        <p:nvSpPr>
          <p:cNvPr id="6" name="Rectangle 5">
            <a:extLst>
              <a:ext uri="{FF2B5EF4-FFF2-40B4-BE49-F238E27FC236}">
                <a16:creationId xmlns:a16="http://schemas.microsoft.com/office/drawing/2014/main" id="{5E1980C0-A215-478B-AF09-EBBC690C0589}"/>
              </a:ext>
            </a:extLst>
          </p:cNvPr>
          <p:cNvSpPr>
            <a:spLocks noGrp="1"/>
          </p:cNvSpPr>
          <p:nvPr/>
        </p:nvSpPr>
        <p:spPr>
          <a:xfrm>
            <a:off x="609600" y="4076700"/>
            <a:ext cx="5000625" cy="9525"/>
          </a:xfrm>
          <a:prstGeom prst="rect">
            <a:avLst/>
          </a:prstGeom>
          <a:solidFill>
            <a:srgbClr val="3D566D"/>
          </a:solidFill>
          <a:ln w="0">
            <a:noFill/>
          </a:ln>
        </p:spPr>
        <p:txBody>
          <a:bodyPr/>
          <a:lstStyle/>
          <a:p>
            <a:endParaRPr lang="en-US"/>
          </a:p>
        </p:txBody>
      </p:sp>
    </p:spTree>
    <p:extLst>
      <p:ext uri="{BB962C8B-B14F-4D97-AF65-F5344CB8AC3E}">
        <p14:creationId xmlns:p14="http://schemas.microsoft.com/office/powerpoint/2010/main" val="1528445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ACF24A-75B8-C17D-8661-41583C0C9759}"/>
              </a:ext>
            </a:extLst>
          </p:cNvPr>
          <p:cNvPicPr>
            <a:picLocks noChangeAspect="1"/>
          </p:cNvPicPr>
          <p:nvPr/>
        </p:nvPicPr>
        <p:blipFill>
          <a:blip r:embed="rId2"/>
          <a:stretch>
            <a:fillRect/>
          </a:stretch>
        </p:blipFill>
        <p:spPr>
          <a:xfrm>
            <a:off x="2703007" y="553940"/>
            <a:ext cx="9290301" cy="6193534"/>
          </a:xfrm>
          <a:prstGeom prst="rect">
            <a:avLst/>
          </a:prstGeom>
        </p:spPr>
      </p:pic>
      <p:sp>
        <p:nvSpPr>
          <p:cNvPr id="4" name="TextBox 3">
            <a:extLst>
              <a:ext uri="{FF2B5EF4-FFF2-40B4-BE49-F238E27FC236}">
                <a16:creationId xmlns:a16="http://schemas.microsoft.com/office/drawing/2014/main" id="{187A9B4A-6242-3CA3-6CF0-9290BDC4FE4C}"/>
              </a:ext>
            </a:extLst>
          </p:cNvPr>
          <p:cNvSpPr txBox="1"/>
          <p:nvPr/>
        </p:nvSpPr>
        <p:spPr>
          <a:xfrm>
            <a:off x="439853" y="3259722"/>
            <a:ext cx="1284006" cy="584775"/>
          </a:xfrm>
          <a:prstGeom prst="rect">
            <a:avLst/>
          </a:prstGeom>
          <a:noFill/>
        </p:spPr>
        <p:txBody>
          <a:bodyPr wrap="none" rtlCol="0">
            <a:spAutoFit/>
          </a:bodyPr>
          <a:lstStyle/>
          <a:p>
            <a:pPr algn="ctr"/>
            <a:r>
              <a:rPr lang="en-US" sz="1600" dirty="0">
                <a:latin typeface="Nimbus Sans"/>
              </a:rPr>
              <a:t>AI Generated</a:t>
            </a:r>
          </a:p>
          <a:p>
            <a:pPr algn="ctr"/>
            <a:r>
              <a:rPr lang="en-US" sz="1600" dirty="0">
                <a:latin typeface="Nimbus Sans"/>
              </a:rPr>
              <a:t>Prototype</a:t>
            </a:r>
          </a:p>
        </p:txBody>
      </p:sp>
      <p:sp>
        <p:nvSpPr>
          <p:cNvPr id="5" name="Rectangle 4">
            <a:extLst>
              <a:ext uri="{FF2B5EF4-FFF2-40B4-BE49-F238E27FC236}">
                <a16:creationId xmlns:a16="http://schemas.microsoft.com/office/drawing/2014/main" id="{51C9BC8A-65E3-780B-07B7-78DBA2B6CE38}"/>
              </a:ext>
            </a:extLst>
          </p:cNvPr>
          <p:cNvSpPr>
            <a:spLocks noGrp="1"/>
          </p:cNvSpPr>
          <p:nvPr/>
        </p:nvSpPr>
        <p:spPr>
          <a:xfrm>
            <a:off x="0" y="140534"/>
            <a:ext cx="2859593" cy="552450"/>
          </a:xfrm>
          <a:prstGeom prst="rect">
            <a:avLst/>
          </a:prstGeom>
          <a:noFill/>
          <a:ln w="0">
            <a:noFill/>
          </a:ln>
        </p:spPr>
        <p:txBody>
          <a:bodyPr wrap="square" lIns="47625" tIns="38100" rIns="47625" bIns="3810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2700" b="1">
                <a:solidFill>
                  <a:srgbClr val="FFFFFF"/>
                </a:solidFill>
                <a:latin typeface="Nimbus Sans"/>
                <a:ea typeface="Nimbus Sans"/>
                <a:cs typeface="Nimbus Sans"/>
              </a:defRPr>
            </a:pPr>
            <a:r>
              <a:rPr sz="2400" b="1" dirty="0">
                <a:solidFill>
                  <a:srgbClr val="FFFFFF"/>
                </a:solidFill>
                <a:latin typeface="Nimbus Sans"/>
                <a:ea typeface="Nimbus Sans"/>
                <a:cs typeface="Nimbus Sans"/>
              </a:rPr>
              <a:t>Introduction to Finora</a:t>
            </a:r>
          </a:p>
        </p:txBody>
      </p:sp>
      <p:sp>
        <p:nvSpPr>
          <p:cNvPr id="7" name="Rectangle 6">
            <a:extLst>
              <a:ext uri="{FF2B5EF4-FFF2-40B4-BE49-F238E27FC236}">
                <a16:creationId xmlns:a16="http://schemas.microsoft.com/office/drawing/2014/main" id="{AD8CCE66-FE59-37A8-722C-D0B179B60CCD}"/>
              </a:ext>
            </a:extLst>
          </p:cNvPr>
          <p:cNvSpPr>
            <a:spLocks noGrp="1"/>
          </p:cNvSpPr>
          <p:nvPr/>
        </p:nvSpPr>
        <p:spPr>
          <a:xfrm>
            <a:off x="198692" y="908538"/>
            <a:ext cx="781050" cy="47625"/>
          </a:xfrm>
          <a:prstGeom prst="rect">
            <a:avLst/>
          </a:prstGeom>
          <a:solidFill>
            <a:srgbClr val="2DD4BF"/>
          </a:solidFill>
          <a:ln w="0">
            <a:noFill/>
          </a:ln>
        </p:spPr>
        <p:txBody>
          <a:bodyPr/>
          <a:lstStyle/>
          <a:p>
            <a:endParaRPr lang="en-US"/>
          </a:p>
        </p:txBody>
      </p:sp>
    </p:spTree>
    <p:extLst>
      <p:ext uri="{BB962C8B-B14F-4D97-AF65-F5344CB8AC3E}">
        <p14:creationId xmlns:p14="http://schemas.microsoft.com/office/powerpoint/2010/main" val="3102326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87F204-69D2-4736-85DE-297EDD8CFE64}"/>
              </a:ext>
            </a:extLst>
          </p:cNvPr>
          <p:cNvSpPr>
            <a:spLocks noGrp="1"/>
          </p:cNvSpPr>
          <p:nvPr/>
        </p:nvSpPr>
        <p:spPr>
          <a:xfrm>
            <a:off x="838200" y="233112"/>
            <a:ext cx="9906000" cy="552450"/>
          </a:xfrm>
          <a:prstGeom prst="rect">
            <a:avLst/>
          </a:prstGeom>
          <a:noFill/>
          <a:ln w="0">
            <a:noFill/>
          </a:ln>
        </p:spPr>
        <p:txBody>
          <a:bodyPr wrap="square" lIns="47625" tIns="38100" rIns="47625" bIns="3810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2700" b="1">
                <a:solidFill>
                  <a:srgbClr val="FFFFFF"/>
                </a:solidFill>
                <a:latin typeface="Nimbus Sans"/>
                <a:ea typeface="Nimbus Sans"/>
                <a:cs typeface="Nimbus Sans"/>
              </a:defRPr>
            </a:pPr>
            <a:r>
              <a:rPr sz="2700" b="1" dirty="0">
                <a:solidFill>
                  <a:srgbClr val="FFFFFF"/>
                </a:solidFill>
                <a:latin typeface="Nimbus Sans"/>
                <a:ea typeface="Nimbus Sans"/>
                <a:cs typeface="Nimbus Sans"/>
              </a:rPr>
              <a:t>Finora</a:t>
            </a:r>
          </a:p>
        </p:txBody>
      </p:sp>
      <p:sp>
        <p:nvSpPr>
          <p:cNvPr id="3" name="Rectangle 2">
            <a:extLst>
              <a:ext uri="{FF2B5EF4-FFF2-40B4-BE49-F238E27FC236}">
                <a16:creationId xmlns:a16="http://schemas.microsoft.com/office/drawing/2014/main" id="{C3918531-23F1-4D91-9850-9C962A33CE7E}"/>
              </a:ext>
            </a:extLst>
          </p:cNvPr>
          <p:cNvSpPr>
            <a:spLocks noGrp="1"/>
          </p:cNvSpPr>
          <p:nvPr/>
        </p:nvSpPr>
        <p:spPr>
          <a:xfrm>
            <a:off x="447675" y="785562"/>
            <a:ext cx="781050" cy="47625"/>
          </a:xfrm>
          <a:prstGeom prst="rect">
            <a:avLst/>
          </a:prstGeom>
          <a:solidFill>
            <a:srgbClr val="FF7A59"/>
          </a:solidFill>
          <a:ln w="0">
            <a:noFill/>
          </a:ln>
        </p:spPr>
        <p:txBody>
          <a:bodyPr/>
          <a:lstStyle/>
          <a:p>
            <a:endParaRPr lang="en-US"/>
          </a:p>
        </p:txBody>
      </p:sp>
      <p:sp>
        <p:nvSpPr>
          <p:cNvPr id="6" name="Rectangle: Rounded Corners 5">
            <a:extLst>
              <a:ext uri="{FF2B5EF4-FFF2-40B4-BE49-F238E27FC236}">
                <a16:creationId xmlns:a16="http://schemas.microsoft.com/office/drawing/2014/main" id="{96B25F3F-EFEB-EC76-461D-7541A927DD11}"/>
              </a:ext>
            </a:extLst>
          </p:cNvPr>
          <p:cNvSpPr>
            <a:spLocks noGrp="1"/>
          </p:cNvSpPr>
          <p:nvPr/>
        </p:nvSpPr>
        <p:spPr>
          <a:xfrm>
            <a:off x="609600" y="1409699"/>
            <a:ext cx="5219700" cy="4348005"/>
          </a:xfrm>
          <a:prstGeom prst="roundRect">
            <a:avLst>
              <a:gd name="adj" fmla="val 4630"/>
            </a:avLst>
          </a:prstGeom>
          <a:solidFill>
            <a:srgbClr val="FFFFFF"/>
          </a:solidFill>
          <a:ln w="9525">
            <a:solidFill>
              <a:srgbClr val="D7DFE5"/>
            </a:solidFill>
            <a:prstDash val="solid"/>
          </a:ln>
        </p:spPr>
        <p:style>
          <a:lnRef idx="0">
            <a:scrgbClr r="0" g="0" b="0"/>
          </a:lnRef>
          <a:fillRef idx="0">
            <a:scrgbClr r="0" g="0" b="0"/>
          </a:fillRef>
          <a:effectRef idx="4">
            <a:scrgbClr r="0" g="0" b="0"/>
          </a:effectRef>
          <a:fontRef idx="major"/>
        </p:style>
        <p:txBody>
          <a:bodyPr/>
          <a:lstStyle/>
          <a:p>
            <a:endParaRPr lang="en-US" dirty="0"/>
          </a:p>
        </p:txBody>
      </p:sp>
      <p:sp>
        <p:nvSpPr>
          <p:cNvPr id="8" name="Rectangle 7">
            <a:extLst>
              <a:ext uri="{FF2B5EF4-FFF2-40B4-BE49-F238E27FC236}">
                <a16:creationId xmlns:a16="http://schemas.microsoft.com/office/drawing/2014/main" id="{F4C6F908-B3D7-8D0A-9D8E-F91ECD31F71E}"/>
              </a:ext>
            </a:extLst>
          </p:cNvPr>
          <p:cNvSpPr>
            <a:spLocks noGrp="1"/>
          </p:cNvSpPr>
          <p:nvPr/>
        </p:nvSpPr>
        <p:spPr>
          <a:xfrm>
            <a:off x="914399" y="2419350"/>
            <a:ext cx="4612193" cy="2895600"/>
          </a:xfrm>
          <a:prstGeom prst="rect">
            <a:avLst/>
          </a:prstGeom>
          <a:noFill/>
          <a:ln w="0">
            <a:noFill/>
          </a:ln>
        </p:spPr>
        <p:txBody>
          <a:bodyPr wrap="square" lIns="0" tIns="0" rIns="0" bIns="0" anchor="t">
            <a:noAutofit/>
          </a:bodyPr>
          <a:lstStyle/>
          <a:p>
            <a:pPr marL="228600" indent="-114300" algn="l">
              <a:spcAft>
                <a:spcPts val="1200"/>
              </a:spcAft>
              <a:buChar char="•"/>
              <a:defRPr sz="1350" b="0">
                <a:solidFill>
                  <a:srgbClr val="132238"/>
                </a:solidFill>
                <a:latin typeface="Nimbus Sans"/>
                <a:ea typeface="Nimbus Sans"/>
                <a:cs typeface="Nimbus Sans"/>
              </a:defRPr>
            </a:pPr>
            <a:r>
              <a:rPr sz="2000" b="0" dirty="0">
                <a:solidFill>
                  <a:srgbClr val="132238"/>
                </a:solidFill>
                <a:latin typeface="Nimbus Sans"/>
                <a:ea typeface="Nimbus Sans"/>
                <a:cs typeface="Nimbus Sans"/>
              </a:rPr>
              <a:t>College students often manage limited or irregular income while facing education and everyday living costs.</a:t>
            </a:r>
          </a:p>
          <a:p>
            <a:pPr marL="228600" indent="-114300" algn="l">
              <a:spcAft>
                <a:spcPts val="1200"/>
              </a:spcAft>
              <a:buChar char="•"/>
              <a:defRPr sz="1350" b="0">
                <a:solidFill>
                  <a:srgbClr val="132238"/>
                </a:solidFill>
                <a:latin typeface="Nimbus Sans"/>
                <a:ea typeface="Nimbus Sans"/>
                <a:cs typeface="Nimbus Sans"/>
              </a:defRPr>
            </a:pPr>
            <a:r>
              <a:rPr sz="2000" b="0" dirty="0">
                <a:solidFill>
                  <a:srgbClr val="132238"/>
                </a:solidFill>
                <a:latin typeface="Nimbus Sans"/>
                <a:ea typeface="Nimbus Sans"/>
                <a:cs typeface="Nimbus Sans"/>
              </a:rPr>
              <a:t>Money may come from employment, financial aid, scholarships, refunds, or other sources.</a:t>
            </a:r>
          </a:p>
          <a:p>
            <a:pPr marL="228600" indent="-114300" algn="l">
              <a:spcAft>
                <a:spcPts val="1200"/>
              </a:spcAft>
              <a:buChar char="•"/>
              <a:defRPr sz="1350" b="0">
                <a:solidFill>
                  <a:srgbClr val="132238"/>
                </a:solidFill>
                <a:latin typeface="Nimbus Sans"/>
                <a:ea typeface="Nimbus Sans"/>
                <a:cs typeface="Nimbus Sans"/>
              </a:defRPr>
            </a:pPr>
            <a:r>
              <a:rPr sz="2000" b="0" dirty="0">
                <a:solidFill>
                  <a:srgbClr val="132238"/>
                </a:solidFill>
                <a:latin typeface="Nimbus Sans"/>
                <a:ea typeface="Nimbus Sans"/>
                <a:cs typeface="Nimbus Sans"/>
              </a:rPr>
              <a:t>It can be difficult to know what is truly available to spend after upcoming obligations are considered.</a:t>
            </a:r>
          </a:p>
        </p:txBody>
      </p:sp>
      <p:sp>
        <p:nvSpPr>
          <p:cNvPr id="10" name="Rectangle 9">
            <a:extLst>
              <a:ext uri="{FF2B5EF4-FFF2-40B4-BE49-F238E27FC236}">
                <a16:creationId xmlns:a16="http://schemas.microsoft.com/office/drawing/2014/main" id="{278B66CB-3C2C-5076-FFCE-A7E833266E6C}"/>
              </a:ext>
            </a:extLst>
          </p:cNvPr>
          <p:cNvSpPr>
            <a:spLocks noGrp="1"/>
          </p:cNvSpPr>
          <p:nvPr/>
        </p:nvSpPr>
        <p:spPr>
          <a:xfrm>
            <a:off x="914400" y="1752600"/>
            <a:ext cx="2095500" cy="400050"/>
          </a:xfrm>
          <a:prstGeom prst="rect">
            <a:avLst/>
          </a:prstGeom>
          <a:noFill/>
          <a:ln w="0">
            <a:noFill/>
          </a:ln>
        </p:spPr>
        <p:txBody>
          <a:bodyPr wrap="square" lIns="0" tIns="0" rIns="0" bIns="0" anchor="t">
            <a:noAutofit/>
          </a:bodyPr>
          <a:lstStyle/>
          <a:p>
            <a:pPr algn="l">
              <a:defRPr sz="2175" b="1">
                <a:solidFill>
                  <a:srgbClr val="FF7A59"/>
                </a:solidFill>
                <a:latin typeface="Nimbus Sans"/>
                <a:ea typeface="Nimbus Sans"/>
                <a:cs typeface="Nimbus Sans"/>
              </a:defRPr>
            </a:pPr>
            <a:r>
              <a:rPr sz="2175" b="1" dirty="0">
                <a:solidFill>
                  <a:srgbClr val="FF7A59"/>
                </a:solidFill>
                <a:latin typeface="Nimbus Sans"/>
                <a:ea typeface="Nimbus Sans"/>
                <a:cs typeface="Nimbus Sans"/>
              </a:rPr>
              <a:t>THE PROBLEM</a:t>
            </a:r>
          </a:p>
        </p:txBody>
      </p:sp>
      <p:sp>
        <p:nvSpPr>
          <p:cNvPr id="12" name="Rectangle: Rounded Corners 11">
            <a:extLst>
              <a:ext uri="{FF2B5EF4-FFF2-40B4-BE49-F238E27FC236}">
                <a16:creationId xmlns:a16="http://schemas.microsoft.com/office/drawing/2014/main" id="{C7E50AA0-2D73-FBD1-7A60-48EB3C9A3DE8}"/>
              </a:ext>
            </a:extLst>
          </p:cNvPr>
          <p:cNvSpPr>
            <a:spLocks noGrp="1"/>
          </p:cNvSpPr>
          <p:nvPr/>
        </p:nvSpPr>
        <p:spPr>
          <a:xfrm>
            <a:off x="6134100" y="1409699"/>
            <a:ext cx="5448300" cy="4348004"/>
          </a:xfrm>
          <a:prstGeom prst="roundRect">
            <a:avLst>
              <a:gd name="adj" fmla="val 4630"/>
            </a:avLst>
          </a:prstGeom>
          <a:solidFill>
            <a:srgbClr val="D9F3EF"/>
          </a:solidFill>
          <a:ln w="9525">
            <a:solidFill>
              <a:srgbClr val="A8DED5"/>
            </a:solidFill>
            <a:prstDash val="solid"/>
          </a:ln>
        </p:spPr>
        <p:txBody>
          <a:bodyPr/>
          <a:lstStyle/>
          <a:p>
            <a:endParaRPr lang="en-US"/>
          </a:p>
        </p:txBody>
      </p:sp>
      <p:sp>
        <p:nvSpPr>
          <p:cNvPr id="14" name="Rectangle 13">
            <a:extLst>
              <a:ext uri="{FF2B5EF4-FFF2-40B4-BE49-F238E27FC236}">
                <a16:creationId xmlns:a16="http://schemas.microsoft.com/office/drawing/2014/main" id="{523C36C2-4294-0023-1D7F-943148ED83DF}"/>
              </a:ext>
            </a:extLst>
          </p:cNvPr>
          <p:cNvSpPr>
            <a:spLocks noGrp="1"/>
          </p:cNvSpPr>
          <p:nvPr/>
        </p:nvSpPr>
        <p:spPr>
          <a:xfrm>
            <a:off x="6438900" y="1752600"/>
            <a:ext cx="2952750" cy="400050"/>
          </a:xfrm>
          <a:prstGeom prst="rect">
            <a:avLst/>
          </a:prstGeom>
          <a:noFill/>
          <a:ln w="0">
            <a:noFill/>
          </a:ln>
        </p:spPr>
        <p:txBody>
          <a:bodyPr wrap="square" lIns="0" tIns="0" rIns="0" bIns="0" anchor="t">
            <a:noAutofit/>
          </a:bodyPr>
          <a:lstStyle/>
          <a:p>
            <a:pPr algn="l">
              <a:defRPr sz="2175" b="1">
                <a:solidFill>
                  <a:srgbClr val="0F766E"/>
                </a:solidFill>
                <a:latin typeface="Nimbus Sans"/>
                <a:ea typeface="Nimbus Sans"/>
                <a:cs typeface="Nimbus Sans"/>
              </a:defRPr>
            </a:pPr>
            <a:r>
              <a:rPr sz="2175" b="1" dirty="0">
                <a:solidFill>
                  <a:srgbClr val="0F766E"/>
                </a:solidFill>
                <a:latin typeface="Nimbus Sans"/>
                <a:ea typeface="Nimbus Sans"/>
                <a:cs typeface="Nimbus Sans"/>
              </a:rPr>
              <a:t>PURPOSE</a:t>
            </a:r>
          </a:p>
        </p:txBody>
      </p:sp>
      <p:sp>
        <p:nvSpPr>
          <p:cNvPr id="16" name="Rectangle 15">
            <a:extLst>
              <a:ext uri="{FF2B5EF4-FFF2-40B4-BE49-F238E27FC236}">
                <a16:creationId xmlns:a16="http://schemas.microsoft.com/office/drawing/2014/main" id="{AB4553C2-80A6-DE5E-0D5B-18F6664922E3}"/>
              </a:ext>
            </a:extLst>
          </p:cNvPr>
          <p:cNvSpPr>
            <a:spLocks noGrp="1"/>
          </p:cNvSpPr>
          <p:nvPr/>
        </p:nvSpPr>
        <p:spPr>
          <a:xfrm>
            <a:off x="6438900" y="2419350"/>
            <a:ext cx="4686300" cy="2190750"/>
          </a:xfrm>
          <a:prstGeom prst="rect">
            <a:avLst/>
          </a:prstGeom>
          <a:noFill/>
          <a:ln w="0">
            <a:noFill/>
          </a:ln>
        </p:spPr>
        <p:txBody>
          <a:bodyPr wrap="square" lIns="0" tIns="0" rIns="0" bIns="0" anchor="t">
            <a:noAutofit/>
          </a:bodyPr>
          <a:lstStyle/>
          <a:p>
            <a:pPr marL="228600" indent="-114300" algn="l">
              <a:spcAft>
                <a:spcPts val="1200"/>
              </a:spcAft>
              <a:buChar char="•"/>
              <a:defRPr sz="1350" b="0">
                <a:solidFill>
                  <a:srgbClr val="132238"/>
                </a:solidFill>
                <a:latin typeface="Nimbus Sans"/>
                <a:ea typeface="Nimbus Sans"/>
                <a:cs typeface="Nimbus Sans"/>
              </a:defRPr>
            </a:pPr>
            <a:r>
              <a:rPr sz="2000" b="0" dirty="0">
                <a:solidFill>
                  <a:srgbClr val="132238"/>
                </a:solidFill>
                <a:latin typeface="Nimbus Sans"/>
                <a:ea typeface="Nimbus Sans"/>
                <a:cs typeface="Nimbus Sans"/>
              </a:rPr>
              <a:t>Organize income, expenses, budgets, and savings goals in one place.</a:t>
            </a:r>
          </a:p>
          <a:p>
            <a:pPr marL="228600" indent="-114300" algn="l">
              <a:spcAft>
                <a:spcPts val="1200"/>
              </a:spcAft>
              <a:buChar char="•"/>
              <a:defRPr sz="1350" b="0">
                <a:solidFill>
                  <a:srgbClr val="132238"/>
                </a:solidFill>
                <a:latin typeface="Nimbus Sans"/>
                <a:ea typeface="Nimbus Sans"/>
                <a:cs typeface="Nimbus Sans"/>
              </a:defRPr>
            </a:pPr>
            <a:r>
              <a:rPr sz="2000" b="0" dirty="0">
                <a:solidFill>
                  <a:srgbClr val="132238"/>
                </a:solidFill>
                <a:latin typeface="Nimbus Sans"/>
                <a:ea typeface="Nimbus Sans"/>
                <a:cs typeface="Nimbus Sans"/>
              </a:rPr>
              <a:t>Provide a clearer picture of spending patterns and financial obligations.</a:t>
            </a:r>
          </a:p>
          <a:p>
            <a:pPr marL="228600" indent="-114300" algn="l">
              <a:spcAft>
                <a:spcPts val="1200"/>
              </a:spcAft>
              <a:buChar char="•"/>
              <a:defRPr sz="1350" b="0">
                <a:solidFill>
                  <a:srgbClr val="132238"/>
                </a:solidFill>
                <a:latin typeface="Nimbus Sans"/>
                <a:ea typeface="Nimbus Sans"/>
                <a:cs typeface="Nimbus Sans"/>
              </a:defRPr>
            </a:pPr>
            <a:r>
              <a:rPr sz="2000" b="0" dirty="0">
                <a:solidFill>
                  <a:srgbClr val="132238"/>
                </a:solidFill>
                <a:latin typeface="Nimbus Sans"/>
                <a:ea typeface="Nimbus Sans"/>
                <a:cs typeface="Nimbus Sans"/>
              </a:rPr>
              <a:t>Help students make more informed financial decisions and develop healthier habits.</a:t>
            </a:r>
          </a:p>
        </p:txBody>
      </p:sp>
      <p:sp>
        <p:nvSpPr>
          <p:cNvPr id="20" name="Rectangle: Rounded Corners 19">
            <a:extLst>
              <a:ext uri="{FF2B5EF4-FFF2-40B4-BE49-F238E27FC236}">
                <a16:creationId xmlns:a16="http://schemas.microsoft.com/office/drawing/2014/main" id="{D943D3DE-21C7-E86F-433D-CDA62F31502A}"/>
              </a:ext>
            </a:extLst>
          </p:cNvPr>
          <p:cNvSpPr>
            <a:spLocks noGrp="1"/>
          </p:cNvSpPr>
          <p:nvPr/>
        </p:nvSpPr>
        <p:spPr>
          <a:xfrm>
            <a:off x="6438900" y="5105399"/>
            <a:ext cx="4686300" cy="514351"/>
          </a:xfrm>
          <a:prstGeom prst="roundRect">
            <a:avLst>
              <a:gd name="adj" fmla="val 27273"/>
            </a:avLst>
          </a:prstGeom>
          <a:solidFill>
            <a:srgbClr val="0F766E"/>
          </a:solidFill>
          <a:ln w="0">
            <a:noFill/>
          </a:ln>
        </p:spPr>
        <p:txBody>
          <a:bodyPr wrap="square" lIns="95250" tIns="38100" rIns="95250" bIns="38100" anchor="ctr">
            <a:noAutofit/>
          </a:bodyPr>
          <a:lstStyle/>
          <a:p>
            <a:pPr algn="ctr">
              <a:defRPr sz="1350" b="1">
                <a:solidFill>
                  <a:srgbClr val="FFFFFF"/>
                </a:solidFill>
                <a:latin typeface="Nimbus Sans"/>
                <a:ea typeface="Nimbus Sans"/>
                <a:cs typeface="Nimbus Sans"/>
              </a:defRPr>
            </a:pPr>
            <a:r>
              <a:rPr sz="2000" b="1" dirty="0">
                <a:solidFill>
                  <a:srgbClr val="FFFFFF"/>
                </a:solidFill>
                <a:latin typeface="Nimbus Sans"/>
                <a:ea typeface="Nimbus Sans"/>
                <a:cs typeface="Nimbus Sans"/>
              </a:rPr>
              <a:t>Focus: understand what is realistically available to spend.</a:t>
            </a:r>
          </a:p>
        </p:txBody>
      </p:sp>
    </p:spTree>
    <p:extLst>
      <p:ext uri="{BB962C8B-B14F-4D97-AF65-F5344CB8AC3E}">
        <p14:creationId xmlns:p14="http://schemas.microsoft.com/office/powerpoint/2010/main" val="214488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FCAF971-4A28-4110-C407-2E52AEE405B8}"/>
              </a:ext>
            </a:extLst>
          </p:cNvPr>
          <p:cNvSpPr>
            <a:spLocks noGrp="1"/>
          </p:cNvSpPr>
          <p:nvPr/>
        </p:nvSpPr>
        <p:spPr>
          <a:xfrm>
            <a:off x="1181100" y="209550"/>
            <a:ext cx="9906000" cy="552450"/>
          </a:xfrm>
          <a:prstGeom prst="rect">
            <a:avLst/>
          </a:prstGeom>
          <a:noFill/>
          <a:ln w="0">
            <a:noFill/>
          </a:ln>
        </p:spPr>
        <p:txBody>
          <a:bodyPr wrap="square" lIns="47625" tIns="38100" rIns="47625" bIns="38100" anchor="ctr">
            <a:noAutofit/>
          </a:bodyPr>
          <a:lstStyle/>
          <a:p>
            <a:pPr algn="l">
              <a:defRPr sz="2700" b="1">
                <a:solidFill>
                  <a:srgbClr val="FFFFFF"/>
                </a:solidFill>
                <a:latin typeface="Nimbus Sans"/>
                <a:ea typeface="Nimbus Sans"/>
                <a:cs typeface="Nimbus Sans"/>
              </a:defRPr>
            </a:pPr>
            <a:r>
              <a:rPr sz="2700" b="1" dirty="0">
                <a:solidFill>
                  <a:srgbClr val="FFFFFF"/>
                </a:solidFill>
                <a:latin typeface="Nimbus Sans"/>
                <a:ea typeface="Nimbus Sans"/>
                <a:cs typeface="Nimbus Sans"/>
              </a:rPr>
              <a:t>Tools &amp; technologies</a:t>
            </a:r>
          </a:p>
        </p:txBody>
      </p:sp>
      <p:sp>
        <p:nvSpPr>
          <p:cNvPr id="5" name="Rectangle 4">
            <a:extLst>
              <a:ext uri="{FF2B5EF4-FFF2-40B4-BE49-F238E27FC236}">
                <a16:creationId xmlns:a16="http://schemas.microsoft.com/office/drawing/2014/main" id="{BD5776CE-F45B-DA11-6411-A79E5ED68C8B}"/>
              </a:ext>
            </a:extLst>
          </p:cNvPr>
          <p:cNvSpPr>
            <a:spLocks noGrp="1"/>
          </p:cNvSpPr>
          <p:nvPr/>
        </p:nvSpPr>
        <p:spPr>
          <a:xfrm>
            <a:off x="609600" y="838200"/>
            <a:ext cx="781050" cy="47625"/>
          </a:xfrm>
          <a:prstGeom prst="rect">
            <a:avLst/>
          </a:prstGeom>
          <a:solidFill>
            <a:srgbClr val="FF7A59"/>
          </a:solidFill>
          <a:ln w="0">
            <a:noFill/>
          </a:ln>
        </p:spPr>
        <p:txBody>
          <a:bodyPr/>
          <a:lstStyle/>
          <a:p>
            <a:endParaRPr lang="en-US"/>
          </a:p>
        </p:txBody>
      </p:sp>
      <p:sp>
        <p:nvSpPr>
          <p:cNvPr id="7" name="Rectangle: Rounded Corners 6">
            <a:extLst>
              <a:ext uri="{FF2B5EF4-FFF2-40B4-BE49-F238E27FC236}">
                <a16:creationId xmlns:a16="http://schemas.microsoft.com/office/drawing/2014/main" id="{263344B1-CA61-A7C9-D199-5F9CA68BDF26}"/>
              </a:ext>
            </a:extLst>
          </p:cNvPr>
          <p:cNvSpPr>
            <a:spLocks noGrp="1"/>
          </p:cNvSpPr>
          <p:nvPr/>
        </p:nvSpPr>
        <p:spPr>
          <a:xfrm>
            <a:off x="609599" y="1409700"/>
            <a:ext cx="11304329" cy="4732460"/>
          </a:xfrm>
          <a:prstGeom prst="roundRect">
            <a:avLst>
              <a:gd name="adj" fmla="val 4202"/>
            </a:avLst>
          </a:prstGeom>
          <a:solidFill>
            <a:srgbClr val="FFFFFF"/>
          </a:solidFill>
          <a:ln w="9525">
            <a:solidFill>
              <a:srgbClr val="D7DFE5"/>
            </a:solidFill>
            <a:prstDash val="solid"/>
          </a:ln>
        </p:spPr>
        <p:style>
          <a:lnRef idx="0">
            <a:scrgbClr r="0" g="0" b="0"/>
          </a:lnRef>
          <a:fillRef idx="0">
            <a:scrgbClr r="0" g="0" b="0"/>
          </a:fillRef>
          <a:effectRef idx="4">
            <a:scrgbClr r="0" g="0" b="0"/>
          </a:effectRef>
          <a:fontRef idx="major"/>
        </p:style>
        <p:txBody>
          <a:bodyPr/>
          <a:lstStyle/>
          <a:p>
            <a:endParaRPr lang="en-US" sz="8000"/>
          </a:p>
        </p:txBody>
      </p:sp>
      <p:sp>
        <p:nvSpPr>
          <p:cNvPr id="9" name="Straight Connector 8">
            <a:extLst>
              <a:ext uri="{FF2B5EF4-FFF2-40B4-BE49-F238E27FC236}">
                <a16:creationId xmlns:a16="http://schemas.microsoft.com/office/drawing/2014/main" id="{9D2A2B0B-ABF7-8045-5EAD-738EFD516878}"/>
              </a:ext>
            </a:extLst>
          </p:cNvPr>
          <p:cNvSpPr>
            <a:spLocks noGrp="1"/>
          </p:cNvSpPr>
          <p:nvPr/>
        </p:nvSpPr>
        <p:spPr>
          <a:xfrm>
            <a:off x="6096000" y="1695449"/>
            <a:ext cx="0" cy="4258187"/>
          </a:xfrm>
          <a:prstGeom prst="line">
            <a:avLst/>
          </a:prstGeom>
          <a:noFill/>
          <a:ln w="9525">
            <a:solidFill>
              <a:srgbClr val="D7DFE5"/>
            </a:solidFill>
            <a:prstDash val="solid"/>
          </a:ln>
        </p:spPr>
        <p:txBody>
          <a:bodyPr/>
          <a:lstStyle/>
          <a:p>
            <a:endParaRPr lang="en-US" sz="8000"/>
          </a:p>
        </p:txBody>
      </p:sp>
      <p:sp>
        <p:nvSpPr>
          <p:cNvPr id="11" name="Straight Connector 10">
            <a:extLst>
              <a:ext uri="{FF2B5EF4-FFF2-40B4-BE49-F238E27FC236}">
                <a16:creationId xmlns:a16="http://schemas.microsoft.com/office/drawing/2014/main" id="{C6D080EC-C929-25B8-2876-829FAE5B59D7}"/>
              </a:ext>
            </a:extLst>
          </p:cNvPr>
          <p:cNvSpPr>
            <a:spLocks noGrp="1"/>
          </p:cNvSpPr>
          <p:nvPr/>
        </p:nvSpPr>
        <p:spPr>
          <a:xfrm>
            <a:off x="914399" y="3857520"/>
            <a:ext cx="10715562" cy="0"/>
          </a:xfrm>
          <a:prstGeom prst="line">
            <a:avLst/>
          </a:prstGeom>
          <a:noFill/>
          <a:ln w="9525">
            <a:solidFill>
              <a:srgbClr val="D7DFE5"/>
            </a:solidFill>
            <a:prstDash val="solid"/>
          </a:ln>
        </p:spPr>
        <p:txBody>
          <a:bodyPr/>
          <a:lstStyle/>
          <a:p>
            <a:endParaRPr lang="en-US" sz="8000"/>
          </a:p>
        </p:txBody>
      </p:sp>
      <p:sp>
        <p:nvSpPr>
          <p:cNvPr id="13" name="Rectangle 12">
            <a:extLst>
              <a:ext uri="{FF2B5EF4-FFF2-40B4-BE49-F238E27FC236}">
                <a16:creationId xmlns:a16="http://schemas.microsoft.com/office/drawing/2014/main" id="{28700695-4D2F-9C8A-5D87-F59BC647386A}"/>
              </a:ext>
            </a:extLst>
          </p:cNvPr>
          <p:cNvSpPr>
            <a:spLocks noGrp="1"/>
          </p:cNvSpPr>
          <p:nvPr/>
        </p:nvSpPr>
        <p:spPr>
          <a:xfrm>
            <a:off x="914399" y="1771649"/>
            <a:ext cx="510265" cy="289391"/>
          </a:xfrm>
          <a:prstGeom prst="rect">
            <a:avLst/>
          </a:prstGeom>
          <a:noFill/>
          <a:ln w="0">
            <a:noFill/>
          </a:ln>
        </p:spPr>
        <p:txBody>
          <a:bodyPr wrap="square" lIns="0" tIns="0" rIns="0" bIns="0" anchor="t">
            <a:noAutofit/>
          </a:bodyPr>
          <a:lstStyle/>
          <a:p>
            <a:pPr algn="l">
              <a:defRPr sz="975" b="1">
                <a:solidFill>
                  <a:srgbClr val="0F766E"/>
                </a:solidFill>
                <a:latin typeface="Nimbus Sans"/>
                <a:ea typeface="Nimbus Sans"/>
                <a:cs typeface="Nimbus Sans"/>
              </a:defRPr>
            </a:pPr>
            <a:r>
              <a:rPr sz="1600" b="1">
                <a:solidFill>
                  <a:srgbClr val="0F766E"/>
                </a:solidFill>
                <a:latin typeface="Nimbus Sans"/>
                <a:ea typeface="Nimbus Sans"/>
                <a:cs typeface="Nimbus Sans"/>
              </a:rPr>
              <a:t>01</a:t>
            </a:r>
          </a:p>
        </p:txBody>
      </p:sp>
      <p:sp>
        <p:nvSpPr>
          <p:cNvPr id="15" name="Rectangle 14">
            <a:extLst>
              <a:ext uri="{FF2B5EF4-FFF2-40B4-BE49-F238E27FC236}">
                <a16:creationId xmlns:a16="http://schemas.microsoft.com/office/drawing/2014/main" id="{FE2A3FDB-FED1-837C-AB6C-B7A614526DC7}"/>
              </a:ext>
            </a:extLst>
          </p:cNvPr>
          <p:cNvSpPr>
            <a:spLocks noGrp="1"/>
          </p:cNvSpPr>
          <p:nvPr/>
        </p:nvSpPr>
        <p:spPr>
          <a:xfrm>
            <a:off x="1409699" y="1733550"/>
            <a:ext cx="4356877" cy="413416"/>
          </a:xfrm>
          <a:prstGeom prst="rect">
            <a:avLst/>
          </a:prstGeom>
          <a:noFill/>
          <a:ln w="0">
            <a:noFill/>
          </a:ln>
        </p:spPr>
        <p:txBody>
          <a:bodyPr wrap="square" lIns="0" tIns="0" rIns="0" bIns="0" anchor="ctr">
            <a:noAutofit/>
          </a:bodyPr>
          <a:lstStyle/>
          <a:p>
            <a:pPr algn="l">
              <a:defRPr sz="1725" b="1">
                <a:solidFill>
                  <a:srgbClr val="102A43"/>
                </a:solidFill>
                <a:latin typeface="Nimbus Sans"/>
                <a:ea typeface="Nimbus Sans"/>
                <a:cs typeface="Nimbus Sans"/>
              </a:defRPr>
            </a:pPr>
            <a:r>
              <a:rPr sz="2000" b="1" dirty="0">
                <a:solidFill>
                  <a:srgbClr val="102A43"/>
                </a:solidFill>
                <a:latin typeface="Nimbus Sans"/>
                <a:ea typeface="Nimbus Sans"/>
                <a:cs typeface="Nimbus Sans"/>
              </a:rPr>
              <a:t>Application</a:t>
            </a:r>
          </a:p>
        </p:txBody>
      </p:sp>
      <p:sp>
        <p:nvSpPr>
          <p:cNvPr id="17" name="Rectangle 16">
            <a:extLst>
              <a:ext uri="{FF2B5EF4-FFF2-40B4-BE49-F238E27FC236}">
                <a16:creationId xmlns:a16="http://schemas.microsoft.com/office/drawing/2014/main" id="{302FF073-CA81-6C90-170D-84016D0D1892}"/>
              </a:ext>
            </a:extLst>
          </p:cNvPr>
          <p:cNvSpPr>
            <a:spLocks noGrp="1"/>
          </p:cNvSpPr>
          <p:nvPr/>
        </p:nvSpPr>
        <p:spPr>
          <a:xfrm>
            <a:off x="914400" y="2228849"/>
            <a:ext cx="49064" cy="1033541"/>
          </a:xfrm>
          <a:prstGeom prst="rect">
            <a:avLst/>
          </a:prstGeom>
          <a:solidFill>
            <a:srgbClr val="0F766E"/>
          </a:solidFill>
          <a:ln w="0">
            <a:noFill/>
          </a:ln>
        </p:spPr>
        <p:txBody>
          <a:bodyPr/>
          <a:lstStyle/>
          <a:p>
            <a:endParaRPr lang="en-US" sz="8000"/>
          </a:p>
        </p:txBody>
      </p:sp>
      <p:sp>
        <p:nvSpPr>
          <p:cNvPr id="19" name="Rectangle 18">
            <a:extLst>
              <a:ext uri="{FF2B5EF4-FFF2-40B4-BE49-F238E27FC236}">
                <a16:creationId xmlns:a16="http://schemas.microsoft.com/office/drawing/2014/main" id="{A7E41512-BD4D-3F25-DB16-F9BDE8D4A589}"/>
              </a:ext>
            </a:extLst>
          </p:cNvPr>
          <p:cNvSpPr>
            <a:spLocks noGrp="1"/>
          </p:cNvSpPr>
          <p:nvPr/>
        </p:nvSpPr>
        <p:spPr>
          <a:xfrm>
            <a:off x="1142999" y="2228849"/>
            <a:ext cx="4631635" cy="1198907"/>
          </a:xfrm>
          <a:prstGeom prst="rect">
            <a:avLst/>
          </a:prstGeom>
          <a:noFill/>
          <a:ln w="0">
            <a:noFill/>
          </a:ln>
        </p:spPr>
        <p:txBody>
          <a:bodyPr wrap="square" lIns="0" tIns="0" rIns="0" bIns="0" anchor="t">
            <a:noAutofit/>
          </a:bodyPr>
          <a:lstStyle/>
          <a:p>
            <a:pPr algn="l">
              <a:lnSpc>
                <a:spcPct val="105000"/>
              </a:lnSpc>
              <a:buNone/>
              <a:defRPr sz="1425" b="0">
                <a:solidFill>
                  <a:srgbClr val="5B6B7E"/>
                </a:solidFill>
                <a:latin typeface="Nimbus Sans"/>
                <a:ea typeface="Nimbus Sans"/>
                <a:cs typeface="Nimbus Sans"/>
              </a:defRPr>
            </a:pPr>
            <a:r>
              <a:rPr sz="2000" b="0" dirty="0">
                <a:solidFill>
                  <a:srgbClr val="5B6B7E"/>
                </a:solidFill>
                <a:latin typeface="Nimbus Sans"/>
                <a:ea typeface="Nimbus Sans"/>
                <a:cs typeface="Nimbus Sans"/>
              </a:rPr>
              <a:t>TypeScript</a:t>
            </a:r>
          </a:p>
          <a:p>
            <a:pPr algn="l">
              <a:lnSpc>
                <a:spcPct val="105000"/>
              </a:lnSpc>
              <a:buNone/>
              <a:defRPr sz="1425" b="0">
                <a:solidFill>
                  <a:srgbClr val="5B6B7E"/>
                </a:solidFill>
                <a:latin typeface="Nimbus Sans"/>
                <a:ea typeface="Nimbus Sans"/>
                <a:cs typeface="Nimbus Sans"/>
              </a:defRPr>
            </a:pPr>
            <a:r>
              <a:rPr sz="2000" b="0" dirty="0">
                <a:solidFill>
                  <a:srgbClr val="5B6B7E"/>
                </a:solidFill>
                <a:latin typeface="Nimbus Sans"/>
                <a:ea typeface="Nimbus Sans"/>
                <a:cs typeface="Nimbus Sans"/>
              </a:rPr>
              <a:t>HTML + CSS</a:t>
            </a:r>
          </a:p>
          <a:p>
            <a:pPr algn="l">
              <a:lnSpc>
                <a:spcPct val="105000"/>
              </a:lnSpc>
              <a:buNone/>
              <a:defRPr sz="1425" b="0">
                <a:solidFill>
                  <a:srgbClr val="5B6B7E"/>
                </a:solidFill>
                <a:latin typeface="Nimbus Sans"/>
                <a:ea typeface="Nimbus Sans"/>
                <a:cs typeface="Nimbus Sans"/>
              </a:defRPr>
            </a:pPr>
            <a:r>
              <a:rPr sz="2000" b="0" dirty="0">
                <a:solidFill>
                  <a:srgbClr val="5B6B7E"/>
                </a:solidFill>
                <a:latin typeface="Nimbus Sans"/>
                <a:ea typeface="Nimbus Sans"/>
                <a:cs typeface="Nimbus Sans"/>
              </a:rPr>
              <a:t>React</a:t>
            </a:r>
          </a:p>
          <a:p>
            <a:pPr algn="l">
              <a:lnSpc>
                <a:spcPct val="105000"/>
              </a:lnSpc>
              <a:buNone/>
              <a:defRPr sz="1425" b="0">
                <a:solidFill>
                  <a:srgbClr val="5B6B7E"/>
                </a:solidFill>
                <a:latin typeface="Nimbus Sans"/>
                <a:ea typeface="Nimbus Sans"/>
                <a:cs typeface="Nimbus Sans"/>
              </a:defRPr>
            </a:pPr>
            <a:r>
              <a:rPr sz="2000" b="0" dirty="0">
                <a:solidFill>
                  <a:srgbClr val="5B6B7E"/>
                </a:solidFill>
                <a:latin typeface="Nimbus Sans"/>
                <a:ea typeface="Nimbus Sans"/>
                <a:cs typeface="Nimbus Sans"/>
              </a:rPr>
              <a:t>Next.js</a:t>
            </a:r>
          </a:p>
          <a:p>
            <a:pPr algn="l">
              <a:lnSpc>
                <a:spcPct val="105000"/>
              </a:lnSpc>
              <a:buNone/>
              <a:defRPr sz="1425" b="0">
                <a:solidFill>
                  <a:srgbClr val="5B6B7E"/>
                </a:solidFill>
                <a:latin typeface="Nimbus Sans"/>
                <a:ea typeface="Nimbus Sans"/>
                <a:cs typeface="Nimbus Sans"/>
              </a:defRPr>
            </a:pPr>
            <a:r>
              <a:rPr sz="2000" b="0" dirty="0">
                <a:solidFill>
                  <a:srgbClr val="5B6B7E"/>
                </a:solidFill>
                <a:latin typeface="Nimbus Sans"/>
                <a:ea typeface="Nimbus Sans"/>
                <a:cs typeface="Nimbus Sans"/>
              </a:rPr>
              <a:t>Bootstrap</a:t>
            </a:r>
          </a:p>
        </p:txBody>
      </p:sp>
      <p:sp>
        <p:nvSpPr>
          <p:cNvPr id="21" name="Rectangle 20">
            <a:extLst>
              <a:ext uri="{FF2B5EF4-FFF2-40B4-BE49-F238E27FC236}">
                <a16:creationId xmlns:a16="http://schemas.microsoft.com/office/drawing/2014/main" id="{7CA9E601-5751-A4CD-F4B4-3F875A91D516}"/>
              </a:ext>
            </a:extLst>
          </p:cNvPr>
          <p:cNvSpPr>
            <a:spLocks noGrp="1"/>
          </p:cNvSpPr>
          <p:nvPr/>
        </p:nvSpPr>
        <p:spPr>
          <a:xfrm>
            <a:off x="6553199" y="1771649"/>
            <a:ext cx="510265" cy="289391"/>
          </a:xfrm>
          <a:prstGeom prst="rect">
            <a:avLst/>
          </a:prstGeom>
          <a:noFill/>
          <a:ln w="0">
            <a:noFill/>
          </a:ln>
        </p:spPr>
        <p:txBody>
          <a:bodyPr wrap="square" lIns="0" tIns="0" rIns="0" bIns="0" anchor="t">
            <a:noAutofit/>
          </a:bodyPr>
          <a:lstStyle/>
          <a:p>
            <a:pPr algn="l">
              <a:defRPr sz="975" b="1">
                <a:solidFill>
                  <a:srgbClr val="FF7A59"/>
                </a:solidFill>
                <a:latin typeface="Nimbus Sans"/>
                <a:ea typeface="Nimbus Sans"/>
                <a:cs typeface="Nimbus Sans"/>
              </a:defRPr>
            </a:pPr>
            <a:r>
              <a:rPr sz="1600" b="1">
                <a:solidFill>
                  <a:srgbClr val="FF7A59"/>
                </a:solidFill>
                <a:latin typeface="Nimbus Sans"/>
                <a:ea typeface="Nimbus Sans"/>
                <a:cs typeface="Nimbus Sans"/>
              </a:rPr>
              <a:t>02</a:t>
            </a:r>
          </a:p>
        </p:txBody>
      </p:sp>
      <p:sp>
        <p:nvSpPr>
          <p:cNvPr id="23" name="Rectangle 22">
            <a:extLst>
              <a:ext uri="{FF2B5EF4-FFF2-40B4-BE49-F238E27FC236}">
                <a16:creationId xmlns:a16="http://schemas.microsoft.com/office/drawing/2014/main" id="{9AA80D40-63AA-B564-93D6-0C26CF07F8F9}"/>
              </a:ext>
            </a:extLst>
          </p:cNvPr>
          <p:cNvSpPr>
            <a:spLocks noGrp="1"/>
          </p:cNvSpPr>
          <p:nvPr/>
        </p:nvSpPr>
        <p:spPr>
          <a:xfrm>
            <a:off x="7048499" y="1733550"/>
            <a:ext cx="3885863" cy="413416"/>
          </a:xfrm>
          <a:prstGeom prst="rect">
            <a:avLst/>
          </a:prstGeom>
          <a:noFill/>
          <a:ln w="0">
            <a:noFill/>
          </a:ln>
        </p:spPr>
        <p:txBody>
          <a:bodyPr wrap="square" lIns="0" tIns="0" rIns="0" bIns="0" anchor="ctr">
            <a:noAutofit/>
          </a:bodyPr>
          <a:lstStyle/>
          <a:p>
            <a:pPr algn="l">
              <a:defRPr sz="1725" b="1">
                <a:solidFill>
                  <a:srgbClr val="102A43"/>
                </a:solidFill>
                <a:latin typeface="Nimbus Sans"/>
                <a:ea typeface="Nimbus Sans"/>
                <a:cs typeface="Nimbus Sans"/>
              </a:defRPr>
            </a:pPr>
            <a:r>
              <a:rPr b="1" dirty="0">
                <a:solidFill>
                  <a:srgbClr val="102A43"/>
                </a:solidFill>
                <a:latin typeface="Nimbus Sans"/>
                <a:ea typeface="Nimbus Sans"/>
                <a:cs typeface="Nimbus Sans"/>
              </a:rPr>
              <a:t>Data &amp; </a:t>
            </a:r>
            <a:r>
              <a:rPr sz="2000" b="1" dirty="0">
                <a:solidFill>
                  <a:srgbClr val="102A43"/>
                </a:solidFill>
                <a:latin typeface="Nimbus Sans"/>
                <a:ea typeface="Nimbus Sans"/>
                <a:cs typeface="Nimbus Sans"/>
              </a:rPr>
              <a:t>Access</a:t>
            </a:r>
          </a:p>
        </p:txBody>
      </p:sp>
      <p:sp>
        <p:nvSpPr>
          <p:cNvPr id="25" name="Rectangle 24">
            <a:extLst>
              <a:ext uri="{FF2B5EF4-FFF2-40B4-BE49-F238E27FC236}">
                <a16:creationId xmlns:a16="http://schemas.microsoft.com/office/drawing/2014/main" id="{EF1CDCA2-3A97-63D9-4807-05E362017616}"/>
              </a:ext>
            </a:extLst>
          </p:cNvPr>
          <p:cNvSpPr>
            <a:spLocks noGrp="1"/>
          </p:cNvSpPr>
          <p:nvPr/>
        </p:nvSpPr>
        <p:spPr>
          <a:xfrm>
            <a:off x="6553200" y="2228849"/>
            <a:ext cx="49064" cy="1033541"/>
          </a:xfrm>
          <a:prstGeom prst="rect">
            <a:avLst/>
          </a:prstGeom>
          <a:solidFill>
            <a:srgbClr val="FF7A59"/>
          </a:solidFill>
          <a:ln w="0">
            <a:noFill/>
          </a:ln>
        </p:spPr>
        <p:txBody>
          <a:bodyPr/>
          <a:lstStyle/>
          <a:p>
            <a:endParaRPr lang="en-US" sz="8000"/>
          </a:p>
        </p:txBody>
      </p:sp>
      <p:sp>
        <p:nvSpPr>
          <p:cNvPr id="27" name="Rectangle 26">
            <a:extLst>
              <a:ext uri="{FF2B5EF4-FFF2-40B4-BE49-F238E27FC236}">
                <a16:creationId xmlns:a16="http://schemas.microsoft.com/office/drawing/2014/main" id="{D2815A16-14C3-0A2A-BD35-F810CCA421D7}"/>
              </a:ext>
            </a:extLst>
          </p:cNvPr>
          <p:cNvSpPr>
            <a:spLocks noGrp="1"/>
          </p:cNvSpPr>
          <p:nvPr/>
        </p:nvSpPr>
        <p:spPr>
          <a:xfrm>
            <a:off x="6781799" y="2228849"/>
            <a:ext cx="4160621" cy="1198907"/>
          </a:xfrm>
          <a:prstGeom prst="rect">
            <a:avLst/>
          </a:prstGeom>
          <a:noFill/>
          <a:ln w="0">
            <a:noFill/>
          </a:ln>
        </p:spPr>
        <p:txBody>
          <a:bodyPr wrap="square" lIns="0" tIns="0" rIns="0" bIns="0" anchor="t">
            <a:noAutofit/>
          </a:bodyPr>
          <a:lstStyle/>
          <a:p>
            <a:pPr algn="l">
              <a:lnSpc>
                <a:spcPct val="105000"/>
              </a:lnSpc>
              <a:buNone/>
              <a:defRPr sz="1425" b="0">
                <a:solidFill>
                  <a:srgbClr val="5B6B7E"/>
                </a:solidFill>
                <a:latin typeface="Nimbus Sans"/>
                <a:ea typeface="Nimbus Sans"/>
                <a:cs typeface="Nimbus Sans"/>
              </a:defRPr>
            </a:pPr>
            <a:r>
              <a:rPr sz="2000" b="0" dirty="0" err="1">
                <a:solidFill>
                  <a:srgbClr val="5B6B7E"/>
                </a:solidFill>
                <a:latin typeface="Nimbus Sans"/>
                <a:ea typeface="Nimbus Sans"/>
                <a:cs typeface="Nimbus Sans"/>
              </a:rPr>
              <a:t>Supabase</a:t>
            </a:r>
            <a:endParaRPr sz="2000" b="0" dirty="0">
              <a:solidFill>
                <a:srgbClr val="5B6B7E"/>
              </a:solidFill>
              <a:latin typeface="Nimbus Sans"/>
              <a:ea typeface="Nimbus Sans"/>
              <a:cs typeface="Nimbus Sans"/>
            </a:endParaRPr>
          </a:p>
          <a:p>
            <a:pPr algn="l">
              <a:lnSpc>
                <a:spcPct val="105000"/>
              </a:lnSpc>
              <a:buNone/>
              <a:defRPr sz="1425" b="0">
                <a:solidFill>
                  <a:srgbClr val="5B6B7E"/>
                </a:solidFill>
                <a:latin typeface="Nimbus Sans"/>
                <a:ea typeface="Nimbus Sans"/>
                <a:cs typeface="Nimbus Sans"/>
              </a:defRPr>
            </a:pPr>
            <a:r>
              <a:rPr sz="2000" b="0" dirty="0">
                <a:solidFill>
                  <a:srgbClr val="5B6B7E"/>
                </a:solidFill>
                <a:latin typeface="Nimbus Sans"/>
                <a:ea typeface="Nimbus Sans"/>
                <a:cs typeface="Nimbus Sans"/>
              </a:rPr>
              <a:t>SQL</a:t>
            </a:r>
          </a:p>
          <a:p>
            <a:pPr algn="l">
              <a:lnSpc>
                <a:spcPct val="105000"/>
              </a:lnSpc>
              <a:buNone/>
              <a:defRPr sz="1425" b="0">
                <a:solidFill>
                  <a:srgbClr val="5B6B7E"/>
                </a:solidFill>
                <a:latin typeface="Nimbus Sans"/>
                <a:ea typeface="Nimbus Sans"/>
                <a:cs typeface="Nimbus Sans"/>
              </a:defRPr>
            </a:pPr>
            <a:r>
              <a:rPr sz="2000" b="0" dirty="0" err="1">
                <a:solidFill>
                  <a:srgbClr val="5B6B7E"/>
                </a:solidFill>
                <a:latin typeface="Nimbus Sans"/>
                <a:ea typeface="Nimbus Sans"/>
                <a:cs typeface="Nimbus Sans"/>
              </a:rPr>
              <a:t>Supabase</a:t>
            </a:r>
            <a:r>
              <a:rPr sz="2000" b="0" dirty="0">
                <a:solidFill>
                  <a:srgbClr val="5B6B7E"/>
                </a:solidFill>
                <a:latin typeface="Nimbus Sans"/>
                <a:ea typeface="Nimbus Sans"/>
                <a:cs typeface="Nimbus Sans"/>
              </a:rPr>
              <a:t> Authentication</a:t>
            </a:r>
          </a:p>
        </p:txBody>
      </p:sp>
      <p:sp>
        <p:nvSpPr>
          <p:cNvPr id="29" name="Rectangle 28">
            <a:extLst>
              <a:ext uri="{FF2B5EF4-FFF2-40B4-BE49-F238E27FC236}">
                <a16:creationId xmlns:a16="http://schemas.microsoft.com/office/drawing/2014/main" id="{2150B878-A253-704E-AAB8-7A0220C45F5E}"/>
              </a:ext>
            </a:extLst>
          </p:cNvPr>
          <p:cNvSpPr>
            <a:spLocks noGrp="1"/>
          </p:cNvSpPr>
          <p:nvPr/>
        </p:nvSpPr>
        <p:spPr>
          <a:xfrm>
            <a:off x="914399" y="3981449"/>
            <a:ext cx="510265" cy="289391"/>
          </a:xfrm>
          <a:prstGeom prst="rect">
            <a:avLst/>
          </a:prstGeom>
          <a:noFill/>
          <a:ln w="0">
            <a:noFill/>
          </a:ln>
        </p:spPr>
        <p:txBody>
          <a:bodyPr wrap="square" lIns="0" tIns="0" rIns="0" bIns="0" anchor="t">
            <a:noAutofit/>
          </a:bodyPr>
          <a:lstStyle/>
          <a:p>
            <a:pPr algn="l">
              <a:defRPr sz="975" b="1">
                <a:solidFill>
                  <a:srgbClr val="FF7A59"/>
                </a:solidFill>
                <a:latin typeface="Nimbus Sans"/>
                <a:ea typeface="Nimbus Sans"/>
                <a:cs typeface="Nimbus Sans"/>
              </a:defRPr>
            </a:pPr>
            <a:r>
              <a:rPr sz="1600" b="1">
                <a:solidFill>
                  <a:srgbClr val="FF7A59"/>
                </a:solidFill>
                <a:latin typeface="Nimbus Sans"/>
                <a:ea typeface="Nimbus Sans"/>
                <a:cs typeface="Nimbus Sans"/>
              </a:rPr>
              <a:t>03</a:t>
            </a:r>
          </a:p>
        </p:txBody>
      </p:sp>
      <p:sp>
        <p:nvSpPr>
          <p:cNvPr id="31" name="Rectangle 30">
            <a:extLst>
              <a:ext uri="{FF2B5EF4-FFF2-40B4-BE49-F238E27FC236}">
                <a16:creationId xmlns:a16="http://schemas.microsoft.com/office/drawing/2014/main" id="{DE086BE5-902F-9223-EF4C-FC6CB8B49242}"/>
              </a:ext>
            </a:extLst>
          </p:cNvPr>
          <p:cNvSpPr>
            <a:spLocks noGrp="1"/>
          </p:cNvSpPr>
          <p:nvPr/>
        </p:nvSpPr>
        <p:spPr>
          <a:xfrm>
            <a:off x="1409699" y="3943350"/>
            <a:ext cx="4356877" cy="413416"/>
          </a:xfrm>
          <a:prstGeom prst="rect">
            <a:avLst/>
          </a:prstGeom>
          <a:noFill/>
          <a:ln w="0">
            <a:noFill/>
          </a:ln>
        </p:spPr>
        <p:txBody>
          <a:bodyPr wrap="square" lIns="0" tIns="0" rIns="0" bIns="0" anchor="ctr">
            <a:noAutofit/>
          </a:bodyPr>
          <a:lstStyle/>
          <a:p>
            <a:pPr algn="l">
              <a:defRPr sz="1725" b="1">
                <a:solidFill>
                  <a:srgbClr val="102A43"/>
                </a:solidFill>
                <a:latin typeface="Nimbus Sans"/>
                <a:ea typeface="Nimbus Sans"/>
                <a:cs typeface="Nimbus Sans"/>
              </a:defRPr>
            </a:pPr>
            <a:r>
              <a:rPr sz="2000" b="1" dirty="0">
                <a:solidFill>
                  <a:srgbClr val="102A43"/>
                </a:solidFill>
                <a:latin typeface="Nimbus Sans"/>
                <a:ea typeface="Nimbus Sans"/>
                <a:cs typeface="Nimbus Sans"/>
              </a:rPr>
              <a:t>Development</a:t>
            </a:r>
          </a:p>
        </p:txBody>
      </p:sp>
      <p:sp>
        <p:nvSpPr>
          <p:cNvPr id="33" name="Rectangle 32">
            <a:extLst>
              <a:ext uri="{FF2B5EF4-FFF2-40B4-BE49-F238E27FC236}">
                <a16:creationId xmlns:a16="http://schemas.microsoft.com/office/drawing/2014/main" id="{5C47D0EC-7CB8-134C-59E9-0800D4C0F63E}"/>
              </a:ext>
            </a:extLst>
          </p:cNvPr>
          <p:cNvSpPr>
            <a:spLocks noGrp="1"/>
          </p:cNvSpPr>
          <p:nvPr/>
        </p:nvSpPr>
        <p:spPr>
          <a:xfrm>
            <a:off x="914400" y="4438649"/>
            <a:ext cx="49064" cy="1033541"/>
          </a:xfrm>
          <a:prstGeom prst="rect">
            <a:avLst/>
          </a:prstGeom>
          <a:solidFill>
            <a:srgbClr val="FF7A59"/>
          </a:solidFill>
          <a:ln w="0">
            <a:noFill/>
          </a:ln>
        </p:spPr>
        <p:txBody>
          <a:bodyPr/>
          <a:lstStyle/>
          <a:p>
            <a:endParaRPr lang="en-US" sz="8000"/>
          </a:p>
        </p:txBody>
      </p:sp>
      <p:sp>
        <p:nvSpPr>
          <p:cNvPr id="35" name="Rectangle 34">
            <a:extLst>
              <a:ext uri="{FF2B5EF4-FFF2-40B4-BE49-F238E27FC236}">
                <a16:creationId xmlns:a16="http://schemas.microsoft.com/office/drawing/2014/main" id="{8E2A908C-9E5E-4ADF-E03F-5CBB798CA8E9}"/>
              </a:ext>
            </a:extLst>
          </p:cNvPr>
          <p:cNvSpPr>
            <a:spLocks noGrp="1"/>
          </p:cNvSpPr>
          <p:nvPr/>
        </p:nvSpPr>
        <p:spPr>
          <a:xfrm>
            <a:off x="1142999" y="4438649"/>
            <a:ext cx="4631635" cy="1198907"/>
          </a:xfrm>
          <a:prstGeom prst="rect">
            <a:avLst/>
          </a:prstGeom>
          <a:noFill/>
          <a:ln w="0">
            <a:noFill/>
          </a:ln>
        </p:spPr>
        <p:txBody>
          <a:bodyPr wrap="square" lIns="0" tIns="0" rIns="0" bIns="0" anchor="t">
            <a:noAutofit/>
          </a:bodyPr>
          <a:lstStyle/>
          <a:p>
            <a:pPr algn="l">
              <a:lnSpc>
                <a:spcPct val="105000"/>
              </a:lnSpc>
              <a:buNone/>
              <a:defRPr sz="1425" b="0">
                <a:solidFill>
                  <a:srgbClr val="5B6B7E"/>
                </a:solidFill>
                <a:latin typeface="Nimbus Sans"/>
                <a:ea typeface="Nimbus Sans"/>
                <a:cs typeface="Nimbus Sans"/>
              </a:defRPr>
            </a:pPr>
            <a:r>
              <a:rPr sz="2000" b="0" dirty="0">
                <a:solidFill>
                  <a:srgbClr val="5B6B7E"/>
                </a:solidFill>
                <a:latin typeface="Nimbus Sans"/>
                <a:ea typeface="Nimbus Sans"/>
                <a:cs typeface="Nimbus Sans"/>
              </a:rPr>
              <a:t>Visual Studio Code</a:t>
            </a:r>
          </a:p>
          <a:p>
            <a:pPr algn="l">
              <a:lnSpc>
                <a:spcPct val="105000"/>
              </a:lnSpc>
              <a:buNone/>
              <a:defRPr sz="1425" b="0">
                <a:solidFill>
                  <a:srgbClr val="5B6B7E"/>
                </a:solidFill>
                <a:latin typeface="Nimbus Sans"/>
                <a:ea typeface="Nimbus Sans"/>
                <a:cs typeface="Nimbus Sans"/>
              </a:defRPr>
            </a:pPr>
            <a:r>
              <a:rPr sz="2000" b="0" dirty="0">
                <a:solidFill>
                  <a:srgbClr val="5B6B7E"/>
                </a:solidFill>
                <a:latin typeface="Nimbus Sans"/>
                <a:ea typeface="Nimbus Sans"/>
                <a:cs typeface="Nimbus Sans"/>
              </a:rPr>
              <a:t>Windows</a:t>
            </a:r>
          </a:p>
          <a:p>
            <a:pPr algn="l">
              <a:lnSpc>
                <a:spcPct val="105000"/>
              </a:lnSpc>
              <a:buNone/>
              <a:defRPr sz="1425" b="0">
                <a:solidFill>
                  <a:srgbClr val="5B6B7E"/>
                </a:solidFill>
                <a:latin typeface="Nimbus Sans"/>
                <a:ea typeface="Nimbus Sans"/>
                <a:cs typeface="Nimbus Sans"/>
              </a:defRPr>
            </a:pPr>
            <a:r>
              <a:rPr sz="2000" b="0" dirty="0">
                <a:solidFill>
                  <a:srgbClr val="5B6B7E"/>
                </a:solidFill>
                <a:latin typeface="Nimbus Sans"/>
                <a:ea typeface="Nimbus Sans"/>
                <a:cs typeface="Nimbus Sans"/>
              </a:rPr>
              <a:t>Git + GitHub</a:t>
            </a:r>
          </a:p>
        </p:txBody>
      </p:sp>
      <p:sp>
        <p:nvSpPr>
          <p:cNvPr id="37" name="Rectangle 36">
            <a:extLst>
              <a:ext uri="{FF2B5EF4-FFF2-40B4-BE49-F238E27FC236}">
                <a16:creationId xmlns:a16="http://schemas.microsoft.com/office/drawing/2014/main" id="{88ADDBDE-0A79-86CA-8AB4-318CAA626111}"/>
              </a:ext>
            </a:extLst>
          </p:cNvPr>
          <p:cNvSpPr>
            <a:spLocks noGrp="1"/>
          </p:cNvSpPr>
          <p:nvPr/>
        </p:nvSpPr>
        <p:spPr>
          <a:xfrm>
            <a:off x="6553199" y="3981449"/>
            <a:ext cx="510265" cy="289391"/>
          </a:xfrm>
          <a:prstGeom prst="rect">
            <a:avLst/>
          </a:prstGeom>
          <a:noFill/>
          <a:ln w="0">
            <a:noFill/>
          </a:ln>
        </p:spPr>
        <p:txBody>
          <a:bodyPr wrap="square" lIns="0" tIns="0" rIns="0" bIns="0" anchor="t">
            <a:noAutofit/>
          </a:bodyPr>
          <a:lstStyle/>
          <a:p>
            <a:pPr algn="l">
              <a:defRPr sz="975" b="1">
                <a:solidFill>
                  <a:srgbClr val="0F766E"/>
                </a:solidFill>
                <a:latin typeface="Nimbus Sans"/>
                <a:ea typeface="Nimbus Sans"/>
                <a:cs typeface="Nimbus Sans"/>
              </a:defRPr>
            </a:pPr>
            <a:r>
              <a:rPr sz="1600" b="1">
                <a:solidFill>
                  <a:srgbClr val="0F766E"/>
                </a:solidFill>
                <a:latin typeface="Nimbus Sans"/>
                <a:ea typeface="Nimbus Sans"/>
                <a:cs typeface="Nimbus Sans"/>
              </a:rPr>
              <a:t>04</a:t>
            </a:r>
          </a:p>
        </p:txBody>
      </p:sp>
      <p:sp>
        <p:nvSpPr>
          <p:cNvPr id="39" name="Rectangle 38">
            <a:extLst>
              <a:ext uri="{FF2B5EF4-FFF2-40B4-BE49-F238E27FC236}">
                <a16:creationId xmlns:a16="http://schemas.microsoft.com/office/drawing/2014/main" id="{6D7AC35D-2E90-E37E-89AD-A10864B7A534}"/>
              </a:ext>
            </a:extLst>
          </p:cNvPr>
          <p:cNvSpPr>
            <a:spLocks noGrp="1"/>
          </p:cNvSpPr>
          <p:nvPr/>
        </p:nvSpPr>
        <p:spPr>
          <a:xfrm>
            <a:off x="7048499" y="3943350"/>
            <a:ext cx="3885863" cy="413416"/>
          </a:xfrm>
          <a:prstGeom prst="rect">
            <a:avLst/>
          </a:prstGeom>
          <a:noFill/>
          <a:ln w="0">
            <a:noFill/>
          </a:ln>
        </p:spPr>
        <p:txBody>
          <a:bodyPr wrap="square" lIns="0" tIns="0" rIns="0" bIns="0" anchor="ctr">
            <a:noAutofit/>
          </a:bodyPr>
          <a:lstStyle/>
          <a:p>
            <a:pPr algn="l">
              <a:defRPr sz="1725" b="1">
                <a:solidFill>
                  <a:srgbClr val="102A43"/>
                </a:solidFill>
                <a:latin typeface="Nimbus Sans"/>
                <a:ea typeface="Nimbus Sans"/>
                <a:cs typeface="Nimbus Sans"/>
              </a:defRPr>
            </a:pPr>
            <a:r>
              <a:rPr sz="2000" b="1" dirty="0">
                <a:solidFill>
                  <a:srgbClr val="102A43"/>
                </a:solidFill>
                <a:latin typeface="Nimbus Sans"/>
                <a:ea typeface="Nimbus Sans"/>
                <a:cs typeface="Nimbus Sans"/>
              </a:rPr>
              <a:t>Deployment</a:t>
            </a:r>
            <a:r>
              <a:rPr b="1" dirty="0">
                <a:solidFill>
                  <a:srgbClr val="102A43"/>
                </a:solidFill>
                <a:latin typeface="Nimbus Sans"/>
                <a:ea typeface="Nimbus Sans"/>
                <a:cs typeface="Nimbus Sans"/>
              </a:rPr>
              <a:t> &amp; Team</a:t>
            </a:r>
          </a:p>
        </p:txBody>
      </p:sp>
      <p:sp>
        <p:nvSpPr>
          <p:cNvPr id="41" name="Rectangle 40">
            <a:extLst>
              <a:ext uri="{FF2B5EF4-FFF2-40B4-BE49-F238E27FC236}">
                <a16:creationId xmlns:a16="http://schemas.microsoft.com/office/drawing/2014/main" id="{44CD0648-5CA8-5FC5-1B5B-71FB2E6AA6DA}"/>
              </a:ext>
            </a:extLst>
          </p:cNvPr>
          <p:cNvSpPr>
            <a:spLocks noGrp="1"/>
          </p:cNvSpPr>
          <p:nvPr/>
        </p:nvSpPr>
        <p:spPr>
          <a:xfrm>
            <a:off x="6553200" y="4438649"/>
            <a:ext cx="49064" cy="1033541"/>
          </a:xfrm>
          <a:prstGeom prst="rect">
            <a:avLst/>
          </a:prstGeom>
          <a:solidFill>
            <a:srgbClr val="0F766E"/>
          </a:solidFill>
          <a:ln w="0">
            <a:noFill/>
          </a:ln>
        </p:spPr>
        <p:txBody>
          <a:bodyPr/>
          <a:lstStyle/>
          <a:p>
            <a:endParaRPr lang="en-US" sz="8000"/>
          </a:p>
        </p:txBody>
      </p:sp>
      <p:sp>
        <p:nvSpPr>
          <p:cNvPr id="43" name="Rectangle 42">
            <a:extLst>
              <a:ext uri="{FF2B5EF4-FFF2-40B4-BE49-F238E27FC236}">
                <a16:creationId xmlns:a16="http://schemas.microsoft.com/office/drawing/2014/main" id="{E4866FD9-950F-541F-1DAC-5C9F5BB8FC9A}"/>
              </a:ext>
            </a:extLst>
          </p:cNvPr>
          <p:cNvSpPr>
            <a:spLocks noGrp="1"/>
          </p:cNvSpPr>
          <p:nvPr/>
        </p:nvSpPr>
        <p:spPr>
          <a:xfrm>
            <a:off x="6781799" y="4438649"/>
            <a:ext cx="4160621" cy="1198907"/>
          </a:xfrm>
          <a:prstGeom prst="rect">
            <a:avLst/>
          </a:prstGeom>
          <a:noFill/>
          <a:ln w="0">
            <a:noFill/>
          </a:ln>
        </p:spPr>
        <p:txBody>
          <a:bodyPr wrap="square" lIns="0" tIns="0" rIns="0" bIns="0" anchor="t">
            <a:noAutofit/>
          </a:bodyPr>
          <a:lstStyle/>
          <a:p>
            <a:pPr algn="l">
              <a:lnSpc>
                <a:spcPct val="105000"/>
              </a:lnSpc>
              <a:buNone/>
              <a:defRPr sz="1425" b="0">
                <a:solidFill>
                  <a:srgbClr val="5B6B7E"/>
                </a:solidFill>
                <a:latin typeface="Nimbus Sans"/>
                <a:ea typeface="Nimbus Sans"/>
                <a:cs typeface="Nimbus Sans"/>
              </a:defRPr>
            </a:pPr>
            <a:r>
              <a:rPr sz="2000" b="0" dirty="0" err="1">
                <a:solidFill>
                  <a:srgbClr val="5B6B7E"/>
                </a:solidFill>
                <a:latin typeface="Nimbus Sans"/>
                <a:ea typeface="Nimbus Sans"/>
                <a:cs typeface="Nimbus Sans"/>
              </a:rPr>
              <a:t>Vercel</a:t>
            </a:r>
            <a:endParaRPr sz="2000" b="0" dirty="0">
              <a:solidFill>
                <a:srgbClr val="5B6B7E"/>
              </a:solidFill>
              <a:latin typeface="Nimbus Sans"/>
              <a:ea typeface="Nimbus Sans"/>
              <a:cs typeface="Nimbus Sans"/>
            </a:endParaRPr>
          </a:p>
          <a:p>
            <a:pPr algn="l">
              <a:lnSpc>
                <a:spcPct val="105000"/>
              </a:lnSpc>
              <a:buNone/>
              <a:defRPr sz="1425" b="0">
                <a:solidFill>
                  <a:srgbClr val="5B6B7E"/>
                </a:solidFill>
                <a:latin typeface="Nimbus Sans"/>
                <a:ea typeface="Nimbus Sans"/>
                <a:cs typeface="Nimbus Sans"/>
              </a:defRPr>
            </a:pPr>
            <a:r>
              <a:rPr sz="2000" b="0" dirty="0">
                <a:solidFill>
                  <a:srgbClr val="5B6B7E"/>
                </a:solidFill>
                <a:latin typeface="Nimbus Sans"/>
                <a:ea typeface="Nimbus Sans"/>
                <a:cs typeface="Nimbus Sans"/>
              </a:rPr>
              <a:t>Discord + Text Messaging</a:t>
            </a:r>
          </a:p>
          <a:p>
            <a:pPr algn="l">
              <a:lnSpc>
                <a:spcPct val="105000"/>
              </a:lnSpc>
              <a:buNone/>
              <a:defRPr sz="1425" b="0">
                <a:solidFill>
                  <a:srgbClr val="5B6B7E"/>
                </a:solidFill>
                <a:latin typeface="Nimbus Sans"/>
                <a:ea typeface="Nimbus Sans"/>
                <a:cs typeface="Nimbus Sans"/>
              </a:defRPr>
            </a:pPr>
            <a:r>
              <a:rPr sz="2000" b="0" dirty="0">
                <a:solidFill>
                  <a:srgbClr val="5B6B7E"/>
                </a:solidFill>
                <a:latin typeface="Nimbus Sans"/>
                <a:ea typeface="Nimbus Sans"/>
                <a:cs typeface="Nimbus Sans"/>
              </a:rPr>
              <a:t>ChatGPT Free</a:t>
            </a:r>
          </a:p>
        </p:txBody>
      </p:sp>
    </p:spTree>
    <p:extLst>
      <p:ext uri="{BB962C8B-B14F-4D97-AF65-F5344CB8AC3E}">
        <p14:creationId xmlns:p14="http://schemas.microsoft.com/office/powerpoint/2010/main" val="2133105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21073AB-0D1A-48AD-826C-A14C0B816EFA}"/>
              </a:ext>
            </a:extLst>
          </p:cNvPr>
          <p:cNvSpPr>
            <a:spLocks noGrp="1"/>
          </p:cNvSpPr>
          <p:nvPr/>
        </p:nvSpPr>
        <p:spPr>
          <a:xfrm>
            <a:off x="0" y="0"/>
            <a:ext cx="12192000" cy="1028700"/>
          </a:xfrm>
          <a:prstGeom prst="rect">
            <a:avLst/>
          </a:prstGeom>
          <a:solidFill>
            <a:srgbClr val="081A2D"/>
          </a:solidFill>
          <a:ln w="0">
            <a:noFill/>
          </a:ln>
        </p:spPr>
        <p:txBody>
          <a:bodyPr/>
          <a:lstStyle/>
          <a:p>
            <a:endParaRPr lang="en-US"/>
          </a:p>
        </p:txBody>
      </p:sp>
      <p:sp>
        <p:nvSpPr>
          <p:cNvPr id="3" name="Rectangle 2">
            <a:extLst>
              <a:ext uri="{FF2B5EF4-FFF2-40B4-BE49-F238E27FC236}">
                <a16:creationId xmlns:a16="http://schemas.microsoft.com/office/drawing/2014/main" id="{50AD2A1E-A550-4F51-ABBF-DFD3B28BBA06}"/>
              </a:ext>
            </a:extLst>
          </p:cNvPr>
          <p:cNvSpPr>
            <a:spLocks noGrp="1"/>
          </p:cNvSpPr>
          <p:nvPr/>
        </p:nvSpPr>
        <p:spPr>
          <a:xfrm>
            <a:off x="1181100" y="209550"/>
            <a:ext cx="9906000" cy="552450"/>
          </a:xfrm>
          <a:prstGeom prst="rect">
            <a:avLst/>
          </a:prstGeom>
          <a:noFill/>
          <a:ln w="0">
            <a:noFill/>
          </a:ln>
        </p:spPr>
        <p:txBody>
          <a:bodyPr wrap="square" lIns="57150" tIns="47625" rIns="57150" bIns="47625" anchor="ctr">
            <a:noAutofit/>
          </a:bodyPr>
          <a:lstStyle/>
          <a:p>
            <a:pPr algn="l">
              <a:defRPr sz="2700" b="1">
                <a:solidFill>
                  <a:srgbClr val="FFFFFF"/>
                </a:solidFill>
                <a:latin typeface="Nimbus Sans"/>
                <a:ea typeface="Nimbus Sans"/>
                <a:cs typeface="Nimbus Sans"/>
              </a:defRPr>
            </a:pPr>
            <a:r>
              <a:rPr sz="2700" b="1">
                <a:solidFill>
                  <a:srgbClr val="FFFFFF"/>
                </a:solidFill>
                <a:latin typeface="Nimbus Sans"/>
                <a:ea typeface="Nimbus Sans"/>
                <a:cs typeface="Nimbus Sans"/>
              </a:rPr>
              <a:t>User Accounts and Authentication</a:t>
            </a:r>
          </a:p>
        </p:txBody>
      </p:sp>
      <p:sp>
        <p:nvSpPr>
          <p:cNvPr id="4" name="Rectangle 3">
            <a:extLst>
              <a:ext uri="{FF2B5EF4-FFF2-40B4-BE49-F238E27FC236}">
                <a16:creationId xmlns:a16="http://schemas.microsoft.com/office/drawing/2014/main" id="{929F78B1-BCA8-49B3-A9FF-2E1E9B69E79C}"/>
              </a:ext>
            </a:extLst>
          </p:cNvPr>
          <p:cNvSpPr>
            <a:spLocks noGrp="1"/>
          </p:cNvSpPr>
          <p:nvPr/>
        </p:nvSpPr>
        <p:spPr>
          <a:xfrm>
            <a:off x="609600" y="838200"/>
            <a:ext cx="781050" cy="47625"/>
          </a:xfrm>
          <a:prstGeom prst="rect">
            <a:avLst/>
          </a:prstGeom>
          <a:solidFill>
            <a:srgbClr val="2DD4BF"/>
          </a:solidFill>
          <a:ln w="0">
            <a:noFill/>
          </a:ln>
        </p:spPr>
        <p:txBody>
          <a:bodyPr/>
          <a:lstStyle/>
          <a:p>
            <a:endParaRPr lang="en-US"/>
          </a:p>
        </p:txBody>
      </p:sp>
      <p:sp>
        <p:nvSpPr>
          <p:cNvPr id="5" name="Rectangle: Rounded Corners 4">
            <a:extLst>
              <a:ext uri="{FF2B5EF4-FFF2-40B4-BE49-F238E27FC236}">
                <a16:creationId xmlns:a16="http://schemas.microsoft.com/office/drawing/2014/main" id="{BFDD1D44-76C1-4AD3-91F0-FD6CDE73ECFA}"/>
              </a:ext>
            </a:extLst>
          </p:cNvPr>
          <p:cNvSpPr>
            <a:spLocks noGrp="1"/>
          </p:cNvSpPr>
          <p:nvPr/>
        </p:nvSpPr>
        <p:spPr>
          <a:xfrm>
            <a:off x="609600" y="1409700"/>
            <a:ext cx="10972800" cy="4686300"/>
          </a:xfrm>
          <a:prstGeom prst="roundRect">
            <a:avLst>
              <a:gd name="adj" fmla="val 4065"/>
            </a:avLst>
          </a:prstGeom>
          <a:solidFill>
            <a:srgbClr val="FFFFFF"/>
          </a:solidFill>
          <a:ln w="9525">
            <a:solidFill>
              <a:srgbClr val="D7DF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6" name="Rectangle: Rounded Corners 5">
            <a:extLst>
              <a:ext uri="{FF2B5EF4-FFF2-40B4-BE49-F238E27FC236}">
                <a16:creationId xmlns:a16="http://schemas.microsoft.com/office/drawing/2014/main" id="{96CEBCB3-D472-4E23-A098-04F8D7ABFD1B}"/>
              </a:ext>
            </a:extLst>
          </p:cNvPr>
          <p:cNvSpPr>
            <a:spLocks noGrp="1"/>
          </p:cNvSpPr>
          <p:nvPr/>
        </p:nvSpPr>
        <p:spPr>
          <a:xfrm>
            <a:off x="914400" y="1847850"/>
            <a:ext cx="552450" cy="552450"/>
          </a:xfrm>
          <a:prstGeom prst="roundRect">
            <a:avLst>
              <a:gd name="adj" fmla="val 50000"/>
            </a:avLst>
          </a:prstGeom>
          <a:solidFill>
            <a:srgbClr val="2DD4BF"/>
          </a:solidFill>
          <a:ln w="0">
            <a:noFill/>
          </a:ln>
        </p:spPr>
        <p:txBody>
          <a:bodyPr wrap="square" lIns="0" tIns="0" rIns="0" bIns="0" anchor="ctr">
            <a:noAutofit/>
          </a:bodyPr>
          <a:lstStyle/>
          <a:p>
            <a:pPr algn="ct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01</a:t>
            </a:r>
          </a:p>
        </p:txBody>
      </p:sp>
      <p:sp>
        <p:nvSpPr>
          <p:cNvPr id="7" name="Rectangle 6">
            <a:extLst>
              <a:ext uri="{FF2B5EF4-FFF2-40B4-BE49-F238E27FC236}">
                <a16:creationId xmlns:a16="http://schemas.microsoft.com/office/drawing/2014/main" id="{5EF20AFA-E82C-4562-973E-FB326C09D8C4}"/>
              </a:ext>
            </a:extLst>
          </p:cNvPr>
          <p:cNvSpPr>
            <a:spLocks noGrp="1"/>
          </p:cNvSpPr>
          <p:nvPr/>
        </p:nvSpPr>
        <p:spPr>
          <a:xfrm>
            <a:off x="1752600" y="1714500"/>
            <a:ext cx="9239250" cy="1143000"/>
          </a:xfrm>
          <a:prstGeom prst="rect">
            <a:avLst/>
          </a:prstGeom>
          <a:noFill/>
          <a:ln w="0">
            <a:noFill/>
          </a:ln>
        </p:spPr>
        <p:txBody>
          <a:bodyPr wrap="square" lIns="0" tIns="38100" rIns="0" bIns="38100" anchor="ctr">
            <a:noAutofit/>
          </a:bodyPr>
          <a:lstStyle/>
          <a:p>
            <a:pPr algn="l">
              <a:lnSpc>
                <a:spcPct val="103000"/>
              </a:lnSpc>
              <a:buNone/>
              <a:defRPr sz="1725" b="0">
                <a:solidFill>
                  <a:srgbClr val="132238"/>
                </a:solidFill>
                <a:latin typeface="Nimbus Sans"/>
                <a:ea typeface="Nimbus Sans"/>
                <a:cs typeface="Nimbus Sans"/>
              </a:defRPr>
            </a:pPr>
            <a:r>
              <a:rPr sz="2000" b="0" dirty="0">
                <a:solidFill>
                  <a:srgbClr val="132238"/>
                </a:solidFill>
                <a:latin typeface="Nimbus Sans"/>
                <a:ea typeface="Nimbus Sans"/>
                <a:cs typeface="Nimbus Sans"/>
              </a:rPr>
              <a:t>Finora needs a way to keep the financial information of users separate</a:t>
            </a:r>
            <a:r>
              <a:rPr sz="1725" b="0" dirty="0">
                <a:solidFill>
                  <a:srgbClr val="132238"/>
                </a:solidFill>
                <a:latin typeface="Nimbus Sans"/>
                <a:ea typeface="Nimbus Sans"/>
                <a:cs typeface="Nimbus Sans"/>
              </a:rPr>
              <a:t>.</a:t>
            </a:r>
          </a:p>
        </p:txBody>
      </p:sp>
      <p:sp>
        <p:nvSpPr>
          <p:cNvPr id="8" name="Straight Connector 7">
            <a:extLst>
              <a:ext uri="{FF2B5EF4-FFF2-40B4-BE49-F238E27FC236}">
                <a16:creationId xmlns:a16="http://schemas.microsoft.com/office/drawing/2014/main" id="{6D85002B-F992-45A6-9447-05B912FDECFA}"/>
              </a:ext>
            </a:extLst>
          </p:cNvPr>
          <p:cNvSpPr>
            <a:spLocks noGrp="1"/>
          </p:cNvSpPr>
          <p:nvPr/>
        </p:nvSpPr>
        <p:spPr>
          <a:xfrm>
            <a:off x="1752600" y="2990850"/>
            <a:ext cx="9239250" cy="0"/>
          </a:xfrm>
          <a:prstGeom prst="line">
            <a:avLst/>
          </a:prstGeom>
          <a:noFill/>
          <a:ln w="9525">
            <a:solidFill>
              <a:srgbClr val="D7DFE5"/>
            </a:solidFill>
            <a:prstDash val="solid"/>
          </a:ln>
        </p:spPr>
        <p:txBody>
          <a:bodyPr/>
          <a:lstStyle/>
          <a:p>
            <a:endParaRPr lang="en-US"/>
          </a:p>
        </p:txBody>
      </p:sp>
      <p:sp>
        <p:nvSpPr>
          <p:cNvPr id="9" name="Rectangle: Rounded Corners 8">
            <a:extLst>
              <a:ext uri="{FF2B5EF4-FFF2-40B4-BE49-F238E27FC236}">
                <a16:creationId xmlns:a16="http://schemas.microsoft.com/office/drawing/2014/main" id="{1851F62A-C6D6-45DA-B083-15EA69BF6D40}"/>
              </a:ext>
            </a:extLst>
          </p:cNvPr>
          <p:cNvSpPr>
            <a:spLocks noGrp="1"/>
          </p:cNvSpPr>
          <p:nvPr/>
        </p:nvSpPr>
        <p:spPr>
          <a:xfrm>
            <a:off x="914400" y="3314700"/>
            <a:ext cx="552450" cy="552450"/>
          </a:xfrm>
          <a:prstGeom prst="roundRect">
            <a:avLst>
              <a:gd name="adj" fmla="val 50000"/>
            </a:avLst>
          </a:prstGeom>
          <a:solidFill>
            <a:srgbClr val="FF7A59"/>
          </a:solidFill>
          <a:ln w="0">
            <a:noFill/>
          </a:ln>
        </p:spPr>
        <p:txBody>
          <a:bodyPr wrap="square" lIns="0" tIns="0" rIns="0" bIns="0" anchor="ctr">
            <a:noAutofit/>
          </a:bodyPr>
          <a:lstStyle/>
          <a:p>
            <a:pPr algn="ct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02</a:t>
            </a:r>
          </a:p>
        </p:txBody>
      </p:sp>
      <p:sp>
        <p:nvSpPr>
          <p:cNvPr id="10" name="Rectangle 9">
            <a:extLst>
              <a:ext uri="{FF2B5EF4-FFF2-40B4-BE49-F238E27FC236}">
                <a16:creationId xmlns:a16="http://schemas.microsoft.com/office/drawing/2014/main" id="{F8F7B24F-9AEF-4EB0-B6ED-4D475028FA27}"/>
              </a:ext>
            </a:extLst>
          </p:cNvPr>
          <p:cNvSpPr>
            <a:spLocks noGrp="1"/>
          </p:cNvSpPr>
          <p:nvPr/>
        </p:nvSpPr>
        <p:spPr>
          <a:xfrm>
            <a:off x="1752600" y="3181350"/>
            <a:ext cx="9239250" cy="1143000"/>
          </a:xfrm>
          <a:prstGeom prst="rect">
            <a:avLst/>
          </a:prstGeom>
          <a:noFill/>
          <a:ln w="0">
            <a:noFill/>
          </a:ln>
        </p:spPr>
        <p:txBody>
          <a:bodyPr wrap="square" lIns="0" tIns="38100" rIns="0" bIns="38100" anchor="ctr">
            <a:noAutofit/>
          </a:bodyPr>
          <a:lstStyle/>
          <a:p>
            <a:pPr algn="l">
              <a:lnSpc>
                <a:spcPct val="103000"/>
              </a:lnSpc>
              <a:buNone/>
              <a:defRPr sz="1725" b="0">
                <a:solidFill>
                  <a:srgbClr val="132238"/>
                </a:solidFill>
                <a:latin typeface="Nimbus Sans"/>
                <a:ea typeface="Nimbus Sans"/>
                <a:cs typeface="Nimbus Sans"/>
              </a:defRPr>
            </a:pPr>
            <a:r>
              <a:rPr sz="2000" b="0" dirty="0">
                <a:solidFill>
                  <a:srgbClr val="132238"/>
                </a:solidFill>
                <a:latin typeface="Nimbus Sans"/>
                <a:ea typeface="Nimbus Sans"/>
                <a:cs typeface="Nimbus Sans"/>
              </a:rPr>
              <a:t>For this reason, Finora will store a unique email and password to represent each user.</a:t>
            </a:r>
          </a:p>
        </p:txBody>
      </p:sp>
      <p:sp>
        <p:nvSpPr>
          <p:cNvPr id="11" name="Straight Connector 10">
            <a:extLst>
              <a:ext uri="{FF2B5EF4-FFF2-40B4-BE49-F238E27FC236}">
                <a16:creationId xmlns:a16="http://schemas.microsoft.com/office/drawing/2014/main" id="{C047DAFB-4EF6-40A0-BB9E-EEBFE230FC66}"/>
              </a:ext>
            </a:extLst>
          </p:cNvPr>
          <p:cNvSpPr>
            <a:spLocks noGrp="1"/>
          </p:cNvSpPr>
          <p:nvPr/>
        </p:nvSpPr>
        <p:spPr>
          <a:xfrm>
            <a:off x="1752600" y="4457700"/>
            <a:ext cx="9239250" cy="0"/>
          </a:xfrm>
          <a:prstGeom prst="line">
            <a:avLst/>
          </a:prstGeom>
          <a:noFill/>
          <a:ln w="9525">
            <a:solidFill>
              <a:srgbClr val="D7DFE5"/>
            </a:solidFill>
            <a:prstDash val="solid"/>
          </a:ln>
        </p:spPr>
        <p:txBody>
          <a:bodyPr/>
          <a:lstStyle/>
          <a:p>
            <a:endParaRPr lang="en-US"/>
          </a:p>
        </p:txBody>
      </p:sp>
      <p:sp>
        <p:nvSpPr>
          <p:cNvPr id="12" name="Rectangle: Rounded Corners 11">
            <a:extLst>
              <a:ext uri="{FF2B5EF4-FFF2-40B4-BE49-F238E27FC236}">
                <a16:creationId xmlns:a16="http://schemas.microsoft.com/office/drawing/2014/main" id="{8AA84D06-310E-439C-B24F-DCD7B89C6B31}"/>
              </a:ext>
            </a:extLst>
          </p:cNvPr>
          <p:cNvSpPr>
            <a:spLocks noGrp="1"/>
          </p:cNvSpPr>
          <p:nvPr/>
        </p:nvSpPr>
        <p:spPr>
          <a:xfrm>
            <a:off x="914400" y="4781550"/>
            <a:ext cx="552450" cy="552450"/>
          </a:xfrm>
          <a:prstGeom prst="roundRect">
            <a:avLst>
              <a:gd name="adj" fmla="val 50000"/>
            </a:avLst>
          </a:prstGeom>
          <a:solidFill>
            <a:srgbClr val="2DD4BF"/>
          </a:solidFill>
          <a:ln w="0">
            <a:noFill/>
          </a:ln>
        </p:spPr>
        <p:txBody>
          <a:bodyPr wrap="square" lIns="0" tIns="0" rIns="0" bIns="0" anchor="ctr">
            <a:noAutofit/>
          </a:bodyPr>
          <a:lstStyle/>
          <a:p>
            <a:pPr algn="ct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03</a:t>
            </a:r>
          </a:p>
        </p:txBody>
      </p:sp>
      <p:sp>
        <p:nvSpPr>
          <p:cNvPr id="13" name="Rectangle 12">
            <a:extLst>
              <a:ext uri="{FF2B5EF4-FFF2-40B4-BE49-F238E27FC236}">
                <a16:creationId xmlns:a16="http://schemas.microsoft.com/office/drawing/2014/main" id="{7D7D82BF-39CE-4AE4-8B73-5F02907FEB62}"/>
              </a:ext>
            </a:extLst>
          </p:cNvPr>
          <p:cNvSpPr>
            <a:spLocks noGrp="1"/>
          </p:cNvSpPr>
          <p:nvPr/>
        </p:nvSpPr>
        <p:spPr>
          <a:xfrm>
            <a:off x="1752600" y="4648200"/>
            <a:ext cx="9239250" cy="1143000"/>
          </a:xfrm>
          <a:prstGeom prst="rect">
            <a:avLst/>
          </a:prstGeom>
          <a:noFill/>
          <a:ln w="0">
            <a:noFill/>
          </a:ln>
        </p:spPr>
        <p:txBody>
          <a:bodyPr wrap="square" lIns="0" tIns="38100" rIns="0" bIns="38100" anchor="ctr">
            <a:noAutofit/>
          </a:bodyPr>
          <a:lstStyle/>
          <a:p>
            <a:pPr algn="l">
              <a:lnSpc>
                <a:spcPct val="103000"/>
              </a:lnSpc>
              <a:buNone/>
              <a:defRPr sz="1725" b="0">
                <a:solidFill>
                  <a:srgbClr val="132238"/>
                </a:solidFill>
                <a:latin typeface="Nimbus Sans"/>
                <a:ea typeface="Nimbus Sans"/>
                <a:cs typeface="Nimbus Sans"/>
              </a:defRPr>
            </a:pPr>
            <a:r>
              <a:rPr lang="en-US" sz="2000" b="0" dirty="0">
                <a:solidFill>
                  <a:srgbClr val="132238"/>
                </a:solidFill>
                <a:latin typeface="Nimbus Sans"/>
                <a:ea typeface="Nimbus Sans"/>
                <a:cs typeface="Nimbus Sans"/>
              </a:rPr>
              <a:t>Finora will send a user’s a one-time password when creating an account to ensure they have access to their email.</a:t>
            </a:r>
          </a:p>
        </p:txBody>
      </p:sp>
      <p:sp>
        <p:nvSpPr>
          <p:cNvPr id="15" name="Rectangle 14">
            <a:extLst>
              <a:ext uri="{FF2B5EF4-FFF2-40B4-BE49-F238E27FC236}">
                <a16:creationId xmlns:a16="http://schemas.microsoft.com/office/drawing/2014/main" id="{1B6B34E0-0D93-4B0B-97CC-FAAEE71411A2}"/>
              </a:ext>
            </a:extLst>
          </p:cNvPr>
          <p:cNvSpPr>
            <a:spLocks noGrp="1"/>
          </p:cNvSpPr>
          <p:nvPr/>
        </p:nvSpPr>
        <p:spPr>
          <a:xfrm>
            <a:off x="11239500" y="6496050"/>
            <a:ext cx="342900" cy="228600"/>
          </a:xfrm>
          <a:prstGeom prst="rect">
            <a:avLst/>
          </a:prstGeom>
          <a:noFill/>
          <a:ln w="0">
            <a:noFill/>
          </a:ln>
        </p:spPr>
        <p:txBody>
          <a:bodyPr wrap="square" lIns="0" tIns="0" rIns="0" bIns="0" anchor="ctr">
            <a:noAutofit/>
          </a:bodyPr>
          <a:lstStyle/>
          <a:p>
            <a:pPr algn="r">
              <a:defRPr sz="975" b="1">
                <a:solidFill>
                  <a:srgbClr val="5B6B7E"/>
                </a:solidFill>
                <a:latin typeface="Nimbus Sans"/>
                <a:ea typeface="Nimbus Sans"/>
                <a:cs typeface="Nimbus Sans"/>
              </a:defRPr>
            </a:pPr>
            <a:r>
              <a:rPr sz="975" b="1">
                <a:solidFill>
                  <a:srgbClr val="5B6B7E"/>
                </a:solidFill>
                <a:latin typeface="Nimbus Sans"/>
                <a:ea typeface="Nimbus Sans"/>
                <a:cs typeface="Nimbus Sans"/>
              </a:rPr>
              <a:t>02</a:t>
            </a:r>
          </a:p>
        </p:txBody>
      </p:sp>
    </p:spTree>
    <p:extLst>
      <p:ext uri="{BB962C8B-B14F-4D97-AF65-F5344CB8AC3E}">
        <p14:creationId xmlns:p14="http://schemas.microsoft.com/office/powerpoint/2010/main" val="1033744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3E71FA9-9E56-4033-BA5A-80666146B3C4}"/>
              </a:ext>
            </a:extLst>
          </p:cNvPr>
          <p:cNvSpPr>
            <a:spLocks noGrp="1"/>
          </p:cNvSpPr>
          <p:nvPr/>
        </p:nvSpPr>
        <p:spPr>
          <a:xfrm>
            <a:off x="0" y="0"/>
            <a:ext cx="12192000" cy="1028700"/>
          </a:xfrm>
          <a:prstGeom prst="rect">
            <a:avLst/>
          </a:prstGeom>
          <a:solidFill>
            <a:srgbClr val="081A2D"/>
          </a:solidFill>
          <a:ln w="0">
            <a:noFill/>
          </a:ln>
        </p:spPr>
        <p:txBody>
          <a:bodyPr/>
          <a:lstStyle/>
          <a:p>
            <a:endParaRPr lang="en-US"/>
          </a:p>
        </p:txBody>
      </p:sp>
      <p:sp>
        <p:nvSpPr>
          <p:cNvPr id="3" name="Rectangle 2">
            <a:extLst>
              <a:ext uri="{FF2B5EF4-FFF2-40B4-BE49-F238E27FC236}">
                <a16:creationId xmlns:a16="http://schemas.microsoft.com/office/drawing/2014/main" id="{C9AC8D03-A5B1-493A-8491-33CDF6622523}"/>
              </a:ext>
            </a:extLst>
          </p:cNvPr>
          <p:cNvSpPr>
            <a:spLocks noGrp="1"/>
          </p:cNvSpPr>
          <p:nvPr/>
        </p:nvSpPr>
        <p:spPr>
          <a:xfrm>
            <a:off x="1181100" y="209550"/>
            <a:ext cx="9906000" cy="552450"/>
          </a:xfrm>
          <a:prstGeom prst="rect">
            <a:avLst/>
          </a:prstGeom>
          <a:noFill/>
          <a:ln w="0">
            <a:noFill/>
          </a:ln>
        </p:spPr>
        <p:txBody>
          <a:bodyPr wrap="square" lIns="57150" tIns="47625" rIns="57150" bIns="47625" anchor="ctr">
            <a:noAutofit/>
          </a:bodyPr>
          <a:lstStyle/>
          <a:p>
            <a:pPr algn="l">
              <a:defRPr sz="2700" b="1">
                <a:solidFill>
                  <a:srgbClr val="FFFFFF"/>
                </a:solidFill>
                <a:latin typeface="Nimbus Sans"/>
                <a:ea typeface="Nimbus Sans"/>
                <a:cs typeface="Nimbus Sans"/>
              </a:defRPr>
            </a:pPr>
            <a:r>
              <a:rPr sz="2700" b="1">
                <a:solidFill>
                  <a:srgbClr val="FFFFFF"/>
                </a:solidFill>
                <a:latin typeface="Nimbus Sans"/>
                <a:ea typeface="Nimbus Sans"/>
                <a:cs typeface="Nimbus Sans"/>
              </a:rPr>
              <a:t>The Financial Dashboard</a:t>
            </a:r>
          </a:p>
        </p:txBody>
      </p:sp>
      <p:sp>
        <p:nvSpPr>
          <p:cNvPr id="4" name="Rectangle 3">
            <a:extLst>
              <a:ext uri="{FF2B5EF4-FFF2-40B4-BE49-F238E27FC236}">
                <a16:creationId xmlns:a16="http://schemas.microsoft.com/office/drawing/2014/main" id="{F5FB464E-1518-4833-88E2-2AC2F8C83C10}"/>
              </a:ext>
            </a:extLst>
          </p:cNvPr>
          <p:cNvSpPr>
            <a:spLocks noGrp="1"/>
          </p:cNvSpPr>
          <p:nvPr/>
        </p:nvSpPr>
        <p:spPr>
          <a:xfrm>
            <a:off x="609600" y="838200"/>
            <a:ext cx="781050" cy="47625"/>
          </a:xfrm>
          <a:prstGeom prst="rect">
            <a:avLst/>
          </a:prstGeom>
          <a:solidFill>
            <a:srgbClr val="FF7A59"/>
          </a:solidFill>
          <a:ln w="0">
            <a:noFill/>
          </a:ln>
        </p:spPr>
        <p:txBody>
          <a:bodyPr/>
          <a:lstStyle/>
          <a:p>
            <a:endParaRPr lang="en-US"/>
          </a:p>
        </p:txBody>
      </p:sp>
      <p:sp>
        <p:nvSpPr>
          <p:cNvPr id="12" name="Rectangle 11">
            <a:extLst>
              <a:ext uri="{FF2B5EF4-FFF2-40B4-BE49-F238E27FC236}">
                <a16:creationId xmlns:a16="http://schemas.microsoft.com/office/drawing/2014/main" id="{43CA20DD-B032-4FE8-AE49-B34D0DE366C5}"/>
              </a:ext>
            </a:extLst>
          </p:cNvPr>
          <p:cNvSpPr>
            <a:spLocks noGrp="1"/>
          </p:cNvSpPr>
          <p:nvPr/>
        </p:nvSpPr>
        <p:spPr>
          <a:xfrm>
            <a:off x="11239500" y="6496050"/>
            <a:ext cx="342900" cy="228600"/>
          </a:xfrm>
          <a:prstGeom prst="rect">
            <a:avLst/>
          </a:prstGeom>
          <a:noFill/>
          <a:ln w="0">
            <a:noFill/>
          </a:ln>
        </p:spPr>
        <p:txBody>
          <a:bodyPr wrap="square" lIns="0" tIns="0" rIns="0" bIns="0" anchor="ctr">
            <a:noAutofit/>
          </a:bodyPr>
          <a:lstStyle/>
          <a:p>
            <a:pPr algn="r">
              <a:defRPr sz="975" b="1">
                <a:solidFill>
                  <a:srgbClr val="5B6B7E"/>
                </a:solidFill>
                <a:latin typeface="Nimbus Sans"/>
                <a:ea typeface="Nimbus Sans"/>
                <a:cs typeface="Nimbus Sans"/>
              </a:defRPr>
            </a:pPr>
            <a:r>
              <a:rPr sz="975" b="1">
                <a:solidFill>
                  <a:srgbClr val="5B6B7E"/>
                </a:solidFill>
                <a:latin typeface="Nimbus Sans"/>
                <a:ea typeface="Nimbus Sans"/>
                <a:cs typeface="Nimbus Sans"/>
              </a:rPr>
              <a:t>04</a:t>
            </a:r>
          </a:p>
        </p:txBody>
      </p:sp>
      <p:sp>
        <p:nvSpPr>
          <p:cNvPr id="15" name="Rectangle: Rounded Corners 14">
            <a:extLst>
              <a:ext uri="{FF2B5EF4-FFF2-40B4-BE49-F238E27FC236}">
                <a16:creationId xmlns:a16="http://schemas.microsoft.com/office/drawing/2014/main" id="{61FCC77A-2967-31B7-4AA1-AA5234D90F9B}"/>
              </a:ext>
            </a:extLst>
          </p:cNvPr>
          <p:cNvSpPr>
            <a:spLocks noGrp="1"/>
          </p:cNvSpPr>
          <p:nvPr/>
        </p:nvSpPr>
        <p:spPr>
          <a:xfrm>
            <a:off x="609600" y="1374608"/>
            <a:ext cx="10972800" cy="4686300"/>
          </a:xfrm>
          <a:prstGeom prst="roundRect">
            <a:avLst>
              <a:gd name="adj" fmla="val 4065"/>
            </a:avLst>
          </a:prstGeom>
          <a:solidFill>
            <a:srgbClr val="FFFFFF"/>
          </a:solidFill>
          <a:ln w="9525">
            <a:solidFill>
              <a:srgbClr val="D7DF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7" name="Rectangle: Rounded Corners 16">
            <a:extLst>
              <a:ext uri="{FF2B5EF4-FFF2-40B4-BE49-F238E27FC236}">
                <a16:creationId xmlns:a16="http://schemas.microsoft.com/office/drawing/2014/main" id="{69AEC51E-566E-577D-5A53-774E67D7696A}"/>
              </a:ext>
            </a:extLst>
          </p:cNvPr>
          <p:cNvSpPr>
            <a:spLocks noGrp="1"/>
          </p:cNvSpPr>
          <p:nvPr/>
        </p:nvSpPr>
        <p:spPr>
          <a:xfrm>
            <a:off x="914400" y="1847850"/>
            <a:ext cx="552450" cy="552450"/>
          </a:xfrm>
          <a:prstGeom prst="roundRect">
            <a:avLst>
              <a:gd name="adj" fmla="val 50000"/>
            </a:avLst>
          </a:prstGeom>
          <a:solidFill>
            <a:srgbClr val="FF7A59"/>
          </a:solidFill>
          <a:ln w="0">
            <a:noFill/>
          </a:ln>
        </p:spPr>
        <p:txBody>
          <a:bodyPr wrap="square" lIns="0" tIns="0" rIns="0" bIns="0" anchor="ctr">
            <a:noAutofit/>
          </a:bodyPr>
          <a:lstStyle/>
          <a:p>
            <a:pPr algn="ct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01</a:t>
            </a:r>
          </a:p>
        </p:txBody>
      </p:sp>
      <p:sp>
        <p:nvSpPr>
          <p:cNvPr id="19" name="Rectangle 18">
            <a:extLst>
              <a:ext uri="{FF2B5EF4-FFF2-40B4-BE49-F238E27FC236}">
                <a16:creationId xmlns:a16="http://schemas.microsoft.com/office/drawing/2014/main" id="{2E01EC91-A073-FB6B-90A0-F94685FB985B}"/>
              </a:ext>
            </a:extLst>
          </p:cNvPr>
          <p:cNvSpPr>
            <a:spLocks noGrp="1"/>
          </p:cNvSpPr>
          <p:nvPr/>
        </p:nvSpPr>
        <p:spPr>
          <a:xfrm>
            <a:off x="1752600" y="1714500"/>
            <a:ext cx="9239250" cy="1143000"/>
          </a:xfrm>
          <a:prstGeom prst="rect">
            <a:avLst/>
          </a:prstGeom>
          <a:noFill/>
          <a:ln w="0">
            <a:noFill/>
          </a:ln>
        </p:spPr>
        <p:txBody>
          <a:bodyPr wrap="square" lIns="0" tIns="38100" rIns="0" bIns="38100" anchor="ctr">
            <a:noAutofit/>
          </a:bodyPr>
          <a:lstStyle/>
          <a:p>
            <a:r>
              <a:rPr lang="en-US" sz="2000" dirty="0"/>
              <a:t>The Financial dashboard will be on the homepage of the website and provide a brief overview of users’ financial status.</a:t>
            </a:r>
          </a:p>
        </p:txBody>
      </p:sp>
      <p:sp>
        <p:nvSpPr>
          <p:cNvPr id="21" name="Straight Connector 20">
            <a:extLst>
              <a:ext uri="{FF2B5EF4-FFF2-40B4-BE49-F238E27FC236}">
                <a16:creationId xmlns:a16="http://schemas.microsoft.com/office/drawing/2014/main" id="{CB4D25C8-A6CB-B523-EC40-DF9720A7B3E7}"/>
              </a:ext>
            </a:extLst>
          </p:cNvPr>
          <p:cNvSpPr>
            <a:spLocks noGrp="1"/>
          </p:cNvSpPr>
          <p:nvPr/>
        </p:nvSpPr>
        <p:spPr>
          <a:xfrm>
            <a:off x="1752600" y="2990850"/>
            <a:ext cx="9239250" cy="0"/>
          </a:xfrm>
          <a:prstGeom prst="line">
            <a:avLst/>
          </a:prstGeom>
          <a:noFill/>
          <a:ln w="9525">
            <a:solidFill>
              <a:srgbClr val="D7DFE5"/>
            </a:solidFill>
            <a:prstDash val="solid"/>
          </a:ln>
        </p:spPr>
        <p:txBody>
          <a:bodyPr/>
          <a:lstStyle/>
          <a:p>
            <a:endParaRPr lang="en-US"/>
          </a:p>
        </p:txBody>
      </p:sp>
      <p:sp>
        <p:nvSpPr>
          <p:cNvPr id="23" name="Rectangle: Rounded Corners 22">
            <a:extLst>
              <a:ext uri="{FF2B5EF4-FFF2-40B4-BE49-F238E27FC236}">
                <a16:creationId xmlns:a16="http://schemas.microsoft.com/office/drawing/2014/main" id="{9484E9AC-D836-04DA-E689-A8D476F448BB}"/>
              </a:ext>
            </a:extLst>
          </p:cNvPr>
          <p:cNvSpPr>
            <a:spLocks noGrp="1"/>
          </p:cNvSpPr>
          <p:nvPr/>
        </p:nvSpPr>
        <p:spPr>
          <a:xfrm>
            <a:off x="914400" y="3314700"/>
            <a:ext cx="552450" cy="552450"/>
          </a:xfrm>
          <a:prstGeom prst="roundRect">
            <a:avLst>
              <a:gd name="adj" fmla="val 50000"/>
            </a:avLst>
          </a:prstGeom>
          <a:solidFill>
            <a:srgbClr val="0F766E"/>
          </a:solidFill>
          <a:ln w="0">
            <a:noFill/>
          </a:ln>
        </p:spPr>
        <p:txBody>
          <a:bodyPr wrap="square" lIns="0" tIns="0" rIns="0" bIns="0" anchor="ctr">
            <a:noAutofit/>
          </a:bodyPr>
          <a:lstStyle/>
          <a:p>
            <a:pPr algn="ct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02</a:t>
            </a:r>
          </a:p>
        </p:txBody>
      </p:sp>
      <p:sp>
        <p:nvSpPr>
          <p:cNvPr id="25" name="Rectangle 24">
            <a:extLst>
              <a:ext uri="{FF2B5EF4-FFF2-40B4-BE49-F238E27FC236}">
                <a16:creationId xmlns:a16="http://schemas.microsoft.com/office/drawing/2014/main" id="{E96AF236-2A6E-4234-DC72-B82C94D795AC}"/>
              </a:ext>
            </a:extLst>
          </p:cNvPr>
          <p:cNvSpPr>
            <a:spLocks noGrp="1"/>
          </p:cNvSpPr>
          <p:nvPr/>
        </p:nvSpPr>
        <p:spPr>
          <a:xfrm>
            <a:off x="1752600" y="3181350"/>
            <a:ext cx="9239250" cy="1143000"/>
          </a:xfrm>
          <a:prstGeom prst="rect">
            <a:avLst/>
          </a:prstGeom>
          <a:noFill/>
          <a:ln w="0">
            <a:noFill/>
          </a:ln>
        </p:spPr>
        <p:txBody>
          <a:bodyPr wrap="square" lIns="0" tIns="38100" rIns="0" bIns="38100" anchor="ctr">
            <a:noAutofit/>
          </a:bodyPr>
          <a:lstStyle/>
          <a:p>
            <a:pPr>
              <a:lnSpc>
                <a:spcPct val="103000"/>
              </a:lnSpc>
              <a:defRPr sz="1725" b="0">
                <a:solidFill>
                  <a:srgbClr val="132238"/>
                </a:solidFill>
                <a:latin typeface="Nimbus Sans"/>
                <a:ea typeface="Nimbus Sans"/>
                <a:cs typeface="Nimbus Sans"/>
              </a:defRPr>
            </a:pPr>
            <a:r>
              <a:rPr lang="en-US" sz="2000" dirty="0"/>
              <a:t>Finora will keep track of the user’s account balance and remaining budget and update both based on their transactions.</a:t>
            </a:r>
          </a:p>
          <a:p>
            <a:pPr algn="l">
              <a:lnSpc>
                <a:spcPct val="103000"/>
              </a:lnSpc>
              <a:buNone/>
              <a:defRPr sz="1725" b="0">
                <a:solidFill>
                  <a:srgbClr val="132238"/>
                </a:solidFill>
                <a:latin typeface="Nimbus Sans"/>
                <a:ea typeface="Nimbus Sans"/>
                <a:cs typeface="Nimbus Sans"/>
              </a:defRPr>
            </a:pPr>
            <a:endParaRPr sz="1725" b="0" dirty="0">
              <a:solidFill>
                <a:srgbClr val="132238"/>
              </a:solidFill>
              <a:latin typeface="Nimbus Sans"/>
              <a:ea typeface="Nimbus Sans"/>
              <a:cs typeface="Nimbus Sans"/>
            </a:endParaRPr>
          </a:p>
        </p:txBody>
      </p:sp>
      <p:sp>
        <p:nvSpPr>
          <p:cNvPr id="27" name="Straight Connector 26">
            <a:extLst>
              <a:ext uri="{FF2B5EF4-FFF2-40B4-BE49-F238E27FC236}">
                <a16:creationId xmlns:a16="http://schemas.microsoft.com/office/drawing/2014/main" id="{FE4BBF81-5CCF-5204-4C72-DB67ED3ED074}"/>
              </a:ext>
            </a:extLst>
          </p:cNvPr>
          <p:cNvSpPr>
            <a:spLocks noGrp="1"/>
          </p:cNvSpPr>
          <p:nvPr/>
        </p:nvSpPr>
        <p:spPr>
          <a:xfrm>
            <a:off x="1752600" y="4457700"/>
            <a:ext cx="9239250" cy="0"/>
          </a:xfrm>
          <a:prstGeom prst="line">
            <a:avLst/>
          </a:prstGeom>
          <a:noFill/>
          <a:ln w="9525">
            <a:solidFill>
              <a:srgbClr val="D7DFE5"/>
            </a:solidFill>
            <a:prstDash val="solid"/>
          </a:ln>
        </p:spPr>
        <p:txBody>
          <a:bodyPr/>
          <a:lstStyle/>
          <a:p>
            <a:endParaRPr lang="en-US"/>
          </a:p>
        </p:txBody>
      </p:sp>
      <p:sp>
        <p:nvSpPr>
          <p:cNvPr id="29" name="Rectangle: Rounded Corners 28">
            <a:extLst>
              <a:ext uri="{FF2B5EF4-FFF2-40B4-BE49-F238E27FC236}">
                <a16:creationId xmlns:a16="http://schemas.microsoft.com/office/drawing/2014/main" id="{70AB79CE-84D9-9792-C3E1-2CC167CB4F49}"/>
              </a:ext>
            </a:extLst>
          </p:cNvPr>
          <p:cNvSpPr>
            <a:spLocks noGrp="1"/>
          </p:cNvSpPr>
          <p:nvPr/>
        </p:nvSpPr>
        <p:spPr>
          <a:xfrm>
            <a:off x="914400" y="4781550"/>
            <a:ext cx="552450" cy="552450"/>
          </a:xfrm>
          <a:prstGeom prst="roundRect">
            <a:avLst>
              <a:gd name="adj" fmla="val 50000"/>
            </a:avLst>
          </a:prstGeom>
          <a:solidFill>
            <a:srgbClr val="FF7A59"/>
          </a:solidFill>
          <a:ln w="0">
            <a:noFill/>
          </a:ln>
        </p:spPr>
        <p:txBody>
          <a:bodyPr wrap="square" lIns="0" tIns="0" rIns="0" bIns="0" anchor="ctr">
            <a:noAutofit/>
          </a:bodyPr>
          <a:lstStyle/>
          <a:p>
            <a:pPr algn="ct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03</a:t>
            </a:r>
          </a:p>
        </p:txBody>
      </p:sp>
      <p:sp>
        <p:nvSpPr>
          <p:cNvPr id="31" name="Rectangle 30">
            <a:extLst>
              <a:ext uri="{FF2B5EF4-FFF2-40B4-BE49-F238E27FC236}">
                <a16:creationId xmlns:a16="http://schemas.microsoft.com/office/drawing/2014/main" id="{01CEC897-9FD9-D0F9-DEC1-07641D2E6791}"/>
              </a:ext>
            </a:extLst>
          </p:cNvPr>
          <p:cNvSpPr>
            <a:spLocks noGrp="1"/>
          </p:cNvSpPr>
          <p:nvPr/>
        </p:nvSpPr>
        <p:spPr>
          <a:xfrm>
            <a:off x="1752600" y="4648200"/>
            <a:ext cx="9239250" cy="1143000"/>
          </a:xfrm>
          <a:prstGeom prst="rect">
            <a:avLst/>
          </a:prstGeom>
          <a:noFill/>
          <a:ln w="0">
            <a:noFill/>
          </a:ln>
        </p:spPr>
        <p:txBody>
          <a:bodyPr wrap="square" lIns="0" tIns="38100" rIns="0" bIns="38100" anchor="ctr">
            <a:noAutofit/>
          </a:bodyPr>
          <a:lstStyle/>
          <a:p>
            <a:pPr>
              <a:lnSpc>
                <a:spcPct val="103000"/>
              </a:lnSpc>
              <a:defRPr sz="1725" b="0">
                <a:solidFill>
                  <a:srgbClr val="132238"/>
                </a:solidFill>
                <a:latin typeface="Nimbus Sans"/>
                <a:ea typeface="Nimbus Sans"/>
                <a:cs typeface="Nimbus Sans"/>
              </a:defRPr>
            </a:pPr>
            <a:r>
              <a:rPr lang="en-US" sz="2000" dirty="0"/>
              <a:t>The values found by Finora will then be displayed on the dashboard.</a:t>
            </a:r>
          </a:p>
          <a:p>
            <a:pPr algn="l">
              <a:lnSpc>
                <a:spcPct val="103000"/>
              </a:lnSpc>
              <a:buNone/>
              <a:defRPr sz="1725" b="0">
                <a:solidFill>
                  <a:srgbClr val="132238"/>
                </a:solidFill>
                <a:latin typeface="Nimbus Sans"/>
                <a:ea typeface="Nimbus Sans"/>
                <a:cs typeface="Nimbus Sans"/>
              </a:defRPr>
            </a:pPr>
            <a:endParaRPr sz="1725" b="0" dirty="0">
              <a:solidFill>
                <a:srgbClr val="132238"/>
              </a:solidFill>
              <a:latin typeface="Nimbus Sans"/>
              <a:ea typeface="Nimbus Sans"/>
              <a:cs typeface="Nimbus Sans"/>
            </a:endParaRPr>
          </a:p>
        </p:txBody>
      </p:sp>
    </p:spTree>
    <p:extLst>
      <p:ext uri="{BB962C8B-B14F-4D97-AF65-F5344CB8AC3E}">
        <p14:creationId xmlns:p14="http://schemas.microsoft.com/office/powerpoint/2010/main" val="1769053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28923BA-3E5C-49F8-AF2B-0E6DDAAE6E23}"/>
              </a:ext>
            </a:extLst>
          </p:cNvPr>
          <p:cNvSpPr>
            <a:spLocks noGrp="1"/>
          </p:cNvSpPr>
          <p:nvPr/>
        </p:nvSpPr>
        <p:spPr>
          <a:xfrm>
            <a:off x="0" y="0"/>
            <a:ext cx="12192000" cy="1028700"/>
          </a:xfrm>
          <a:prstGeom prst="rect">
            <a:avLst/>
          </a:prstGeom>
          <a:solidFill>
            <a:srgbClr val="081A2D"/>
          </a:solidFill>
          <a:ln w="0">
            <a:noFill/>
          </a:ln>
        </p:spPr>
        <p:txBody>
          <a:bodyPr/>
          <a:lstStyle/>
          <a:p>
            <a:endParaRPr lang="en-US"/>
          </a:p>
        </p:txBody>
      </p:sp>
      <p:sp>
        <p:nvSpPr>
          <p:cNvPr id="3" name="Rectangle 2">
            <a:extLst>
              <a:ext uri="{FF2B5EF4-FFF2-40B4-BE49-F238E27FC236}">
                <a16:creationId xmlns:a16="http://schemas.microsoft.com/office/drawing/2014/main" id="{9208AC33-240C-4BB6-B2D6-131726C4459C}"/>
              </a:ext>
            </a:extLst>
          </p:cNvPr>
          <p:cNvSpPr>
            <a:spLocks noGrp="1"/>
          </p:cNvSpPr>
          <p:nvPr/>
        </p:nvSpPr>
        <p:spPr>
          <a:xfrm>
            <a:off x="1181100" y="209550"/>
            <a:ext cx="9906000" cy="552450"/>
          </a:xfrm>
          <a:prstGeom prst="rect">
            <a:avLst/>
          </a:prstGeom>
          <a:noFill/>
          <a:ln w="0">
            <a:noFill/>
          </a:ln>
        </p:spPr>
        <p:txBody>
          <a:bodyPr wrap="square" lIns="57150" tIns="47625" rIns="57150" bIns="47625" anchor="ctr">
            <a:noAutofit/>
          </a:bodyPr>
          <a:lstStyle/>
          <a:p>
            <a:pPr algn="l">
              <a:defRPr sz="2700" b="1">
                <a:solidFill>
                  <a:srgbClr val="FFFFFF"/>
                </a:solidFill>
                <a:latin typeface="Nimbus Sans"/>
                <a:ea typeface="Nimbus Sans"/>
                <a:cs typeface="Nimbus Sans"/>
              </a:defRPr>
            </a:pPr>
            <a:r>
              <a:rPr sz="2700" b="1">
                <a:solidFill>
                  <a:srgbClr val="FFFFFF"/>
                </a:solidFill>
                <a:latin typeface="Nimbus Sans"/>
                <a:ea typeface="Nimbus Sans"/>
                <a:cs typeface="Nimbus Sans"/>
              </a:rPr>
              <a:t>The Financial Dashboard</a:t>
            </a:r>
          </a:p>
        </p:txBody>
      </p:sp>
      <p:sp>
        <p:nvSpPr>
          <p:cNvPr id="4" name="Rectangle 3">
            <a:extLst>
              <a:ext uri="{FF2B5EF4-FFF2-40B4-BE49-F238E27FC236}">
                <a16:creationId xmlns:a16="http://schemas.microsoft.com/office/drawing/2014/main" id="{C8DE0316-5625-41AC-A8FD-E77B6CCF8E26}"/>
              </a:ext>
            </a:extLst>
          </p:cNvPr>
          <p:cNvSpPr>
            <a:spLocks noGrp="1"/>
          </p:cNvSpPr>
          <p:nvPr/>
        </p:nvSpPr>
        <p:spPr>
          <a:xfrm>
            <a:off x="609600" y="838200"/>
            <a:ext cx="781050" cy="47625"/>
          </a:xfrm>
          <a:prstGeom prst="rect">
            <a:avLst/>
          </a:prstGeom>
          <a:solidFill>
            <a:srgbClr val="FF7A59"/>
          </a:solidFill>
          <a:ln w="0">
            <a:noFill/>
          </a:ln>
        </p:spPr>
        <p:txBody>
          <a:bodyPr/>
          <a:lstStyle/>
          <a:p>
            <a:endParaRPr lang="en-US"/>
          </a:p>
        </p:txBody>
      </p:sp>
      <p:sp>
        <p:nvSpPr>
          <p:cNvPr id="5" name="Rectangle: Rounded Corners 4">
            <a:extLst>
              <a:ext uri="{FF2B5EF4-FFF2-40B4-BE49-F238E27FC236}">
                <a16:creationId xmlns:a16="http://schemas.microsoft.com/office/drawing/2014/main" id="{5E60A966-96DE-409D-80C8-4F2DB581D951}"/>
              </a:ext>
            </a:extLst>
          </p:cNvPr>
          <p:cNvSpPr>
            <a:spLocks noGrp="1"/>
          </p:cNvSpPr>
          <p:nvPr/>
        </p:nvSpPr>
        <p:spPr>
          <a:xfrm>
            <a:off x="609600" y="1409700"/>
            <a:ext cx="10972800" cy="4686300"/>
          </a:xfrm>
          <a:prstGeom prst="roundRect">
            <a:avLst>
              <a:gd name="adj" fmla="val 4065"/>
            </a:avLst>
          </a:prstGeom>
          <a:solidFill>
            <a:srgbClr val="FFFFFF"/>
          </a:solidFill>
          <a:ln w="9525">
            <a:solidFill>
              <a:srgbClr val="D7DF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6" name="Rectangle: Rounded Corners 5">
            <a:extLst>
              <a:ext uri="{FF2B5EF4-FFF2-40B4-BE49-F238E27FC236}">
                <a16:creationId xmlns:a16="http://schemas.microsoft.com/office/drawing/2014/main" id="{C5E4DB83-6A2D-46A6-A895-EA3FEF5C3FEA}"/>
              </a:ext>
            </a:extLst>
          </p:cNvPr>
          <p:cNvSpPr>
            <a:spLocks noGrp="1"/>
          </p:cNvSpPr>
          <p:nvPr/>
        </p:nvSpPr>
        <p:spPr>
          <a:xfrm>
            <a:off x="914400" y="1847850"/>
            <a:ext cx="552450" cy="552450"/>
          </a:xfrm>
          <a:prstGeom prst="roundRect">
            <a:avLst>
              <a:gd name="adj" fmla="val 50000"/>
            </a:avLst>
          </a:prstGeom>
          <a:solidFill>
            <a:srgbClr val="FF7A59"/>
          </a:solidFill>
          <a:ln w="0">
            <a:noFill/>
          </a:ln>
        </p:spPr>
        <p:txBody>
          <a:bodyPr wrap="square" lIns="0" tIns="0" rIns="0" bIns="0" anchor="ctr">
            <a:noAutofit/>
          </a:bodyPr>
          <a:lstStyle/>
          <a:p>
            <a:pPr algn="ct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01</a:t>
            </a:r>
          </a:p>
        </p:txBody>
      </p:sp>
      <p:sp>
        <p:nvSpPr>
          <p:cNvPr id="7" name="Rectangle 6">
            <a:extLst>
              <a:ext uri="{FF2B5EF4-FFF2-40B4-BE49-F238E27FC236}">
                <a16:creationId xmlns:a16="http://schemas.microsoft.com/office/drawing/2014/main" id="{DC022F68-9C91-455C-94C5-919FD805F4A6}"/>
              </a:ext>
            </a:extLst>
          </p:cNvPr>
          <p:cNvSpPr>
            <a:spLocks noGrp="1"/>
          </p:cNvSpPr>
          <p:nvPr/>
        </p:nvSpPr>
        <p:spPr>
          <a:xfrm>
            <a:off x="1752600" y="1714500"/>
            <a:ext cx="9239250" cy="1143000"/>
          </a:xfrm>
          <a:prstGeom prst="rect">
            <a:avLst/>
          </a:prstGeom>
          <a:noFill/>
          <a:ln w="0">
            <a:noFill/>
          </a:ln>
        </p:spPr>
        <p:txBody>
          <a:bodyPr wrap="square" lIns="0" tIns="38100" rIns="0" bIns="38100" anchor="ctr">
            <a:noAutofit/>
          </a:bodyPr>
          <a:lstStyle/>
          <a:p>
            <a:pPr algn="l">
              <a:lnSpc>
                <a:spcPct val="103000"/>
              </a:lnSpc>
              <a:buNone/>
              <a:defRPr sz="1575" b="0">
                <a:solidFill>
                  <a:srgbClr val="132238"/>
                </a:solidFill>
                <a:latin typeface="Nimbus Sans"/>
                <a:ea typeface="Nimbus Sans"/>
                <a:cs typeface="Nimbus Sans"/>
              </a:defRPr>
            </a:pPr>
            <a:r>
              <a:rPr sz="2000" b="0" dirty="0">
                <a:solidFill>
                  <a:srgbClr val="132238"/>
                </a:solidFill>
                <a:latin typeface="Nimbus Sans"/>
                <a:ea typeface="Nimbus Sans"/>
                <a:cs typeface="Nimbus Sans"/>
              </a:rPr>
              <a:t>Some transactions will be automatically repeated, such as a subscription.</a:t>
            </a:r>
          </a:p>
        </p:txBody>
      </p:sp>
      <p:sp>
        <p:nvSpPr>
          <p:cNvPr id="8" name="Straight Connector 7">
            <a:extLst>
              <a:ext uri="{FF2B5EF4-FFF2-40B4-BE49-F238E27FC236}">
                <a16:creationId xmlns:a16="http://schemas.microsoft.com/office/drawing/2014/main" id="{40AA19ED-29B3-41C3-BCCA-137AE6ACF2B0}"/>
              </a:ext>
            </a:extLst>
          </p:cNvPr>
          <p:cNvSpPr>
            <a:spLocks noGrp="1"/>
          </p:cNvSpPr>
          <p:nvPr/>
        </p:nvSpPr>
        <p:spPr>
          <a:xfrm>
            <a:off x="1752600" y="2990850"/>
            <a:ext cx="9239250" cy="0"/>
          </a:xfrm>
          <a:prstGeom prst="line">
            <a:avLst/>
          </a:prstGeom>
          <a:noFill/>
          <a:ln w="9525">
            <a:solidFill>
              <a:srgbClr val="D7DFE5"/>
            </a:solidFill>
            <a:prstDash val="solid"/>
          </a:ln>
        </p:spPr>
        <p:txBody>
          <a:bodyPr/>
          <a:lstStyle/>
          <a:p>
            <a:endParaRPr lang="en-US"/>
          </a:p>
        </p:txBody>
      </p:sp>
      <p:sp>
        <p:nvSpPr>
          <p:cNvPr id="9" name="Rectangle: Rounded Corners 8">
            <a:extLst>
              <a:ext uri="{FF2B5EF4-FFF2-40B4-BE49-F238E27FC236}">
                <a16:creationId xmlns:a16="http://schemas.microsoft.com/office/drawing/2014/main" id="{5F30DF25-8C11-437F-B4BA-1FA162988F8E}"/>
              </a:ext>
            </a:extLst>
          </p:cNvPr>
          <p:cNvSpPr>
            <a:spLocks noGrp="1"/>
          </p:cNvSpPr>
          <p:nvPr/>
        </p:nvSpPr>
        <p:spPr>
          <a:xfrm>
            <a:off x="914400" y="3314700"/>
            <a:ext cx="552450" cy="552450"/>
          </a:xfrm>
          <a:prstGeom prst="roundRect">
            <a:avLst>
              <a:gd name="adj" fmla="val 50000"/>
            </a:avLst>
          </a:prstGeom>
          <a:solidFill>
            <a:srgbClr val="0F766E"/>
          </a:solidFill>
          <a:ln w="0">
            <a:noFill/>
          </a:ln>
        </p:spPr>
        <p:txBody>
          <a:bodyPr wrap="square" lIns="0" tIns="0" rIns="0" bIns="0" anchor="ctr">
            <a:noAutofit/>
          </a:bodyPr>
          <a:lstStyle/>
          <a:p>
            <a:pPr algn="ct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02</a:t>
            </a:r>
          </a:p>
        </p:txBody>
      </p:sp>
      <p:sp>
        <p:nvSpPr>
          <p:cNvPr id="10" name="Rectangle 9">
            <a:extLst>
              <a:ext uri="{FF2B5EF4-FFF2-40B4-BE49-F238E27FC236}">
                <a16:creationId xmlns:a16="http://schemas.microsoft.com/office/drawing/2014/main" id="{1E3ED2BA-82BB-4382-860A-BE435ABAADC3}"/>
              </a:ext>
            </a:extLst>
          </p:cNvPr>
          <p:cNvSpPr>
            <a:spLocks noGrp="1"/>
          </p:cNvSpPr>
          <p:nvPr/>
        </p:nvSpPr>
        <p:spPr>
          <a:xfrm>
            <a:off x="1752600" y="3181350"/>
            <a:ext cx="9239250" cy="1143000"/>
          </a:xfrm>
          <a:prstGeom prst="rect">
            <a:avLst/>
          </a:prstGeom>
          <a:noFill/>
          <a:ln w="0">
            <a:noFill/>
          </a:ln>
        </p:spPr>
        <p:txBody>
          <a:bodyPr wrap="square" lIns="0" tIns="38100" rIns="0" bIns="38100" anchor="ctr">
            <a:noAutofit/>
          </a:bodyPr>
          <a:lstStyle/>
          <a:p>
            <a:pPr algn="l">
              <a:lnSpc>
                <a:spcPct val="103000"/>
              </a:lnSpc>
              <a:buNone/>
              <a:defRPr sz="1575" b="0">
                <a:solidFill>
                  <a:srgbClr val="132238"/>
                </a:solidFill>
                <a:latin typeface="Nimbus Sans"/>
                <a:ea typeface="Nimbus Sans"/>
                <a:cs typeface="Nimbus Sans"/>
              </a:defRPr>
            </a:pPr>
            <a:r>
              <a:rPr sz="2000" b="0" dirty="0">
                <a:solidFill>
                  <a:srgbClr val="132238"/>
                </a:solidFill>
                <a:latin typeface="Nimbus Sans"/>
                <a:ea typeface="Nimbus Sans"/>
                <a:cs typeface="Nimbus Sans"/>
              </a:rPr>
              <a:t>Finora will take this and the current account balance to estimate the user’s account balance at the end of the month.</a:t>
            </a:r>
          </a:p>
        </p:txBody>
      </p:sp>
      <p:sp>
        <p:nvSpPr>
          <p:cNvPr id="11" name="Straight Connector 10">
            <a:extLst>
              <a:ext uri="{FF2B5EF4-FFF2-40B4-BE49-F238E27FC236}">
                <a16:creationId xmlns:a16="http://schemas.microsoft.com/office/drawing/2014/main" id="{DD3C3AC5-36B5-43CD-83D0-DE38C57309A2}"/>
              </a:ext>
            </a:extLst>
          </p:cNvPr>
          <p:cNvSpPr>
            <a:spLocks noGrp="1"/>
          </p:cNvSpPr>
          <p:nvPr/>
        </p:nvSpPr>
        <p:spPr>
          <a:xfrm>
            <a:off x="1752600" y="4457700"/>
            <a:ext cx="9239250" cy="0"/>
          </a:xfrm>
          <a:prstGeom prst="line">
            <a:avLst/>
          </a:prstGeom>
          <a:noFill/>
          <a:ln w="9525">
            <a:solidFill>
              <a:srgbClr val="D7DFE5"/>
            </a:solidFill>
            <a:prstDash val="solid"/>
          </a:ln>
        </p:spPr>
        <p:txBody>
          <a:bodyPr/>
          <a:lstStyle/>
          <a:p>
            <a:endParaRPr lang="en-US"/>
          </a:p>
        </p:txBody>
      </p:sp>
      <p:sp>
        <p:nvSpPr>
          <p:cNvPr id="12" name="Rectangle: Rounded Corners 11">
            <a:extLst>
              <a:ext uri="{FF2B5EF4-FFF2-40B4-BE49-F238E27FC236}">
                <a16:creationId xmlns:a16="http://schemas.microsoft.com/office/drawing/2014/main" id="{130BB182-E690-4515-8761-FC7D3E6707B3}"/>
              </a:ext>
            </a:extLst>
          </p:cNvPr>
          <p:cNvSpPr>
            <a:spLocks noGrp="1"/>
          </p:cNvSpPr>
          <p:nvPr/>
        </p:nvSpPr>
        <p:spPr>
          <a:xfrm>
            <a:off x="914400" y="4781550"/>
            <a:ext cx="552450" cy="552450"/>
          </a:xfrm>
          <a:prstGeom prst="roundRect">
            <a:avLst>
              <a:gd name="adj" fmla="val 50000"/>
            </a:avLst>
          </a:prstGeom>
          <a:solidFill>
            <a:srgbClr val="FF7A59"/>
          </a:solidFill>
          <a:ln w="0">
            <a:noFill/>
          </a:ln>
        </p:spPr>
        <p:txBody>
          <a:bodyPr wrap="square" lIns="0" tIns="0" rIns="0" bIns="0" anchor="ctr">
            <a:noAutofit/>
          </a:bodyPr>
          <a:lstStyle/>
          <a:p>
            <a:pPr algn="ct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03</a:t>
            </a:r>
          </a:p>
        </p:txBody>
      </p:sp>
      <p:sp>
        <p:nvSpPr>
          <p:cNvPr id="13" name="Rectangle 12">
            <a:extLst>
              <a:ext uri="{FF2B5EF4-FFF2-40B4-BE49-F238E27FC236}">
                <a16:creationId xmlns:a16="http://schemas.microsoft.com/office/drawing/2014/main" id="{D305B47C-00D8-4181-9065-0F13285A6928}"/>
              </a:ext>
            </a:extLst>
          </p:cNvPr>
          <p:cNvSpPr>
            <a:spLocks noGrp="1"/>
          </p:cNvSpPr>
          <p:nvPr/>
        </p:nvSpPr>
        <p:spPr>
          <a:xfrm>
            <a:off x="1752600" y="4648200"/>
            <a:ext cx="9239250" cy="1143000"/>
          </a:xfrm>
          <a:prstGeom prst="rect">
            <a:avLst/>
          </a:prstGeom>
          <a:noFill/>
          <a:ln w="0">
            <a:noFill/>
          </a:ln>
        </p:spPr>
        <p:txBody>
          <a:bodyPr wrap="square" lIns="0" tIns="38100" rIns="0" bIns="38100" anchor="ctr">
            <a:noAutofit/>
          </a:bodyPr>
          <a:lstStyle/>
          <a:p>
            <a:pPr algn="l">
              <a:lnSpc>
                <a:spcPct val="103000"/>
              </a:lnSpc>
              <a:buNone/>
              <a:defRPr sz="1575" b="0">
                <a:solidFill>
                  <a:srgbClr val="132238"/>
                </a:solidFill>
                <a:latin typeface="Nimbus Sans"/>
                <a:ea typeface="Nimbus Sans"/>
                <a:cs typeface="Nimbus Sans"/>
              </a:defRPr>
            </a:pPr>
            <a:r>
              <a:rPr lang="en-US" sz="2000" b="0" dirty="0">
                <a:solidFill>
                  <a:srgbClr val="132238"/>
                </a:solidFill>
                <a:latin typeface="Nimbus Sans"/>
                <a:ea typeface="Nimbus Sans"/>
                <a:cs typeface="Nimbus Sans"/>
              </a:rPr>
              <a:t>Finora will do the same thing with the budget and display how far over or under budget the user is expected to be.</a:t>
            </a:r>
          </a:p>
        </p:txBody>
      </p:sp>
      <p:sp>
        <p:nvSpPr>
          <p:cNvPr id="15" name="Rectangle 14">
            <a:extLst>
              <a:ext uri="{FF2B5EF4-FFF2-40B4-BE49-F238E27FC236}">
                <a16:creationId xmlns:a16="http://schemas.microsoft.com/office/drawing/2014/main" id="{F818C3F2-7F24-46A5-991E-22EB526707F1}"/>
              </a:ext>
            </a:extLst>
          </p:cNvPr>
          <p:cNvSpPr>
            <a:spLocks noGrp="1"/>
          </p:cNvSpPr>
          <p:nvPr/>
        </p:nvSpPr>
        <p:spPr>
          <a:xfrm>
            <a:off x="11239500" y="6496050"/>
            <a:ext cx="342900" cy="228600"/>
          </a:xfrm>
          <a:prstGeom prst="rect">
            <a:avLst/>
          </a:prstGeom>
          <a:noFill/>
          <a:ln w="0">
            <a:noFill/>
          </a:ln>
        </p:spPr>
        <p:txBody>
          <a:bodyPr wrap="square" lIns="0" tIns="0" rIns="0" bIns="0" anchor="ctr">
            <a:noAutofit/>
          </a:bodyPr>
          <a:lstStyle/>
          <a:p>
            <a:pPr algn="r">
              <a:defRPr sz="975" b="1">
                <a:solidFill>
                  <a:srgbClr val="5B6B7E"/>
                </a:solidFill>
                <a:latin typeface="Nimbus Sans"/>
                <a:ea typeface="Nimbus Sans"/>
                <a:cs typeface="Nimbus Sans"/>
              </a:defRPr>
            </a:pPr>
            <a:r>
              <a:rPr sz="975" b="1">
                <a:solidFill>
                  <a:srgbClr val="5B6B7E"/>
                </a:solidFill>
                <a:latin typeface="Nimbus Sans"/>
                <a:ea typeface="Nimbus Sans"/>
                <a:cs typeface="Nimbus Sans"/>
              </a:rPr>
              <a:t>06</a:t>
            </a:r>
          </a:p>
        </p:txBody>
      </p:sp>
    </p:spTree>
    <p:extLst>
      <p:ext uri="{BB962C8B-B14F-4D97-AF65-F5344CB8AC3E}">
        <p14:creationId xmlns:p14="http://schemas.microsoft.com/office/powerpoint/2010/main" val="1984593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3B70B6A-ACAC-4DE1-8FA2-A14A44E284E6}"/>
              </a:ext>
            </a:extLst>
          </p:cNvPr>
          <p:cNvSpPr>
            <a:spLocks noGrp="1"/>
          </p:cNvSpPr>
          <p:nvPr/>
        </p:nvSpPr>
        <p:spPr>
          <a:xfrm>
            <a:off x="0" y="0"/>
            <a:ext cx="12192000" cy="1028700"/>
          </a:xfrm>
          <a:prstGeom prst="rect">
            <a:avLst/>
          </a:prstGeom>
          <a:solidFill>
            <a:srgbClr val="081A2D"/>
          </a:solidFill>
          <a:ln w="0">
            <a:noFill/>
          </a:ln>
        </p:spPr>
        <p:txBody>
          <a:bodyPr/>
          <a:lstStyle/>
          <a:p>
            <a:endParaRPr lang="en-US"/>
          </a:p>
        </p:txBody>
      </p:sp>
      <p:sp>
        <p:nvSpPr>
          <p:cNvPr id="3" name="Rectangle 2">
            <a:extLst>
              <a:ext uri="{FF2B5EF4-FFF2-40B4-BE49-F238E27FC236}">
                <a16:creationId xmlns:a16="http://schemas.microsoft.com/office/drawing/2014/main" id="{15F32D68-B088-4EA9-AE4C-C7DE0956AEA2}"/>
              </a:ext>
            </a:extLst>
          </p:cNvPr>
          <p:cNvSpPr>
            <a:spLocks noGrp="1"/>
          </p:cNvSpPr>
          <p:nvPr/>
        </p:nvSpPr>
        <p:spPr>
          <a:xfrm>
            <a:off x="1181100" y="209550"/>
            <a:ext cx="9906000" cy="552450"/>
          </a:xfrm>
          <a:prstGeom prst="rect">
            <a:avLst/>
          </a:prstGeom>
          <a:noFill/>
          <a:ln w="0">
            <a:noFill/>
          </a:ln>
        </p:spPr>
        <p:txBody>
          <a:bodyPr wrap="square" lIns="57150" tIns="47625" rIns="57150" bIns="47625" anchor="ctr">
            <a:noAutofit/>
          </a:bodyPr>
          <a:lstStyle/>
          <a:p>
            <a:pPr algn="l">
              <a:defRPr sz="2700" b="1">
                <a:solidFill>
                  <a:srgbClr val="FFFFFF"/>
                </a:solidFill>
                <a:latin typeface="Nimbus Sans"/>
                <a:ea typeface="Nimbus Sans"/>
                <a:cs typeface="Nimbus Sans"/>
              </a:defRPr>
            </a:pPr>
            <a:r>
              <a:rPr sz="2700" b="1">
                <a:solidFill>
                  <a:srgbClr val="FFFFFF"/>
                </a:solidFill>
                <a:latin typeface="Nimbus Sans"/>
                <a:ea typeface="Nimbus Sans"/>
                <a:cs typeface="Nimbus Sans"/>
              </a:rPr>
              <a:t>The Financial Dashboard</a:t>
            </a:r>
          </a:p>
        </p:txBody>
      </p:sp>
      <p:sp>
        <p:nvSpPr>
          <p:cNvPr id="4" name="Rectangle 3">
            <a:extLst>
              <a:ext uri="{FF2B5EF4-FFF2-40B4-BE49-F238E27FC236}">
                <a16:creationId xmlns:a16="http://schemas.microsoft.com/office/drawing/2014/main" id="{4F49C5A1-8235-483F-A500-8D92B70DD23C}"/>
              </a:ext>
            </a:extLst>
          </p:cNvPr>
          <p:cNvSpPr>
            <a:spLocks noGrp="1"/>
          </p:cNvSpPr>
          <p:nvPr/>
        </p:nvSpPr>
        <p:spPr>
          <a:xfrm>
            <a:off x="609600" y="838200"/>
            <a:ext cx="781050" cy="47625"/>
          </a:xfrm>
          <a:prstGeom prst="rect">
            <a:avLst/>
          </a:prstGeom>
          <a:solidFill>
            <a:srgbClr val="FF7A59"/>
          </a:solidFill>
          <a:ln w="0">
            <a:noFill/>
          </a:ln>
        </p:spPr>
        <p:txBody>
          <a:bodyPr/>
          <a:lstStyle/>
          <a:p>
            <a:endParaRPr lang="en-US"/>
          </a:p>
        </p:txBody>
      </p:sp>
      <p:sp>
        <p:nvSpPr>
          <p:cNvPr id="5" name="Rectangle: Rounded Corners 4">
            <a:extLst>
              <a:ext uri="{FF2B5EF4-FFF2-40B4-BE49-F238E27FC236}">
                <a16:creationId xmlns:a16="http://schemas.microsoft.com/office/drawing/2014/main" id="{490F0F54-9AE9-4A9C-A31A-0592E53999A1}"/>
              </a:ext>
            </a:extLst>
          </p:cNvPr>
          <p:cNvSpPr>
            <a:spLocks noGrp="1"/>
          </p:cNvSpPr>
          <p:nvPr/>
        </p:nvSpPr>
        <p:spPr>
          <a:xfrm>
            <a:off x="609600" y="1409700"/>
            <a:ext cx="10972800" cy="4686300"/>
          </a:xfrm>
          <a:prstGeom prst="roundRect">
            <a:avLst>
              <a:gd name="adj" fmla="val 4065"/>
            </a:avLst>
          </a:prstGeom>
          <a:solidFill>
            <a:srgbClr val="FFFFFF"/>
          </a:solidFill>
          <a:ln w="9525">
            <a:solidFill>
              <a:srgbClr val="D7DF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6" name="Rectangle: Rounded Corners 5">
            <a:extLst>
              <a:ext uri="{FF2B5EF4-FFF2-40B4-BE49-F238E27FC236}">
                <a16:creationId xmlns:a16="http://schemas.microsoft.com/office/drawing/2014/main" id="{9E75BCD4-C82A-4008-93C6-6EAC5E1D2D5D}"/>
              </a:ext>
            </a:extLst>
          </p:cNvPr>
          <p:cNvSpPr>
            <a:spLocks noGrp="1"/>
          </p:cNvSpPr>
          <p:nvPr/>
        </p:nvSpPr>
        <p:spPr>
          <a:xfrm>
            <a:off x="914400" y="1847850"/>
            <a:ext cx="552450" cy="552450"/>
          </a:xfrm>
          <a:prstGeom prst="roundRect">
            <a:avLst>
              <a:gd name="adj" fmla="val 50000"/>
            </a:avLst>
          </a:prstGeom>
          <a:solidFill>
            <a:srgbClr val="FF7A59"/>
          </a:solidFill>
          <a:ln w="0">
            <a:noFill/>
          </a:ln>
        </p:spPr>
        <p:txBody>
          <a:bodyPr wrap="square" lIns="0" tIns="0" rIns="0" bIns="0" anchor="ctr">
            <a:noAutofit/>
          </a:bodyPr>
          <a:lstStyle/>
          <a:p>
            <a:pPr algn="ct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01</a:t>
            </a:r>
          </a:p>
        </p:txBody>
      </p:sp>
      <p:sp>
        <p:nvSpPr>
          <p:cNvPr id="7" name="Rectangle 6">
            <a:extLst>
              <a:ext uri="{FF2B5EF4-FFF2-40B4-BE49-F238E27FC236}">
                <a16:creationId xmlns:a16="http://schemas.microsoft.com/office/drawing/2014/main" id="{23E42B40-8F26-49A4-9965-7AF9913E85CA}"/>
              </a:ext>
            </a:extLst>
          </p:cNvPr>
          <p:cNvSpPr>
            <a:spLocks noGrp="1"/>
          </p:cNvSpPr>
          <p:nvPr/>
        </p:nvSpPr>
        <p:spPr>
          <a:xfrm>
            <a:off x="1752600" y="1714500"/>
            <a:ext cx="9239250" cy="1143000"/>
          </a:xfrm>
          <a:prstGeom prst="rect">
            <a:avLst/>
          </a:prstGeom>
          <a:noFill/>
          <a:ln w="0">
            <a:noFill/>
          </a:ln>
        </p:spPr>
        <p:txBody>
          <a:bodyPr wrap="square" lIns="0" tIns="38100" rIns="0" bIns="38100" anchor="ctr">
            <a:noAutofit/>
          </a:bodyPr>
          <a:lstStyle/>
          <a:p>
            <a:pPr algn="l">
              <a:lnSpc>
                <a:spcPct val="103000"/>
              </a:lnSpc>
              <a:buNone/>
              <a:defRPr sz="1575" b="0">
                <a:solidFill>
                  <a:srgbClr val="132238"/>
                </a:solidFill>
                <a:latin typeface="Nimbus Sans"/>
                <a:ea typeface="Nimbus Sans"/>
                <a:cs typeface="Nimbus Sans"/>
              </a:defRPr>
            </a:pPr>
            <a:r>
              <a:rPr sz="2000" b="0" dirty="0">
                <a:solidFill>
                  <a:srgbClr val="132238"/>
                </a:solidFill>
                <a:latin typeface="Nimbus Sans"/>
                <a:ea typeface="Nimbus Sans"/>
                <a:cs typeface="Nimbus Sans"/>
              </a:rPr>
              <a:t>Finora will keep track of user purchases and provide predefined categories for them</a:t>
            </a:r>
            <a:r>
              <a:rPr sz="1575" b="0" dirty="0">
                <a:solidFill>
                  <a:srgbClr val="132238"/>
                </a:solidFill>
                <a:latin typeface="Nimbus Sans"/>
                <a:ea typeface="Nimbus Sans"/>
                <a:cs typeface="Nimbus Sans"/>
              </a:rPr>
              <a:t>.</a:t>
            </a:r>
          </a:p>
        </p:txBody>
      </p:sp>
      <p:sp>
        <p:nvSpPr>
          <p:cNvPr id="8" name="Straight Connector 7">
            <a:extLst>
              <a:ext uri="{FF2B5EF4-FFF2-40B4-BE49-F238E27FC236}">
                <a16:creationId xmlns:a16="http://schemas.microsoft.com/office/drawing/2014/main" id="{522F4A13-5FBB-4A66-B7E0-7A6EDD8FFE55}"/>
              </a:ext>
            </a:extLst>
          </p:cNvPr>
          <p:cNvSpPr>
            <a:spLocks noGrp="1"/>
          </p:cNvSpPr>
          <p:nvPr/>
        </p:nvSpPr>
        <p:spPr>
          <a:xfrm>
            <a:off x="1752600" y="2990850"/>
            <a:ext cx="9239250" cy="0"/>
          </a:xfrm>
          <a:prstGeom prst="line">
            <a:avLst/>
          </a:prstGeom>
          <a:noFill/>
          <a:ln w="9525">
            <a:solidFill>
              <a:srgbClr val="D7DFE5"/>
            </a:solidFill>
            <a:prstDash val="solid"/>
          </a:ln>
        </p:spPr>
        <p:txBody>
          <a:bodyPr/>
          <a:lstStyle/>
          <a:p>
            <a:endParaRPr lang="en-US"/>
          </a:p>
        </p:txBody>
      </p:sp>
      <p:sp>
        <p:nvSpPr>
          <p:cNvPr id="9" name="Rectangle: Rounded Corners 8">
            <a:extLst>
              <a:ext uri="{FF2B5EF4-FFF2-40B4-BE49-F238E27FC236}">
                <a16:creationId xmlns:a16="http://schemas.microsoft.com/office/drawing/2014/main" id="{65D82A22-3BC9-4A8E-8CFF-4155DCAF38A7}"/>
              </a:ext>
            </a:extLst>
          </p:cNvPr>
          <p:cNvSpPr>
            <a:spLocks noGrp="1"/>
          </p:cNvSpPr>
          <p:nvPr/>
        </p:nvSpPr>
        <p:spPr>
          <a:xfrm>
            <a:off x="914400" y="3314700"/>
            <a:ext cx="552450" cy="552450"/>
          </a:xfrm>
          <a:prstGeom prst="roundRect">
            <a:avLst>
              <a:gd name="adj" fmla="val 50000"/>
            </a:avLst>
          </a:prstGeom>
          <a:solidFill>
            <a:srgbClr val="0F766E"/>
          </a:solidFill>
          <a:ln w="0">
            <a:noFill/>
          </a:ln>
        </p:spPr>
        <p:txBody>
          <a:bodyPr wrap="square" lIns="0" tIns="0" rIns="0" bIns="0" anchor="ctr">
            <a:noAutofit/>
          </a:bodyPr>
          <a:lstStyle/>
          <a:p>
            <a:pPr algn="ct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02</a:t>
            </a:r>
          </a:p>
        </p:txBody>
      </p:sp>
      <p:sp>
        <p:nvSpPr>
          <p:cNvPr id="10" name="Rectangle 9">
            <a:extLst>
              <a:ext uri="{FF2B5EF4-FFF2-40B4-BE49-F238E27FC236}">
                <a16:creationId xmlns:a16="http://schemas.microsoft.com/office/drawing/2014/main" id="{054F665B-24A0-46C4-8005-12ACCB9BECBE}"/>
              </a:ext>
            </a:extLst>
          </p:cNvPr>
          <p:cNvSpPr>
            <a:spLocks noGrp="1"/>
          </p:cNvSpPr>
          <p:nvPr/>
        </p:nvSpPr>
        <p:spPr>
          <a:xfrm>
            <a:off x="1752600" y="3181350"/>
            <a:ext cx="9239250" cy="1143000"/>
          </a:xfrm>
          <a:prstGeom prst="rect">
            <a:avLst/>
          </a:prstGeom>
          <a:noFill/>
          <a:ln w="0">
            <a:noFill/>
          </a:ln>
        </p:spPr>
        <p:txBody>
          <a:bodyPr wrap="square" lIns="0" tIns="38100" rIns="0" bIns="38100" anchor="ctr">
            <a:noAutofit/>
          </a:bodyPr>
          <a:lstStyle/>
          <a:p>
            <a:pPr algn="l">
              <a:lnSpc>
                <a:spcPct val="103000"/>
              </a:lnSpc>
              <a:buNone/>
              <a:defRPr sz="1575" b="0">
                <a:solidFill>
                  <a:srgbClr val="132238"/>
                </a:solidFill>
                <a:latin typeface="Nimbus Sans"/>
                <a:ea typeface="Nimbus Sans"/>
                <a:cs typeface="Nimbus Sans"/>
              </a:defRPr>
            </a:pPr>
            <a:r>
              <a:rPr sz="2000" b="0" dirty="0">
                <a:solidFill>
                  <a:srgbClr val="132238"/>
                </a:solidFill>
                <a:latin typeface="Nimbus Sans"/>
                <a:ea typeface="Nimbus Sans"/>
                <a:cs typeface="Nimbus Sans"/>
              </a:rPr>
              <a:t>Finora will generate a pie chart of the user’s spending by category in a month.</a:t>
            </a:r>
          </a:p>
        </p:txBody>
      </p:sp>
      <p:sp>
        <p:nvSpPr>
          <p:cNvPr id="11" name="Straight Connector 10">
            <a:extLst>
              <a:ext uri="{FF2B5EF4-FFF2-40B4-BE49-F238E27FC236}">
                <a16:creationId xmlns:a16="http://schemas.microsoft.com/office/drawing/2014/main" id="{68852C74-CFBD-4372-A461-0F49E1F8AB70}"/>
              </a:ext>
            </a:extLst>
          </p:cNvPr>
          <p:cNvSpPr>
            <a:spLocks noGrp="1"/>
          </p:cNvSpPr>
          <p:nvPr/>
        </p:nvSpPr>
        <p:spPr>
          <a:xfrm>
            <a:off x="1752600" y="4457700"/>
            <a:ext cx="9239250" cy="0"/>
          </a:xfrm>
          <a:prstGeom prst="line">
            <a:avLst/>
          </a:prstGeom>
          <a:noFill/>
          <a:ln w="9525">
            <a:solidFill>
              <a:srgbClr val="D7DFE5"/>
            </a:solidFill>
            <a:prstDash val="solid"/>
          </a:ln>
        </p:spPr>
        <p:txBody>
          <a:bodyPr/>
          <a:lstStyle/>
          <a:p>
            <a:endParaRPr lang="en-US"/>
          </a:p>
        </p:txBody>
      </p:sp>
      <p:sp>
        <p:nvSpPr>
          <p:cNvPr id="12" name="Rectangle: Rounded Corners 11">
            <a:extLst>
              <a:ext uri="{FF2B5EF4-FFF2-40B4-BE49-F238E27FC236}">
                <a16:creationId xmlns:a16="http://schemas.microsoft.com/office/drawing/2014/main" id="{C2335444-651D-428E-857E-26152699970E}"/>
              </a:ext>
            </a:extLst>
          </p:cNvPr>
          <p:cNvSpPr>
            <a:spLocks noGrp="1"/>
          </p:cNvSpPr>
          <p:nvPr/>
        </p:nvSpPr>
        <p:spPr>
          <a:xfrm>
            <a:off x="914400" y="4781550"/>
            <a:ext cx="552450" cy="552450"/>
          </a:xfrm>
          <a:prstGeom prst="roundRect">
            <a:avLst>
              <a:gd name="adj" fmla="val 50000"/>
            </a:avLst>
          </a:prstGeom>
          <a:solidFill>
            <a:srgbClr val="FF7A59"/>
          </a:solidFill>
          <a:ln w="0">
            <a:noFill/>
          </a:ln>
        </p:spPr>
        <p:txBody>
          <a:bodyPr wrap="square" lIns="0" tIns="0" rIns="0" bIns="0" anchor="ctr">
            <a:noAutofit/>
          </a:bodyPr>
          <a:lstStyle/>
          <a:p>
            <a:pPr algn="ct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03</a:t>
            </a:r>
          </a:p>
        </p:txBody>
      </p:sp>
      <p:sp>
        <p:nvSpPr>
          <p:cNvPr id="13" name="Rectangle 12">
            <a:extLst>
              <a:ext uri="{FF2B5EF4-FFF2-40B4-BE49-F238E27FC236}">
                <a16:creationId xmlns:a16="http://schemas.microsoft.com/office/drawing/2014/main" id="{2102B80E-3F3A-4AEA-92AC-6CA2A8EB3FF3}"/>
              </a:ext>
            </a:extLst>
          </p:cNvPr>
          <p:cNvSpPr>
            <a:spLocks noGrp="1"/>
          </p:cNvSpPr>
          <p:nvPr/>
        </p:nvSpPr>
        <p:spPr>
          <a:xfrm>
            <a:off x="1752600" y="4648200"/>
            <a:ext cx="9239250" cy="1143000"/>
          </a:xfrm>
          <a:prstGeom prst="rect">
            <a:avLst/>
          </a:prstGeom>
          <a:noFill/>
          <a:ln w="0">
            <a:noFill/>
          </a:ln>
        </p:spPr>
        <p:txBody>
          <a:bodyPr wrap="square" lIns="0" tIns="38100" rIns="0" bIns="38100" anchor="ctr">
            <a:noAutofit/>
          </a:bodyPr>
          <a:lstStyle/>
          <a:p>
            <a:pPr algn="l">
              <a:lnSpc>
                <a:spcPct val="103000"/>
              </a:lnSpc>
              <a:buNone/>
              <a:defRPr sz="1575" b="0">
                <a:solidFill>
                  <a:srgbClr val="132238"/>
                </a:solidFill>
                <a:latin typeface="Nimbus Sans"/>
                <a:ea typeface="Nimbus Sans"/>
                <a:cs typeface="Nimbus Sans"/>
              </a:defRPr>
            </a:pPr>
            <a:r>
              <a:rPr sz="2000" b="0" dirty="0">
                <a:solidFill>
                  <a:srgbClr val="132238"/>
                </a:solidFill>
                <a:latin typeface="Nimbus Sans"/>
                <a:ea typeface="Nimbus Sans"/>
                <a:cs typeface="Nimbus Sans"/>
              </a:rPr>
              <a:t>This will help the user to easily notice if they are spending too much in one area.</a:t>
            </a:r>
          </a:p>
        </p:txBody>
      </p:sp>
      <p:sp>
        <p:nvSpPr>
          <p:cNvPr id="15" name="Rectangle 14">
            <a:extLst>
              <a:ext uri="{FF2B5EF4-FFF2-40B4-BE49-F238E27FC236}">
                <a16:creationId xmlns:a16="http://schemas.microsoft.com/office/drawing/2014/main" id="{ABD42213-8DF7-4DD1-93D2-0B57B81D692B}"/>
              </a:ext>
            </a:extLst>
          </p:cNvPr>
          <p:cNvSpPr>
            <a:spLocks noGrp="1"/>
          </p:cNvSpPr>
          <p:nvPr/>
        </p:nvSpPr>
        <p:spPr>
          <a:xfrm>
            <a:off x="11239500" y="6496050"/>
            <a:ext cx="342900" cy="228600"/>
          </a:xfrm>
          <a:prstGeom prst="rect">
            <a:avLst/>
          </a:prstGeom>
          <a:noFill/>
          <a:ln w="0">
            <a:noFill/>
          </a:ln>
        </p:spPr>
        <p:txBody>
          <a:bodyPr wrap="square" lIns="0" tIns="0" rIns="0" bIns="0" anchor="ctr">
            <a:noAutofit/>
          </a:bodyPr>
          <a:lstStyle/>
          <a:p>
            <a:pPr algn="r">
              <a:defRPr sz="975" b="1">
                <a:solidFill>
                  <a:srgbClr val="5B6B7E"/>
                </a:solidFill>
                <a:latin typeface="Nimbus Sans"/>
                <a:ea typeface="Nimbus Sans"/>
                <a:cs typeface="Nimbus Sans"/>
              </a:defRPr>
            </a:pPr>
            <a:r>
              <a:rPr sz="975" b="1">
                <a:solidFill>
                  <a:srgbClr val="5B6B7E"/>
                </a:solidFill>
                <a:latin typeface="Nimbus Sans"/>
                <a:ea typeface="Nimbus Sans"/>
                <a:cs typeface="Nimbus Sans"/>
              </a:rPr>
              <a:t>09</a:t>
            </a:r>
          </a:p>
        </p:txBody>
      </p:sp>
    </p:spTree>
    <p:extLst>
      <p:ext uri="{BB962C8B-B14F-4D97-AF65-F5344CB8AC3E}">
        <p14:creationId xmlns:p14="http://schemas.microsoft.com/office/powerpoint/2010/main" val="1045510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ED24646-47AE-4779-9418-78CF9C4663DA}"/>
              </a:ext>
            </a:extLst>
          </p:cNvPr>
          <p:cNvSpPr>
            <a:spLocks noGrp="1"/>
          </p:cNvSpPr>
          <p:nvPr/>
        </p:nvSpPr>
        <p:spPr>
          <a:xfrm>
            <a:off x="0" y="0"/>
            <a:ext cx="12192000" cy="1028700"/>
          </a:xfrm>
          <a:prstGeom prst="rect">
            <a:avLst/>
          </a:prstGeom>
          <a:solidFill>
            <a:srgbClr val="081A2D"/>
          </a:solidFill>
          <a:ln w="0">
            <a:noFill/>
          </a:ln>
        </p:spPr>
        <p:txBody>
          <a:bodyPr/>
          <a:lstStyle/>
          <a:p>
            <a:endParaRPr lang="en-US"/>
          </a:p>
        </p:txBody>
      </p:sp>
      <p:sp>
        <p:nvSpPr>
          <p:cNvPr id="3" name="Rectangle 2">
            <a:extLst>
              <a:ext uri="{FF2B5EF4-FFF2-40B4-BE49-F238E27FC236}">
                <a16:creationId xmlns:a16="http://schemas.microsoft.com/office/drawing/2014/main" id="{CB53C030-B089-4128-9F08-3E99454240F9}"/>
              </a:ext>
            </a:extLst>
          </p:cNvPr>
          <p:cNvSpPr>
            <a:spLocks noGrp="1"/>
          </p:cNvSpPr>
          <p:nvPr/>
        </p:nvSpPr>
        <p:spPr>
          <a:xfrm>
            <a:off x="1181100" y="209550"/>
            <a:ext cx="9906000" cy="552450"/>
          </a:xfrm>
          <a:prstGeom prst="rect">
            <a:avLst/>
          </a:prstGeom>
          <a:noFill/>
          <a:ln w="0">
            <a:noFill/>
          </a:ln>
        </p:spPr>
        <p:txBody>
          <a:bodyPr wrap="square" lIns="57150" tIns="47625" rIns="57150" bIns="47625" anchor="ctr">
            <a:noAutofit/>
          </a:bodyPr>
          <a:lstStyle/>
          <a:p>
            <a:pPr algn="l">
              <a:defRPr sz="2700" b="1">
                <a:solidFill>
                  <a:srgbClr val="FFFFFF"/>
                </a:solidFill>
                <a:latin typeface="Nimbus Sans"/>
                <a:ea typeface="Nimbus Sans"/>
                <a:cs typeface="Nimbus Sans"/>
              </a:defRPr>
            </a:pPr>
            <a:r>
              <a:rPr sz="2700" b="1">
                <a:solidFill>
                  <a:srgbClr val="FFFFFF"/>
                </a:solidFill>
                <a:latin typeface="Nimbus Sans"/>
                <a:ea typeface="Nimbus Sans"/>
                <a:cs typeface="Nimbus Sans"/>
              </a:rPr>
              <a:t>Financial Warnings</a:t>
            </a:r>
          </a:p>
        </p:txBody>
      </p:sp>
      <p:sp>
        <p:nvSpPr>
          <p:cNvPr id="4" name="Rectangle 3">
            <a:extLst>
              <a:ext uri="{FF2B5EF4-FFF2-40B4-BE49-F238E27FC236}">
                <a16:creationId xmlns:a16="http://schemas.microsoft.com/office/drawing/2014/main" id="{DD981324-8634-482A-891B-31A9DF5F60D9}"/>
              </a:ext>
            </a:extLst>
          </p:cNvPr>
          <p:cNvSpPr>
            <a:spLocks noGrp="1"/>
          </p:cNvSpPr>
          <p:nvPr/>
        </p:nvSpPr>
        <p:spPr>
          <a:xfrm>
            <a:off x="609600" y="838200"/>
            <a:ext cx="781050" cy="47625"/>
          </a:xfrm>
          <a:prstGeom prst="rect">
            <a:avLst/>
          </a:prstGeom>
          <a:solidFill>
            <a:srgbClr val="2DD4BF"/>
          </a:solidFill>
          <a:ln w="0">
            <a:noFill/>
          </a:ln>
        </p:spPr>
        <p:txBody>
          <a:bodyPr/>
          <a:lstStyle/>
          <a:p>
            <a:endParaRPr lang="en-US"/>
          </a:p>
        </p:txBody>
      </p:sp>
      <p:sp>
        <p:nvSpPr>
          <p:cNvPr id="5" name="Rectangle: Rounded Corners 4">
            <a:extLst>
              <a:ext uri="{FF2B5EF4-FFF2-40B4-BE49-F238E27FC236}">
                <a16:creationId xmlns:a16="http://schemas.microsoft.com/office/drawing/2014/main" id="{27D80679-C7D8-4A70-931B-10AD6E9DF6B7}"/>
              </a:ext>
            </a:extLst>
          </p:cNvPr>
          <p:cNvSpPr>
            <a:spLocks noGrp="1"/>
          </p:cNvSpPr>
          <p:nvPr/>
        </p:nvSpPr>
        <p:spPr>
          <a:xfrm>
            <a:off x="609600" y="1409700"/>
            <a:ext cx="10972800" cy="4686300"/>
          </a:xfrm>
          <a:prstGeom prst="roundRect">
            <a:avLst>
              <a:gd name="adj" fmla="val 4065"/>
            </a:avLst>
          </a:prstGeom>
          <a:solidFill>
            <a:srgbClr val="FFFFFF"/>
          </a:solidFill>
          <a:ln w="9525">
            <a:solidFill>
              <a:srgbClr val="D7DF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6" name="Rectangle: Rounded Corners 5">
            <a:extLst>
              <a:ext uri="{FF2B5EF4-FFF2-40B4-BE49-F238E27FC236}">
                <a16:creationId xmlns:a16="http://schemas.microsoft.com/office/drawing/2014/main" id="{5E69967A-08FA-4689-A199-A66EA744A0DA}"/>
              </a:ext>
            </a:extLst>
          </p:cNvPr>
          <p:cNvSpPr>
            <a:spLocks noGrp="1"/>
          </p:cNvSpPr>
          <p:nvPr/>
        </p:nvSpPr>
        <p:spPr>
          <a:xfrm>
            <a:off x="914400" y="1847850"/>
            <a:ext cx="552450" cy="552450"/>
          </a:xfrm>
          <a:prstGeom prst="roundRect">
            <a:avLst>
              <a:gd name="adj" fmla="val 50000"/>
            </a:avLst>
          </a:prstGeom>
          <a:solidFill>
            <a:srgbClr val="2DD4BF"/>
          </a:solidFill>
          <a:ln w="0">
            <a:noFill/>
          </a:ln>
        </p:spPr>
        <p:txBody>
          <a:bodyPr wrap="square" lIns="0" tIns="0" rIns="0" bIns="0" anchor="ctr">
            <a:noAutofit/>
          </a:bodyPr>
          <a:lstStyle/>
          <a:p>
            <a:pPr algn="ct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01</a:t>
            </a:r>
          </a:p>
        </p:txBody>
      </p:sp>
      <p:sp>
        <p:nvSpPr>
          <p:cNvPr id="7" name="Rectangle 6">
            <a:extLst>
              <a:ext uri="{FF2B5EF4-FFF2-40B4-BE49-F238E27FC236}">
                <a16:creationId xmlns:a16="http://schemas.microsoft.com/office/drawing/2014/main" id="{3EBCE37A-1D7B-451A-8D42-E7C007A3F5A4}"/>
              </a:ext>
            </a:extLst>
          </p:cNvPr>
          <p:cNvSpPr>
            <a:spLocks noGrp="1"/>
          </p:cNvSpPr>
          <p:nvPr/>
        </p:nvSpPr>
        <p:spPr>
          <a:xfrm>
            <a:off x="1752600" y="1714500"/>
            <a:ext cx="9239250" cy="1143000"/>
          </a:xfrm>
          <a:prstGeom prst="rect">
            <a:avLst/>
          </a:prstGeom>
          <a:noFill/>
          <a:ln w="0">
            <a:noFill/>
          </a:ln>
        </p:spPr>
        <p:txBody>
          <a:bodyPr wrap="square" lIns="0" tIns="38100" rIns="0" bIns="38100" anchor="ctr">
            <a:noAutofit/>
          </a:bodyPr>
          <a:lstStyle/>
          <a:p>
            <a:pPr>
              <a:lnSpc>
                <a:spcPct val="103000"/>
              </a:lnSpc>
              <a:defRPr sz="1500" b="0">
                <a:solidFill>
                  <a:srgbClr val="132238"/>
                </a:solidFill>
                <a:latin typeface="Nimbus Sans"/>
                <a:ea typeface="Nimbus Sans"/>
                <a:cs typeface="Nimbus Sans"/>
              </a:defRPr>
            </a:pPr>
            <a:r>
              <a:rPr lang="en-US" sz="2000" dirty="0"/>
              <a:t>Using the budget set by the user and tracking user transactions will allow Finora to detect when the user is approaching their budget.</a:t>
            </a:r>
          </a:p>
          <a:p>
            <a:pPr algn="l">
              <a:lnSpc>
                <a:spcPct val="103000"/>
              </a:lnSpc>
              <a:buNone/>
              <a:defRPr sz="1500" b="0">
                <a:solidFill>
                  <a:srgbClr val="132238"/>
                </a:solidFill>
                <a:latin typeface="Nimbus Sans"/>
                <a:ea typeface="Nimbus Sans"/>
                <a:cs typeface="Nimbus Sans"/>
              </a:defRPr>
            </a:pPr>
            <a:r>
              <a:rPr sz="1500" b="0" dirty="0">
                <a:solidFill>
                  <a:srgbClr val="132238"/>
                </a:solidFill>
                <a:latin typeface="Nimbus Sans"/>
                <a:ea typeface="Nimbus Sans"/>
                <a:cs typeface="Nimbus Sans"/>
              </a:rPr>
              <a:t>.</a:t>
            </a:r>
          </a:p>
        </p:txBody>
      </p:sp>
      <p:sp>
        <p:nvSpPr>
          <p:cNvPr id="8" name="Straight Connector 7">
            <a:extLst>
              <a:ext uri="{FF2B5EF4-FFF2-40B4-BE49-F238E27FC236}">
                <a16:creationId xmlns:a16="http://schemas.microsoft.com/office/drawing/2014/main" id="{4449CEF7-340B-4618-AEF0-AC290CB8FC8F}"/>
              </a:ext>
            </a:extLst>
          </p:cNvPr>
          <p:cNvSpPr>
            <a:spLocks noGrp="1"/>
          </p:cNvSpPr>
          <p:nvPr/>
        </p:nvSpPr>
        <p:spPr>
          <a:xfrm>
            <a:off x="1752600" y="2990850"/>
            <a:ext cx="9239250" cy="0"/>
          </a:xfrm>
          <a:prstGeom prst="line">
            <a:avLst/>
          </a:prstGeom>
          <a:noFill/>
          <a:ln w="9525">
            <a:solidFill>
              <a:srgbClr val="D7DFE5"/>
            </a:solidFill>
            <a:prstDash val="solid"/>
          </a:ln>
        </p:spPr>
        <p:txBody>
          <a:bodyPr/>
          <a:lstStyle/>
          <a:p>
            <a:endParaRPr lang="en-US"/>
          </a:p>
        </p:txBody>
      </p:sp>
      <p:sp>
        <p:nvSpPr>
          <p:cNvPr id="9" name="Rectangle: Rounded Corners 8">
            <a:extLst>
              <a:ext uri="{FF2B5EF4-FFF2-40B4-BE49-F238E27FC236}">
                <a16:creationId xmlns:a16="http://schemas.microsoft.com/office/drawing/2014/main" id="{B60BA6C0-F10E-494A-926F-677183363358}"/>
              </a:ext>
            </a:extLst>
          </p:cNvPr>
          <p:cNvSpPr>
            <a:spLocks noGrp="1"/>
          </p:cNvSpPr>
          <p:nvPr/>
        </p:nvSpPr>
        <p:spPr>
          <a:xfrm>
            <a:off x="914400" y="3314700"/>
            <a:ext cx="552450" cy="552450"/>
          </a:xfrm>
          <a:prstGeom prst="roundRect">
            <a:avLst>
              <a:gd name="adj" fmla="val 50000"/>
            </a:avLst>
          </a:prstGeom>
          <a:solidFill>
            <a:srgbClr val="FF7A59"/>
          </a:solidFill>
          <a:ln w="0">
            <a:noFill/>
          </a:ln>
        </p:spPr>
        <p:txBody>
          <a:bodyPr wrap="square" lIns="0" tIns="0" rIns="0" bIns="0" anchor="ctr">
            <a:noAutofit/>
          </a:bodyPr>
          <a:lstStyle/>
          <a:p>
            <a:pPr algn="ct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02</a:t>
            </a:r>
          </a:p>
        </p:txBody>
      </p:sp>
      <p:sp>
        <p:nvSpPr>
          <p:cNvPr id="10" name="Rectangle 9">
            <a:extLst>
              <a:ext uri="{FF2B5EF4-FFF2-40B4-BE49-F238E27FC236}">
                <a16:creationId xmlns:a16="http://schemas.microsoft.com/office/drawing/2014/main" id="{47A58D16-ABA2-4344-8F3D-40482FFA5CCA}"/>
              </a:ext>
            </a:extLst>
          </p:cNvPr>
          <p:cNvSpPr>
            <a:spLocks noGrp="1"/>
          </p:cNvSpPr>
          <p:nvPr/>
        </p:nvSpPr>
        <p:spPr>
          <a:xfrm>
            <a:off x="1752600" y="3181350"/>
            <a:ext cx="9239250" cy="1143000"/>
          </a:xfrm>
          <a:prstGeom prst="rect">
            <a:avLst/>
          </a:prstGeom>
          <a:noFill/>
          <a:ln w="0">
            <a:noFill/>
          </a:ln>
        </p:spPr>
        <p:txBody>
          <a:bodyPr wrap="square" lIns="0" tIns="38100" rIns="0" bIns="38100" anchor="ctr">
            <a:noAutofit/>
          </a:bodyPr>
          <a:lstStyle/>
          <a:p>
            <a:pPr>
              <a:lnSpc>
                <a:spcPct val="103000"/>
              </a:lnSpc>
              <a:defRPr sz="1500" b="0">
                <a:solidFill>
                  <a:srgbClr val="132238"/>
                </a:solidFill>
                <a:latin typeface="Nimbus Sans"/>
                <a:ea typeface="Nimbus Sans"/>
                <a:cs typeface="Nimbus Sans"/>
              </a:defRPr>
            </a:pPr>
            <a:r>
              <a:rPr lang="en-US" sz="2000" dirty="0"/>
              <a:t>Finora will notify the user that they are nearing the limit of their budget when it detects they have spent 80% of what is allotted for the month.</a:t>
            </a:r>
          </a:p>
          <a:p>
            <a:pPr algn="l">
              <a:lnSpc>
                <a:spcPct val="103000"/>
              </a:lnSpc>
              <a:buNone/>
              <a:defRPr sz="1500" b="0">
                <a:solidFill>
                  <a:srgbClr val="132238"/>
                </a:solidFill>
                <a:latin typeface="Nimbus Sans"/>
                <a:ea typeface="Nimbus Sans"/>
                <a:cs typeface="Nimbus Sans"/>
              </a:defRPr>
            </a:pPr>
            <a:endParaRPr sz="1500" b="0" dirty="0">
              <a:solidFill>
                <a:srgbClr val="132238"/>
              </a:solidFill>
              <a:latin typeface="Nimbus Sans"/>
              <a:ea typeface="Nimbus Sans"/>
              <a:cs typeface="Nimbus Sans"/>
            </a:endParaRPr>
          </a:p>
        </p:txBody>
      </p:sp>
      <p:sp>
        <p:nvSpPr>
          <p:cNvPr id="11" name="Straight Connector 10">
            <a:extLst>
              <a:ext uri="{FF2B5EF4-FFF2-40B4-BE49-F238E27FC236}">
                <a16:creationId xmlns:a16="http://schemas.microsoft.com/office/drawing/2014/main" id="{E22A0674-910D-4ABA-B77D-71D2F9A6D8DB}"/>
              </a:ext>
            </a:extLst>
          </p:cNvPr>
          <p:cNvSpPr>
            <a:spLocks noGrp="1"/>
          </p:cNvSpPr>
          <p:nvPr/>
        </p:nvSpPr>
        <p:spPr>
          <a:xfrm>
            <a:off x="1752600" y="4457700"/>
            <a:ext cx="9239250" cy="0"/>
          </a:xfrm>
          <a:prstGeom prst="line">
            <a:avLst/>
          </a:prstGeom>
          <a:noFill/>
          <a:ln w="9525">
            <a:solidFill>
              <a:srgbClr val="D7DFE5"/>
            </a:solidFill>
            <a:prstDash val="solid"/>
          </a:ln>
        </p:spPr>
        <p:txBody>
          <a:bodyPr/>
          <a:lstStyle/>
          <a:p>
            <a:endParaRPr lang="en-US"/>
          </a:p>
        </p:txBody>
      </p:sp>
      <p:sp>
        <p:nvSpPr>
          <p:cNvPr id="12" name="Rectangle: Rounded Corners 11">
            <a:extLst>
              <a:ext uri="{FF2B5EF4-FFF2-40B4-BE49-F238E27FC236}">
                <a16:creationId xmlns:a16="http://schemas.microsoft.com/office/drawing/2014/main" id="{80539207-9017-4BB8-909E-B00CFB578F50}"/>
              </a:ext>
            </a:extLst>
          </p:cNvPr>
          <p:cNvSpPr>
            <a:spLocks noGrp="1"/>
          </p:cNvSpPr>
          <p:nvPr/>
        </p:nvSpPr>
        <p:spPr>
          <a:xfrm>
            <a:off x="914400" y="4781550"/>
            <a:ext cx="552450" cy="552450"/>
          </a:xfrm>
          <a:prstGeom prst="roundRect">
            <a:avLst>
              <a:gd name="adj" fmla="val 50000"/>
            </a:avLst>
          </a:prstGeom>
          <a:solidFill>
            <a:srgbClr val="2DD4BF"/>
          </a:solidFill>
          <a:ln w="0">
            <a:noFill/>
          </a:ln>
        </p:spPr>
        <p:txBody>
          <a:bodyPr wrap="square" lIns="0" tIns="0" rIns="0" bIns="0" anchor="ctr">
            <a:noAutofit/>
          </a:bodyPr>
          <a:lstStyle/>
          <a:p>
            <a:pPr algn="ctr">
              <a:defRPr sz="1275" b="1">
                <a:solidFill>
                  <a:srgbClr val="FFFFFF"/>
                </a:solidFill>
                <a:latin typeface="Nimbus Sans"/>
                <a:ea typeface="Nimbus Sans"/>
                <a:cs typeface="Nimbus Sans"/>
              </a:defRPr>
            </a:pPr>
            <a:r>
              <a:rPr sz="1275" b="1">
                <a:solidFill>
                  <a:srgbClr val="FFFFFF"/>
                </a:solidFill>
                <a:latin typeface="Nimbus Sans"/>
                <a:ea typeface="Nimbus Sans"/>
                <a:cs typeface="Nimbus Sans"/>
              </a:rPr>
              <a:t>03</a:t>
            </a:r>
          </a:p>
        </p:txBody>
      </p:sp>
      <p:sp>
        <p:nvSpPr>
          <p:cNvPr id="13" name="Rectangle 12">
            <a:extLst>
              <a:ext uri="{FF2B5EF4-FFF2-40B4-BE49-F238E27FC236}">
                <a16:creationId xmlns:a16="http://schemas.microsoft.com/office/drawing/2014/main" id="{DA396419-519F-44C8-A614-A75B3EC0244B}"/>
              </a:ext>
            </a:extLst>
          </p:cNvPr>
          <p:cNvSpPr>
            <a:spLocks noGrp="1"/>
          </p:cNvSpPr>
          <p:nvPr/>
        </p:nvSpPr>
        <p:spPr>
          <a:xfrm>
            <a:off x="1752600" y="4648200"/>
            <a:ext cx="9239250" cy="1143000"/>
          </a:xfrm>
          <a:prstGeom prst="rect">
            <a:avLst/>
          </a:prstGeom>
          <a:noFill/>
          <a:ln w="0">
            <a:noFill/>
          </a:ln>
        </p:spPr>
        <p:txBody>
          <a:bodyPr wrap="square" lIns="0" tIns="38100" rIns="0" bIns="38100" anchor="ctr">
            <a:noAutofit/>
          </a:bodyPr>
          <a:lstStyle/>
          <a:p>
            <a:r>
              <a:rPr lang="en-US" sz="2000" dirty="0"/>
              <a:t>Finora will also notify the user if they are approaching some limit on spending in a particular category even if they are not going over budget.</a:t>
            </a:r>
          </a:p>
        </p:txBody>
      </p:sp>
      <p:sp>
        <p:nvSpPr>
          <p:cNvPr id="15" name="Rectangle 14">
            <a:extLst>
              <a:ext uri="{FF2B5EF4-FFF2-40B4-BE49-F238E27FC236}">
                <a16:creationId xmlns:a16="http://schemas.microsoft.com/office/drawing/2014/main" id="{A128146A-B60E-4C7F-A870-436D29952A32}"/>
              </a:ext>
            </a:extLst>
          </p:cNvPr>
          <p:cNvSpPr>
            <a:spLocks noGrp="1"/>
          </p:cNvSpPr>
          <p:nvPr/>
        </p:nvSpPr>
        <p:spPr>
          <a:xfrm>
            <a:off x="11239500" y="6496050"/>
            <a:ext cx="342900" cy="228600"/>
          </a:xfrm>
          <a:prstGeom prst="rect">
            <a:avLst/>
          </a:prstGeom>
          <a:noFill/>
          <a:ln w="0">
            <a:noFill/>
          </a:ln>
        </p:spPr>
        <p:txBody>
          <a:bodyPr wrap="square" lIns="0" tIns="0" rIns="0" bIns="0" anchor="ctr">
            <a:noAutofit/>
          </a:bodyPr>
          <a:lstStyle/>
          <a:p>
            <a:pPr algn="r">
              <a:defRPr sz="975" b="1">
                <a:solidFill>
                  <a:srgbClr val="5B6B7E"/>
                </a:solidFill>
                <a:latin typeface="Nimbus Sans"/>
                <a:ea typeface="Nimbus Sans"/>
                <a:cs typeface="Nimbus Sans"/>
              </a:defRPr>
            </a:pPr>
            <a:r>
              <a:rPr sz="975" b="1">
                <a:solidFill>
                  <a:srgbClr val="5B6B7E"/>
                </a:solidFill>
                <a:latin typeface="Nimbus Sans"/>
                <a:ea typeface="Nimbus Sans"/>
                <a:cs typeface="Nimbus Sans"/>
              </a:rPr>
              <a:t>11</a:t>
            </a:r>
          </a:p>
        </p:txBody>
      </p:sp>
    </p:spTree>
    <p:extLst>
      <p:ext uri="{BB962C8B-B14F-4D97-AF65-F5344CB8AC3E}">
        <p14:creationId xmlns:p14="http://schemas.microsoft.com/office/powerpoint/2010/main" val="332528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0E77C05-57CF-75A6-2ECF-C8AC7389F00D}"/>
              </a:ext>
            </a:extLst>
          </p:cNvPr>
          <p:cNvSpPr>
            <a:spLocks noGrp="1"/>
          </p:cNvSpPr>
          <p:nvPr/>
        </p:nvSpPr>
        <p:spPr>
          <a:xfrm>
            <a:off x="1181100" y="209550"/>
            <a:ext cx="9906000" cy="552450"/>
          </a:xfrm>
          <a:prstGeom prst="rect">
            <a:avLst/>
          </a:prstGeom>
          <a:noFill/>
          <a:ln w="0">
            <a:noFill/>
          </a:ln>
        </p:spPr>
        <p:txBody>
          <a:bodyPr wrap="square" lIns="57150" tIns="47625" rIns="57150" bIns="47625" anchor="ctr">
            <a:noAutofit/>
          </a:bodyPr>
          <a:lstStyle/>
          <a:p>
            <a:pPr algn="l">
              <a:defRPr sz="2700" b="1">
                <a:solidFill>
                  <a:srgbClr val="FFFFFF"/>
                </a:solidFill>
                <a:latin typeface="Nimbus Sans"/>
                <a:ea typeface="Nimbus Sans"/>
                <a:cs typeface="Nimbus Sans"/>
              </a:defRPr>
            </a:pPr>
            <a:r>
              <a:rPr lang="en-US" sz="2700" b="1" dirty="0">
                <a:solidFill>
                  <a:srgbClr val="FFFFFF"/>
                </a:solidFill>
                <a:latin typeface="Nimbus Sans"/>
                <a:ea typeface="Nimbus Sans"/>
                <a:cs typeface="Nimbus Sans"/>
              </a:rPr>
              <a:t>Transaction Management                  UML – Use Case Diagram</a:t>
            </a:r>
            <a:endParaRPr sz="2700" b="1" dirty="0">
              <a:solidFill>
                <a:srgbClr val="FFFFFF"/>
              </a:solidFill>
              <a:latin typeface="Nimbus Sans"/>
              <a:ea typeface="Nimbus Sans"/>
              <a:cs typeface="Nimbus Sans"/>
            </a:endParaRPr>
          </a:p>
        </p:txBody>
      </p:sp>
      <p:pic>
        <p:nvPicPr>
          <p:cNvPr id="7" name="Picture 6">
            <a:extLst>
              <a:ext uri="{FF2B5EF4-FFF2-40B4-BE49-F238E27FC236}">
                <a16:creationId xmlns:a16="http://schemas.microsoft.com/office/drawing/2014/main" id="{8B787C05-1807-1E2F-5844-A240F247303A}"/>
              </a:ext>
            </a:extLst>
          </p:cNvPr>
          <p:cNvPicPr>
            <a:picLocks noChangeAspect="1"/>
          </p:cNvPicPr>
          <p:nvPr/>
        </p:nvPicPr>
        <p:blipFill>
          <a:blip r:embed="rId3"/>
          <a:stretch>
            <a:fillRect/>
          </a:stretch>
        </p:blipFill>
        <p:spPr>
          <a:xfrm>
            <a:off x="4514850" y="1125930"/>
            <a:ext cx="6239134" cy="5444340"/>
          </a:xfrm>
          <a:prstGeom prst="rect">
            <a:avLst/>
          </a:prstGeom>
        </p:spPr>
      </p:pic>
      <p:pic>
        <p:nvPicPr>
          <p:cNvPr id="9" name="Graphic 8" descr="Arrow circle outline">
            <a:extLst>
              <a:ext uri="{FF2B5EF4-FFF2-40B4-BE49-F238E27FC236}">
                <a16:creationId xmlns:a16="http://schemas.microsoft.com/office/drawing/2014/main" id="{16AE10EF-D268-7852-CFBF-183ED9CD90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3375" y="1847850"/>
            <a:ext cx="3771900" cy="3771900"/>
          </a:xfrm>
          <a:prstGeom prst="rect">
            <a:avLst/>
          </a:prstGeom>
        </p:spPr>
      </p:pic>
      <p:sp>
        <p:nvSpPr>
          <p:cNvPr id="12" name="Rectangle 11">
            <a:extLst>
              <a:ext uri="{FF2B5EF4-FFF2-40B4-BE49-F238E27FC236}">
                <a16:creationId xmlns:a16="http://schemas.microsoft.com/office/drawing/2014/main" id="{42EB8AD1-D73B-0DAD-2ACC-73EDDE85430F}"/>
              </a:ext>
            </a:extLst>
          </p:cNvPr>
          <p:cNvSpPr>
            <a:spLocks noGrp="1"/>
          </p:cNvSpPr>
          <p:nvPr/>
        </p:nvSpPr>
        <p:spPr>
          <a:xfrm>
            <a:off x="609600" y="762000"/>
            <a:ext cx="781050" cy="47625"/>
          </a:xfrm>
          <a:prstGeom prst="rect">
            <a:avLst/>
          </a:prstGeom>
          <a:solidFill>
            <a:srgbClr val="FF7A59"/>
          </a:solidFill>
          <a:ln w="0">
            <a:solidFill>
              <a:srgbClr val="FF7A59"/>
            </a:solidFill>
          </a:ln>
        </p:spPr>
        <p:txBody>
          <a:bodyPr/>
          <a:lstStyle/>
          <a:p>
            <a:endParaRPr lang="en-US"/>
          </a:p>
        </p:txBody>
      </p:sp>
      <p:pic>
        <p:nvPicPr>
          <p:cNvPr id="14" name="Graphic 13" descr="Pinch Zoom In outline">
            <a:extLst>
              <a:ext uri="{FF2B5EF4-FFF2-40B4-BE49-F238E27FC236}">
                <a16:creationId xmlns:a16="http://schemas.microsoft.com/office/drawing/2014/main" id="{1AA0392F-88AA-62A0-C471-04F3F859DC7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51745" y="3552825"/>
            <a:ext cx="914400" cy="914400"/>
          </a:xfrm>
          <a:prstGeom prst="rect">
            <a:avLst/>
          </a:prstGeom>
        </p:spPr>
      </p:pic>
      <p:sp>
        <p:nvSpPr>
          <p:cNvPr id="15" name="TextBox 14">
            <a:extLst>
              <a:ext uri="{FF2B5EF4-FFF2-40B4-BE49-F238E27FC236}">
                <a16:creationId xmlns:a16="http://schemas.microsoft.com/office/drawing/2014/main" id="{296AF4A5-3DED-EC84-A641-1C196A3B4DEF}"/>
              </a:ext>
            </a:extLst>
          </p:cNvPr>
          <p:cNvSpPr txBox="1"/>
          <p:nvPr/>
        </p:nvSpPr>
        <p:spPr>
          <a:xfrm>
            <a:off x="1676400" y="3120509"/>
            <a:ext cx="1209242" cy="369332"/>
          </a:xfrm>
          <a:prstGeom prst="rect">
            <a:avLst/>
          </a:prstGeom>
          <a:noFill/>
        </p:spPr>
        <p:txBody>
          <a:bodyPr wrap="none" rtlCol="0">
            <a:spAutoFit/>
          </a:bodyPr>
          <a:lstStyle/>
          <a:p>
            <a:r>
              <a:rPr lang="en-US" dirty="0">
                <a:latin typeface="Nimbus Sans"/>
                <a:cs typeface="Times New Roman" panose="02020603050405020304" pitchFamily="18" charset="0"/>
              </a:rPr>
              <a:t>Interaction</a:t>
            </a:r>
          </a:p>
        </p:txBody>
      </p:sp>
    </p:spTree>
    <p:extLst>
      <p:ext uri="{BB962C8B-B14F-4D97-AF65-F5344CB8AC3E}">
        <p14:creationId xmlns:p14="http://schemas.microsoft.com/office/powerpoint/2010/main" val="3801628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96FB39C-0E09-4C69-A264-A654A33DB522}"/>
              </a:ext>
            </a:extLst>
          </p:cNvPr>
          <p:cNvSpPr>
            <a:spLocks noGrp="1"/>
          </p:cNvSpPr>
          <p:nvPr/>
        </p:nvSpPr>
        <p:spPr>
          <a:xfrm>
            <a:off x="0" y="0"/>
            <a:ext cx="12192000" cy="1028700"/>
          </a:xfrm>
          <a:prstGeom prst="rect">
            <a:avLst/>
          </a:prstGeom>
          <a:solidFill>
            <a:srgbClr val="081A2D"/>
          </a:solidFill>
          <a:ln w="0">
            <a:noFill/>
          </a:ln>
        </p:spPr>
        <p:txBody>
          <a:bodyPr/>
          <a:lstStyle/>
          <a:p>
            <a:endParaRPr lang="en-US"/>
          </a:p>
        </p:txBody>
      </p:sp>
      <p:sp>
        <p:nvSpPr>
          <p:cNvPr id="3" name="Rectangle 2">
            <a:extLst>
              <a:ext uri="{FF2B5EF4-FFF2-40B4-BE49-F238E27FC236}">
                <a16:creationId xmlns:a16="http://schemas.microsoft.com/office/drawing/2014/main" id="{8DF87E10-2342-4304-B85E-AA89557655F2}"/>
              </a:ext>
            </a:extLst>
          </p:cNvPr>
          <p:cNvSpPr>
            <a:spLocks noGrp="1"/>
          </p:cNvSpPr>
          <p:nvPr/>
        </p:nvSpPr>
        <p:spPr>
          <a:xfrm>
            <a:off x="1181100" y="209550"/>
            <a:ext cx="9906000" cy="552450"/>
          </a:xfrm>
          <a:prstGeom prst="rect">
            <a:avLst/>
          </a:prstGeom>
          <a:noFill/>
          <a:ln w="0">
            <a:noFill/>
          </a:ln>
        </p:spPr>
        <p:txBody>
          <a:bodyPr wrap="square" lIns="57150" tIns="47625" rIns="57150" bIns="47625" anchor="ctr">
            <a:noAutofit/>
          </a:bodyPr>
          <a:lstStyle/>
          <a:p>
            <a:pPr algn="l">
              <a:defRPr sz="2700" b="1">
                <a:solidFill>
                  <a:srgbClr val="FFFFFF"/>
                </a:solidFill>
                <a:latin typeface="Nimbus Sans"/>
                <a:ea typeface="Nimbus Sans"/>
                <a:cs typeface="Nimbus Sans"/>
              </a:defRPr>
            </a:pPr>
            <a:r>
              <a:rPr lang="en-US" sz="2700" b="1" dirty="0">
                <a:solidFill>
                  <a:srgbClr val="FFFFFF"/>
                </a:solidFill>
                <a:latin typeface="Nimbus Sans"/>
                <a:ea typeface="Nimbus Sans"/>
                <a:cs typeface="Nimbus Sans"/>
              </a:rPr>
              <a:t>Overview - </a:t>
            </a:r>
            <a:r>
              <a:rPr sz="2700" b="1" dirty="0">
                <a:solidFill>
                  <a:srgbClr val="FFFFFF"/>
                </a:solidFill>
                <a:latin typeface="Nimbus Sans"/>
                <a:ea typeface="Nimbus Sans"/>
                <a:cs typeface="Nimbus Sans"/>
              </a:rPr>
              <a:t>Transaction history and management</a:t>
            </a:r>
          </a:p>
        </p:txBody>
      </p:sp>
      <p:sp>
        <p:nvSpPr>
          <p:cNvPr id="4" name="Rectangle 3">
            <a:extLst>
              <a:ext uri="{FF2B5EF4-FFF2-40B4-BE49-F238E27FC236}">
                <a16:creationId xmlns:a16="http://schemas.microsoft.com/office/drawing/2014/main" id="{4A987E1F-C917-4FBB-9C40-E892ED7111FD}"/>
              </a:ext>
            </a:extLst>
          </p:cNvPr>
          <p:cNvSpPr>
            <a:spLocks noGrp="1"/>
          </p:cNvSpPr>
          <p:nvPr/>
        </p:nvSpPr>
        <p:spPr>
          <a:xfrm>
            <a:off x="609600" y="838200"/>
            <a:ext cx="781050" cy="47625"/>
          </a:xfrm>
          <a:prstGeom prst="rect">
            <a:avLst/>
          </a:prstGeom>
          <a:solidFill>
            <a:srgbClr val="2DD4BF"/>
          </a:solidFill>
          <a:ln w="0">
            <a:noFill/>
          </a:ln>
        </p:spPr>
        <p:txBody>
          <a:bodyPr/>
          <a:lstStyle/>
          <a:p>
            <a:endParaRPr lang="en-US"/>
          </a:p>
        </p:txBody>
      </p:sp>
      <p:graphicFrame>
        <p:nvGraphicFramePr>
          <p:cNvPr id="23" name="Table 22"/>
          <p:cNvGraphicFramePr/>
          <p:nvPr>
            <p:extLst>
              <p:ext uri="{D42A27DB-BD31-4B8C-83A1-F6EECF244321}">
                <p14:modId xmlns:p14="http://schemas.microsoft.com/office/powerpoint/2010/main" val="2841986221"/>
              </p:ext>
            </p:extLst>
          </p:nvPr>
        </p:nvGraphicFramePr>
        <p:xfrm>
          <a:off x="609599" y="2590800"/>
          <a:ext cx="8143875" cy="2790825"/>
        </p:xfrm>
        <a:graphic>
          <a:graphicData uri="http://schemas.openxmlformats.org/drawingml/2006/table">
            <a:tbl>
              <a:tblPr/>
              <a:tblGrid>
                <a:gridCol w="2143125">
                  <a:extLst>
                    <a:ext uri="{9D8B030D-6E8A-4147-A177-3AD203B41FA5}">
                      <a16:colId xmlns:a16="http://schemas.microsoft.com/office/drawing/2014/main" val="20000"/>
                    </a:ext>
                  </a:extLst>
                </a:gridCol>
                <a:gridCol w="1762125">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gridCol w="1428750">
                  <a:extLst>
                    <a:ext uri="{9D8B030D-6E8A-4147-A177-3AD203B41FA5}">
                      <a16:colId xmlns:a16="http://schemas.microsoft.com/office/drawing/2014/main" val="20004"/>
                    </a:ext>
                  </a:extLst>
                </a:gridCol>
              </a:tblGrid>
              <a:tr h="558165">
                <a:tc>
                  <a:txBody>
                    <a:bodyPr/>
                    <a:lstStyle/>
                    <a:p>
                      <a:r>
                        <a:rPr sz="1125" b="1" dirty="0">
                          <a:solidFill>
                            <a:srgbClr val="FFFFFF"/>
                          </a:solidFill>
                          <a:latin typeface="Nimbus Sans"/>
                          <a:ea typeface="Nimbus Sans"/>
                          <a:cs typeface="Nimbus Sans"/>
                        </a:rPr>
                        <a:t>NAME</a:t>
                      </a:r>
                    </a:p>
                  </a:txBody>
                  <a:tcPr marL="95250" marR="76200" marT="95250" marB="76200" anchor="ctr">
                    <a:solidFill>
                      <a:srgbClr val="102A43"/>
                    </a:solidFill>
                  </a:tcPr>
                </a:tc>
                <a:tc>
                  <a:txBody>
                    <a:bodyPr/>
                    <a:lstStyle/>
                    <a:p>
                      <a:r>
                        <a:rPr sz="1125" b="1" dirty="0">
                          <a:solidFill>
                            <a:srgbClr val="FFFFFF"/>
                          </a:solidFill>
                          <a:latin typeface="Nimbus Sans"/>
                          <a:ea typeface="Nimbus Sans"/>
                          <a:cs typeface="Nimbus Sans"/>
                        </a:rPr>
                        <a:t>CATEGORY</a:t>
                      </a:r>
                    </a:p>
                  </a:txBody>
                  <a:tcPr marL="95250" marR="76200" marT="95250" marB="76200" anchor="ctr">
                    <a:solidFill>
                      <a:srgbClr val="102A43"/>
                    </a:solidFill>
                  </a:tcPr>
                </a:tc>
                <a:tc>
                  <a:txBody>
                    <a:bodyPr/>
                    <a:lstStyle/>
                    <a:p>
                      <a:r>
                        <a:rPr sz="1125" b="1">
                          <a:solidFill>
                            <a:srgbClr val="FFFFFF"/>
                          </a:solidFill>
                          <a:latin typeface="Nimbus Sans"/>
                          <a:ea typeface="Nimbus Sans"/>
                          <a:cs typeface="Nimbus Sans"/>
                        </a:rPr>
                        <a:t>FREQUENCY</a:t>
                      </a:r>
                    </a:p>
                  </a:txBody>
                  <a:tcPr marL="95250" marR="76200" marT="95250" marB="76200" anchor="ctr">
                    <a:solidFill>
                      <a:srgbClr val="102A43"/>
                    </a:solidFill>
                  </a:tcPr>
                </a:tc>
                <a:tc>
                  <a:txBody>
                    <a:bodyPr/>
                    <a:lstStyle/>
                    <a:p>
                      <a:r>
                        <a:rPr sz="1125" b="1">
                          <a:solidFill>
                            <a:srgbClr val="FFFFFF"/>
                          </a:solidFill>
                          <a:latin typeface="Nimbus Sans"/>
                          <a:ea typeface="Nimbus Sans"/>
                          <a:cs typeface="Nimbus Sans"/>
                        </a:rPr>
                        <a:t>DATE</a:t>
                      </a:r>
                    </a:p>
                  </a:txBody>
                  <a:tcPr marL="95250" marR="76200" marT="95250" marB="76200" anchor="ctr">
                    <a:solidFill>
                      <a:srgbClr val="102A43"/>
                    </a:solidFill>
                  </a:tcPr>
                </a:tc>
                <a:tc>
                  <a:txBody>
                    <a:bodyPr/>
                    <a:lstStyle/>
                    <a:p>
                      <a:r>
                        <a:rPr sz="1125" b="1">
                          <a:solidFill>
                            <a:srgbClr val="FFFFFF"/>
                          </a:solidFill>
                          <a:latin typeface="Nimbus Sans"/>
                          <a:ea typeface="Nimbus Sans"/>
                          <a:cs typeface="Nimbus Sans"/>
                        </a:rPr>
                        <a:t>AMOUNT</a:t>
                      </a:r>
                    </a:p>
                  </a:txBody>
                  <a:tcPr marL="95250" marR="76200" marT="95250" marB="76200" anchor="ctr">
                    <a:solidFill>
                      <a:srgbClr val="102A43"/>
                    </a:solidFill>
                  </a:tcPr>
                </a:tc>
                <a:extLst>
                  <a:ext uri="{0D108BD9-81ED-4DB2-BD59-A6C34878D82A}">
                    <a16:rowId xmlns:a16="http://schemas.microsoft.com/office/drawing/2014/main" val="10000"/>
                  </a:ext>
                </a:extLst>
              </a:tr>
              <a:tr h="558165">
                <a:tc>
                  <a:txBody>
                    <a:bodyPr/>
                    <a:lstStyle/>
                    <a:p>
                      <a:r>
                        <a:rPr sz="1275">
                          <a:solidFill>
                            <a:srgbClr val="132238"/>
                          </a:solidFill>
                          <a:latin typeface="Nimbus Sans"/>
                          <a:ea typeface="Nimbus Sans"/>
                          <a:cs typeface="Nimbus Sans"/>
                        </a:rPr>
                        <a:t>Paycheck</a:t>
                      </a:r>
                    </a:p>
                  </a:txBody>
                  <a:tcPr marL="95250" marR="76200" marT="95250" marB="76200" anchor="ctr">
                    <a:solidFill>
                      <a:srgbClr val="FFFFFF"/>
                    </a:solidFill>
                  </a:tcPr>
                </a:tc>
                <a:tc>
                  <a:txBody>
                    <a:bodyPr/>
                    <a:lstStyle/>
                    <a:p>
                      <a:r>
                        <a:rPr sz="1275">
                          <a:solidFill>
                            <a:srgbClr val="132238"/>
                          </a:solidFill>
                          <a:latin typeface="Nimbus Sans"/>
                          <a:ea typeface="Nimbus Sans"/>
                          <a:cs typeface="Nimbus Sans"/>
                        </a:rPr>
                        <a:t>Employment</a:t>
                      </a:r>
                    </a:p>
                  </a:txBody>
                  <a:tcPr marL="95250" marR="76200" marT="95250" marB="76200" anchor="ctr">
                    <a:solidFill>
                      <a:srgbClr val="FFFFFF"/>
                    </a:solidFill>
                  </a:tcPr>
                </a:tc>
                <a:tc>
                  <a:txBody>
                    <a:bodyPr/>
                    <a:lstStyle/>
                    <a:p>
                      <a:r>
                        <a:rPr sz="1275">
                          <a:solidFill>
                            <a:srgbClr val="132238"/>
                          </a:solidFill>
                          <a:latin typeface="Nimbus Sans"/>
                          <a:ea typeface="Nimbus Sans"/>
                          <a:cs typeface="Nimbus Sans"/>
                        </a:rPr>
                        <a:t>Monthly</a:t>
                      </a:r>
                    </a:p>
                  </a:txBody>
                  <a:tcPr marL="95250" marR="76200" marT="95250" marB="76200" anchor="ctr">
                    <a:solidFill>
                      <a:srgbClr val="FFFFFF"/>
                    </a:solidFill>
                  </a:tcPr>
                </a:tc>
                <a:tc>
                  <a:txBody>
                    <a:bodyPr/>
                    <a:lstStyle/>
                    <a:p>
                      <a:r>
                        <a:rPr sz="1275">
                          <a:solidFill>
                            <a:srgbClr val="132238"/>
                          </a:solidFill>
                          <a:latin typeface="Nimbus Sans"/>
                          <a:ea typeface="Nimbus Sans"/>
                          <a:cs typeface="Nimbus Sans"/>
                        </a:rPr>
                        <a:t>Sept. 1</a:t>
                      </a:r>
                    </a:p>
                  </a:txBody>
                  <a:tcPr marL="95250" marR="76200" marT="95250" marB="76200" anchor="ctr">
                    <a:solidFill>
                      <a:srgbClr val="FFFFFF"/>
                    </a:solidFill>
                  </a:tcPr>
                </a:tc>
                <a:tc>
                  <a:txBody>
                    <a:bodyPr/>
                    <a:lstStyle/>
                    <a:p>
                      <a:r>
                        <a:rPr sz="1275" b="1" dirty="0">
                          <a:solidFill>
                            <a:srgbClr val="15803D"/>
                          </a:solidFill>
                          <a:latin typeface="Nimbus Sans"/>
                          <a:ea typeface="Nimbus Sans"/>
                          <a:cs typeface="Nimbus Sans"/>
                        </a:rPr>
                        <a:t>+$2,000</a:t>
                      </a:r>
                    </a:p>
                  </a:txBody>
                  <a:tcPr marL="95250" marR="76200" marT="95250" marB="76200" anchor="ctr">
                    <a:solidFill>
                      <a:srgbClr val="FFFFFF"/>
                    </a:solidFill>
                  </a:tcPr>
                </a:tc>
                <a:extLst>
                  <a:ext uri="{0D108BD9-81ED-4DB2-BD59-A6C34878D82A}">
                    <a16:rowId xmlns:a16="http://schemas.microsoft.com/office/drawing/2014/main" val="10001"/>
                  </a:ext>
                </a:extLst>
              </a:tr>
              <a:tr h="558165">
                <a:tc>
                  <a:txBody>
                    <a:bodyPr/>
                    <a:lstStyle/>
                    <a:p>
                      <a:r>
                        <a:rPr sz="1275">
                          <a:solidFill>
                            <a:srgbClr val="132238"/>
                          </a:solidFill>
                          <a:latin typeface="Nimbus Sans"/>
                          <a:ea typeface="Nimbus Sans"/>
                          <a:cs typeface="Nimbus Sans"/>
                        </a:rPr>
                        <a:t>Rent</a:t>
                      </a:r>
                    </a:p>
                  </a:txBody>
                  <a:tcPr marL="95250" marR="76200" marT="95250" marB="76200" anchor="ctr">
                    <a:solidFill>
                      <a:srgbClr val="F1F5F6"/>
                    </a:solidFill>
                  </a:tcPr>
                </a:tc>
                <a:tc>
                  <a:txBody>
                    <a:bodyPr/>
                    <a:lstStyle/>
                    <a:p>
                      <a:r>
                        <a:rPr sz="1275">
                          <a:solidFill>
                            <a:srgbClr val="132238"/>
                          </a:solidFill>
                          <a:latin typeface="Nimbus Sans"/>
                          <a:ea typeface="Nimbus Sans"/>
                          <a:cs typeface="Nimbus Sans"/>
                        </a:rPr>
                        <a:t>Housing</a:t>
                      </a:r>
                    </a:p>
                  </a:txBody>
                  <a:tcPr marL="95250" marR="76200" marT="95250" marB="76200" anchor="ctr">
                    <a:solidFill>
                      <a:srgbClr val="F1F5F6"/>
                    </a:solidFill>
                  </a:tcPr>
                </a:tc>
                <a:tc>
                  <a:txBody>
                    <a:bodyPr/>
                    <a:lstStyle/>
                    <a:p>
                      <a:r>
                        <a:rPr sz="1275">
                          <a:solidFill>
                            <a:srgbClr val="132238"/>
                          </a:solidFill>
                          <a:latin typeface="Nimbus Sans"/>
                          <a:ea typeface="Nimbus Sans"/>
                          <a:cs typeface="Nimbus Sans"/>
                        </a:rPr>
                        <a:t>Monthly</a:t>
                      </a:r>
                    </a:p>
                  </a:txBody>
                  <a:tcPr marL="95250" marR="76200" marT="95250" marB="76200" anchor="ctr">
                    <a:solidFill>
                      <a:srgbClr val="F1F5F6"/>
                    </a:solidFill>
                  </a:tcPr>
                </a:tc>
                <a:tc>
                  <a:txBody>
                    <a:bodyPr/>
                    <a:lstStyle/>
                    <a:p>
                      <a:r>
                        <a:rPr sz="1275">
                          <a:solidFill>
                            <a:srgbClr val="132238"/>
                          </a:solidFill>
                          <a:latin typeface="Nimbus Sans"/>
                          <a:ea typeface="Nimbus Sans"/>
                          <a:cs typeface="Nimbus Sans"/>
                        </a:rPr>
                        <a:t>Sept. 3</a:t>
                      </a:r>
                    </a:p>
                  </a:txBody>
                  <a:tcPr marL="95250" marR="76200" marT="95250" marB="76200" anchor="ctr">
                    <a:solidFill>
                      <a:srgbClr val="F1F5F6"/>
                    </a:solidFill>
                  </a:tcPr>
                </a:tc>
                <a:tc>
                  <a:txBody>
                    <a:bodyPr/>
                    <a:lstStyle/>
                    <a:p>
                      <a:r>
                        <a:rPr sz="1275" b="1">
                          <a:solidFill>
                            <a:srgbClr val="C2413A"/>
                          </a:solidFill>
                          <a:latin typeface="Nimbus Sans"/>
                          <a:ea typeface="Nimbus Sans"/>
                          <a:cs typeface="Nimbus Sans"/>
                        </a:rPr>
                        <a:t>-$850</a:t>
                      </a:r>
                    </a:p>
                  </a:txBody>
                  <a:tcPr marL="95250" marR="76200" marT="95250" marB="76200" anchor="ctr">
                    <a:solidFill>
                      <a:srgbClr val="F1F5F6"/>
                    </a:solidFill>
                  </a:tcPr>
                </a:tc>
                <a:extLst>
                  <a:ext uri="{0D108BD9-81ED-4DB2-BD59-A6C34878D82A}">
                    <a16:rowId xmlns:a16="http://schemas.microsoft.com/office/drawing/2014/main" val="10002"/>
                  </a:ext>
                </a:extLst>
              </a:tr>
              <a:tr h="558165">
                <a:tc>
                  <a:txBody>
                    <a:bodyPr/>
                    <a:lstStyle/>
                    <a:p>
                      <a:r>
                        <a:rPr sz="1275">
                          <a:solidFill>
                            <a:srgbClr val="132238"/>
                          </a:solidFill>
                          <a:latin typeface="Nimbus Sans"/>
                          <a:ea typeface="Nimbus Sans"/>
                          <a:cs typeface="Nimbus Sans"/>
                        </a:rPr>
                        <a:t>Groceries</a:t>
                      </a:r>
                    </a:p>
                  </a:txBody>
                  <a:tcPr marL="95250" marR="76200" marT="95250" marB="76200" anchor="ctr">
                    <a:solidFill>
                      <a:srgbClr val="FFFFFF"/>
                    </a:solidFill>
                  </a:tcPr>
                </a:tc>
                <a:tc>
                  <a:txBody>
                    <a:bodyPr/>
                    <a:lstStyle/>
                    <a:p>
                      <a:r>
                        <a:rPr sz="1275">
                          <a:solidFill>
                            <a:srgbClr val="132238"/>
                          </a:solidFill>
                          <a:latin typeface="Nimbus Sans"/>
                          <a:ea typeface="Nimbus Sans"/>
                          <a:cs typeface="Nimbus Sans"/>
                        </a:rPr>
                        <a:t>Food</a:t>
                      </a:r>
                    </a:p>
                  </a:txBody>
                  <a:tcPr marL="95250" marR="76200" marT="95250" marB="76200" anchor="ctr">
                    <a:solidFill>
                      <a:srgbClr val="FFFFFF"/>
                    </a:solidFill>
                  </a:tcPr>
                </a:tc>
                <a:tc>
                  <a:txBody>
                    <a:bodyPr/>
                    <a:lstStyle/>
                    <a:p>
                      <a:r>
                        <a:rPr sz="1275">
                          <a:solidFill>
                            <a:srgbClr val="132238"/>
                          </a:solidFill>
                          <a:latin typeface="Nimbus Sans"/>
                          <a:ea typeface="Nimbus Sans"/>
                          <a:cs typeface="Nimbus Sans"/>
                        </a:rPr>
                        <a:t>Just once</a:t>
                      </a:r>
                    </a:p>
                  </a:txBody>
                  <a:tcPr marL="95250" marR="76200" marT="95250" marB="76200" anchor="ctr">
                    <a:solidFill>
                      <a:srgbClr val="FFFFFF"/>
                    </a:solidFill>
                  </a:tcPr>
                </a:tc>
                <a:tc>
                  <a:txBody>
                    <a:bodyPr/>
                    <a:lstStyle/>
                    <a:p>
                      <a:r>
                        <a:rPr sz="1275">
                          <a:solidFill>
                            <a:srgbClr val="132238"/>
                          </a:solidFill>
                          <a:latin typeface="Nimbus Sans"/>
                          <a:ea typeface="Nimbus Sans"/>
                          <a:cs typeface="Nimbus Sans"/>
                        </a:rPr>
                        <a:t>Sept. 5</a:t>
                      </a:r>
                    </a:p>
                  </a:txBody>
                  <a:tcPr marL="95250" marR="76200" marT="95250" marB="76200" anchor="ctr">
                    <a:solidFill>
                      <a:srgbClr val="FFFFFF"/>
                    </a:solidFill>
                  </a:tcPr>
                </a:tc>
                <a:tc>
                  <a:txBody>
                    <a:bodyPr/>
                    <a:lstStyle/>
                    <a:p>
                      <a:r>
                        <a:rPr sz="1275" b="1">
                          <a:solidFill>
                            <a:srgbClr val="C2413A"/>
                          </a:solidFill>
                          <a:latin typeface="Nimbus Sans"/>
                          <a:ea typeface="Nimbus Sans"/>
                          <a:cs typeface="Nimbus Sans"/>
                        </a:rPr>
                        <a:t>-$72</a:t>
                      </a:r>
                    </a:p>
                  </a:txBody>
                  <a:tcPr marL="95250" marR="76200" marT="95250" marB="76200" anchor="ctr">
                    <a:solidFill>
                      <a:srgbClr val="FFFFFF"/>
                    </a:solidFill>
                  </a:tcPr>
                </a:tc>
                <a:extLst>
                  <a:ext uri="{0D108BD9-81ED-4DB2-BD59-A6C34878D82A}">
                    <a16:rowId xmlns:a16="http://schemas.microsoft.com/office/drawing/2014/main" val="10003"/>
                  </a:ext>
                </a:extLst>
              </a:tr>
              <a:tr h="558165">
                <a:tc>
                  <a:txBody>
                    <a:bodyPr/>
                    <a:lstStyle/>
                    <a:p>
                      <a:r>
                        <a:rPr sz="1275">
                          <a:solidFill>
                            <a:srgbClr val="132238"/>
                          </a:solidFill>
                          <a:latin typeface="Nimbus Sans"/>
                          <a:ea typeface="Nimbus Sans"/>
                          <a:cs typeface="Nimbus Sans"/>
                        </a:rPr>
                        <a:t>Scholarship</a:t>
                      </a:r>
                    </a:p>
                  </a:txBody>
                  <a:tcPr marL="95250" marR="76200" marT="95250" marB="76200" anchor="ctr">
                    <a:solidFill>
                      <a:srgbClr val="F1F5F6"/>
                    </a:solidFill>
                  </a:tcPr>
                </a:tc>
                <a:tc>
                  <a:txBody>
                    <a:bodyPr/>
                    <a:lstStyle/>
                    <a:p>
                      <a:r>
                        <a:rPr sz="1275">
                          <a:solidFill>
                            <a:srgbClr val="132238"/>
                          </a:solidFill>
                          <a:latin typeface="Nimbus Sans"/>
                          <a:ea typeface="Nimbus Sans"/>
                          <a:cs typeface="Nimbus Sans"/>
                        </a:rPr>
                        <a:t>Scholarship</a:t>
                      </a:r>
                    </a:p>
                  </a:txBody>
                  <a:tcPr marL="95250" marR="76200" marT="95250" marB="76200" anchor="ctr">
                    <a:solidFill>
                      <a:srgbClr val="F1F5F6"/>
                    </a:solidFill>
                  </a:tcPr>
                </a:tc>
                <a:tc>
                  <a:txBody>
                    <a:bodyPr/>
                    <a:lstStyle/>
                    <a:p>
                      <a:r>
                        <a:rPr sz="1275">
                          <a:solidFill>
                            <a:srgbClr val="132238"/>
                          </a:solidFill>
                          <a:latin typeface="Nimbus Sans"/>
                          <a:ea typeface="Nimbus Sans"/>
                          <a:cs typeface="Nimbus Sans"/>
                        </a:rPr>
                        <a:t>Yearly</a:t>
                      </a:r>
                    </a:p>
                  </a:txBody>
                  <a:tcPr marL="95250" marR="76200" marT="95250" marB="76200" anchor="ctr">
                    <a:solidFill>
                      <a:srgbClr val="F1F5F6"/>
                    </a:solidFill>
                  </a:tcPr>
                </a:tc>
                <a:tc>
                  <a:txBody>
                    <a:bodyPr/>
                    <a:lstStyle/>
                    <a:p>
                      <a:r>
                        <a:rPr sz="1275">
                          <a:solidFill>
                            <a:srgbClr val="132238"/>
                          </a:solidFill>
                          <a:latin typeface="Nimbus Sans"/>
                          <a:ea typeface="Nimbus Sans"/>
                          <a:cs typeface="Nimbus Sans"/>
                        </a:rPr>
                        <a:t>Sept. 8</a:t>
                      </a:r>
                    </a:p>
                  </a:txBody>
                  <a:tcPr marL="95250" marR="76200" marT="95250" marB="76200" anchor="ctr">
                    <a:solidFill>
                      <a:srgbClr val="F1F5F6"/>
                    </a:solidFill>
                  </a:tcPr>
                </a:tc>
                <a:tc>
                  <a:txBody>
                    <a:bodyPr/>
                    <a:lstStyle/>
                    <a:p>
                      <a:r>
                        <a:rPr sz="1275" b="1" dirty="0">
                          <a:solidFill>
                            <a:srgbClr val="15803D"/>
                          </a:solidFill>
                          <a:latin typeface="Nimbus Sans"/>
                          <a:ea typeface="Nimbus Sans"/>
                          <a:cs typeface="Nimbus Sans"/>
                        </a:rPr>
                        <a:t>+$500</a:t>
                      </a:r>
                    </a:p>
                  </a:txBody>
                  <a:tcPr marL="95250" marR="76200" marT="95250" marB="76200" anchor="ctr">
                    <a:solidFill>
                      <a:srgbClr val="F1F5F6"/>
                    </a:solidFill>
                  </a:tcPr>
                </a:tc>
                <a:extLst>
                  <a:ext uri="{0D108BD9-81ED-4DB2-BD59-A6C34878D82A}">
                    <a16:rowId xmlns:a16="http://schemas.microsoft.com/office/drawing/2014/main" val="10004"/>
                  </a:ext>
                </a:extLst>
              </a:tr>
            </a:tbl>
          </a:graphicData>
        </a:graphic>
      </p:graphicFrame>
      <p:sp>
        <p:nvSpPr>
          <p:cNvPr id="7" name="Rectangle 6">
            <a:extLst>
              <a:ext uri="{FF2B5EF4-FFF2-40B4-BE49-F238E27FC236}">
                <a16:creationId xmlns:a16="http://schemas.microsoft.com/office/drawing/2014/main" id="{05A89682-4C24-4A43-80E2-C33E5E4786E4}"/>
              </a:ext>
            </a:extLst>
          </p:cNvPr>
          <p:cNvSpPr>
            <a:spLocks noGrp="1"/>
          </p:cNvSpPr>
          <p:nvPr/>
        </p:nvSpPr>
        <p:spPr>
          <a:xfrm>
            <a:off x="9201150" y="1952625"/>
            <a:ext cx="2190750" cy="285750"/>
          </a:xfrm>
          <a:prstGeom prst="rect">
            <a:avLst/>
          </a:prstGeom>
          <a:noFill/>
          <a:ln w="0">
            <a:noFill/>
          </a:ln>
        </p:spPr>
        <p:txBody>
          <a:bodyPr wrap="square" lIns="0" tIns="0" rIns="0" bIns="0" anchor="t">
            <a:noAutofit/>
          </a:bodyPr>
          <a:lstStyle/>
          <a:p>
            <a:pPr algn="l">
              <a:defRPr sz="1050" b="1">
                <a:solidFill>
                  <a:srgbClr val="0F766E"/>
                </a:solidFill>
                <a:latin typeface="Nimbus Sans"/>
                <a:ea typeface="Nimbus Sans"/>
                <a:cs typeface="Nimbus Sans"/>
              </a:defRPr>
            </a:pPr>
            <a:r>
              <a:rPr sz="1050" b="1">
                <a:solidFill>
                  <a:srgbClr val="0F766E"/>
                </a:solidFill>
                <a:latin typeface="Nimbus Sans"/>
                <a:ea typeface="Nimbus Sans"/>
                <a:cs typeface="Nimbus Sans"/>
              </a:rPr>
              <a:t>MANAGEMENT</a:t>
            </a:r>
          </a:p>
        </p:txBody>
      </p:sp>
      <p:sp>
        <p:nvSpPr>
          <p:cNvPr id="8" name="Rectangle: Rounded Corners 7">
            <a:extLst>
              <a:ext uri="{FF2B5EF4-FFF2-40B4-BE49-F238E27FC236}">
                <a16:creationId xmlns:a16="http://schemas.microsoft.com/office/drawing/2014/main" id="{F814B89E-6BB2-449B-85EA-EDA6265A23F7}"/>
              </a:ext>
            </a:extLst>
          </p:cNvPr>
          <p:cNvSpPr>
            <a:spLocks noGrp="1"/>
          </p:cNvSpPr>
          <p:nvPr/>
        </p:nvSpPr>
        <p:spPr>
          <a:xfrm>
            <a:off x="9096375" y="2333625"/>
            <a:ext cx="2486025" cy="1333500"/>
          </a:xfrm>
          <a:prstGeom prst="roundRect">
            <a:avLst>
              <a:gd name="adj" fmla="val 12857"/>
            </a:avLst>
          </a:prstGeom>
          <a:solidFill>
            <a:srgbClr val="D9F3EF"/>
          </a:solidFill>
          <a:ln w="9525">
            <a:solidFill>
              <a:srgbClr val="9DDDD3"/>
            </a:solidFill>
            <a:prstDash val="solid"/>
          </a:ln>
        </p:spPr>
        <p:txBody>
          <a:bodyPr/>
          <a:lstStyle/>
          <a:p>
            <a:endParaRPr lang="en-US"/>
          </a:p>
        </p:txBody>
      </p:sp>
      <p:sp>
        <p:nvSpPr>
          <p:cNvPr id="9" name="Rectangle 8">
            <a:extLst>
              <a:ext uri="{FF2B5EF4-FFF2-40B4-BE49-F238E27FC236}">
                <a16:creationId xmlns:a16="http://schemas.microsoft.com/office/drawing/2014/main" id="{C0385998-4B14-4462-8C6A-310781D7C956}"/>
              </a:ext>
            </a:extLst>
          </p:cNvPr>
          <p:cNvSpPr>
            <a:spLocks noGrp="1"/>
          </p:cNvSpPr>
          <p:nvPr/>
        </p:nvSpPr>
        <p:spPr>
          <a:xfrm>
            <a:off x="9296400" y="2543175"/>
            <a:ext cx="809625" cy="323850"/>
          </a:xfrm>
          <a:prstGeom prst="rect">
            <a:avLst/>
          </a:prstGeom>
          <a:noFill/>
          <a:ln w="0">
            <a:noFill/>
          </a:ln>
        </p:spPr>
        <p:txBody>
          <a:bodyPr wrap="square" lIns="0" tIns="0" rIns="0" bIns="0" anchor="ctr">
            <a:noAutofit/>
          </a:bodyPr>
          <a:lstStyle/>
          <a:p>
            <a:pPr algn="l">
              <a:defRPr sz="1875" b="1">
                <a:solidFill>
                  <a:srgbClr val="0F766E"/>
                </a:solidFill>
                <a:latin typeface="Nimbus Sans"/>
                <a:ea typeface="Nimbus Sans"/>
                <a:cs typeface="Nimbus Sans"/>
              </a:defRPr>
            </a:pPr>
            <a:r>
              <a:rPr sz="1875" b="1">
                <a:solidFill>
                  <a:srgbClr val="0F766E"/>
                </a:solidFill>
                <a:latin typeface="Nimbus Sans"/>
                <a:ea typeface="Nimbus Sans"/>
                <a:cs typeface="Nimbus Sans"/>
              </a:rPr>
              <a:t>Edit</a:t>
            </a:r>
          </a:p>
        </p:txBody>
      </p:sp>
      <p:sp>
        <p:nvSpPr>
          <p:cNvPr id="10" name="Rectangle 9">
            <a:extLst>
              <a:ext uri="{FF2B5EF4-FFF2-40B4-BE49-F238E27FC236}">
                <a16:creationId xmlns:a16="http://schemas.microsoft.com/office/drawing/2014/main" id="{2AAD80D9-2548-4812-8D4A-4A80E8EDB489}"/>
              </a:ext>
            </a:extLst>
          </p:cNvPr>
          <p:cNvSpPr>
            <a:spLocks noGrp="1"/>
          </p:cNvSpPr>
          <p:nvPr/>
        </p:nvSpPr>
        <p:spPr>
          <a:xfrm>
            <a:off x="9296400" y="2971800"/>
            <a:ext cx="2000250" cy="552450"/>
          </a:xfrm>
          <a:prstGeom prst="rect">
            <a:avLst/>
          </a:prstGeom>
          <a:noFill/>
          <a:ln w="0">
            <a:noFill/>
          </a:ln>
        </p:spPr>
        <p:txBody>
          <a:bodyPr wrap="square" lIns="0" tIns="0" rIns="0" bIns="0" anchor="t">
            <a:noAutofit/>
          </a:bodyPr>
          <a:lstStyle/>
          <a:p>
            <a:pPr algn="l">
              <a:lnSpc>
                <a:spcPct val="104000"/>
              </a:lnSpc>
              <a:buNone/>
              <a:defRPr sz="1275" b="0">
                <a:solidFill>
                  <a:srgbClr val="132238"/>
                </a:solidFill>
                <a:latin typeface="Nimbus Sans"/>
                <a:ea typeface="Nimbus Sans"/>
                <a:cs typeface="Nimbus Sans"/>
              </a:defRPr>
            </a:pPr>
            <a:r>
              <a:rPr sz="1275" b="0">
                <a:solidFill>
                  <a:srgbClr val="132238"/>
                </a:solidFill>
                <a:latin typeface="Nimbus Sans"/>
                <a:ea typeface="Nimbus Sans"/>
                <a:cs typeface="Nimbus Sans"/>
              </a:rPr>
              <a:t>Existing values open prefilled. Confirm saves the update.</a:t>
            </a:r>
          </a:p>
        </p:txBody>
      </p:sp>
      <p:sp>
        <p:nvSpPr>
          <p:cNvPr id="11" name="Rectangle: Rounded Corners 10">
            <a:extLst>
              <a:ext uri="{FF2B5EF4-FFF2-40B4-BE49-F238E27FC236}">
                <a16:creationId xmlns:a16="http://schemas.microsoft.com/office/drawing/2014/main" id="{8E853482-36BC-46DF-9F43-9E493ACA997D}"/>
              </a:ext>
            </a:extLst>
          </p:cNvPr>
          <p:cNvSpPr>
            <a:spLocks noGrp="1"/>
          </p:cNvSpPr>
          <p:nvPr/>
        </p:nvSpPr>
        <p:spPr>
          <a:xfrm>
            <a:off x="9096375" y="3829050"/>
            <a:ext cx="2486025" cy="1333500"/>
          </a:xfrm>
          <a:prstGeom prst="roundRect">
            <a:avLst>
              <a:gd name="adj" fmla="val 12857"/>
            </a:avLst>
          </a:prstGeom>
          <a:solidFill>
            <a:srgbClr val="FFE8E1"/>
          </a:solidFill>
          <a:ln w="9525">
            <a:solidFill>
              <a:srgbClr val="FFC5B7"/>
            </a:solidFill>
            <a:prstDash val="solid"/>
          </a:ln>
        </p:spPr>
        <p:txBody>
          <a:bodyPr/>
          <a:lstStyle/>
          <a:p>
            <a:endParaRPr lang="en-US"/>
          </a:p>
        </p:txBody>
      </p:sp>
      <p:sp>
        <p:nvSpPr>
          <p:cNvPr id="12" name="Rectangle 11">
            <a:extLst>
              <a:ext uri="{FF2B5EF4-FFF2-40B4-BE49-F238E27FC236}">
                <a16:creationId xmlns:a16="http://schemas.microsoft.com/office/drawing/2014/main" id="{5EFA93A9-96D9-40AC-A942-D34C2550306A}"/>
              </a:ext>
            </a:extLst>
          </p:cNvPr>
          <p:cNvSpPr>
            <a:spLocks noGrp="1"/>
          </p:cNvSpPr>
          <p:nvPr/>
        </p:nvSpPr>
        <p:spPr>
          <a:xfrm>
            <a:off x="9296400" y="4038600"/>
            <a:ext cx="952500" cy="323850"/>
          </a:xfrm>
          <a:prstGeom prst="rect">
            <a:avLst/>
          </a:prstGeom>
          <a:noFill/>
          <a:ln w="0">
            <a:noFill/>
          </a:ln>
        </p:spPr>
        <p:txBody>
          <a:bodyPr wrap="square" lIns="0" tIns="0" rIns="0" bIns="0" anchor="ctr">
            <a:noAutofit/>
          </a:bodyPr>
          <a:lstStyle/>
          <a:p>
            <a:pPr algn="l">
              <a:defRPr sz="1875" b="1">
                <a:solidFill>
                  <a:srgbClr val="C2413A"/>
                </a:solidFill>
                <a:latin typeface="Nimbus Sans"/>
                <a:ea typeface="Nimbus Sans"/>
                <a:cs typeface="Nimbus Sans"/>
              </a:defRPr>
            </a:pPr>
            <a:r>
              <a:rPr sz="1875" b="1">
                <a:solidFill>
                  <a:srgbClr val="C2413A"/>
                </a:solidFill>
                <a:latin typeface="Nimbus Sans"/>
                <a:ea typeface="Nimbus Sans"/>
                <a:cs typeface="Nimbus Sans"/>
              </a:rPr>
              <a:t>Remove</a:t>
            </a:r>
          </a:p>
        </p:txBody>
      </p:sp>
      <p:sp>
        <p:nvSpPr>
          <p:cNvPr id="13" name="Rectangle 12">
            <a:extLst>
              <a:ext uri="{FF2B5EF4-FFF2-40B4-BE49-F238E27FC236}">
                <a16:creationId xmlns:a16="http://schemas.microsoft.com/office/drawing/2014/main" id="{163611F2-D1BC-4D5B-BC2A-541FD895FE2A}"/>
              </a:ext>
            </a:extLst>
          </p:cNvPr>
          <p:cNvSpPr>
            <a:spLocks noGrp="1"/>
          </p:cNvSpPr>
          <p:nvPr/>
        </p:nvSpPr>
        <p:spPr>
          <a:xfrm>
            <a:off x="9296400" y="4467225"/>
            <a:ext cx="2000250" cy="552450"/>
          </a:xfrm>
          <a:prstGeom prst="rect">
            <a:avLst/>
          </a:prstGeom>
          <a:noFill/>
          <a:ln w="0">
            <a:noFill/>
          </a:ln>
        </p:spPr>
        <p:txBody>
          <a:bodyPr wrap="square" lIns="0" tIns="0" rIns="0" bIns="0" anchor="t">
            <a:noAutofit/>
          </a:bodyPr>
          <a:lstStyle/>
          <a:p>
            <a:pPr algn="l">
              <a:lnSpc>
                <a:spcPct val="104000"/>
              </a:lnSpc>
              <a:buNone/>
              <a:defRPr sz="1275" b="0">
                <a:solidFill>
                  <a:srgbClr val="132238"/>
                </a:solidFill>
                <a:latin typeface="Nimbus Sans"/>
                <a:ea typeface="Nimbus Sans"/>
                <a:cs typeface="Nimbus Sans"/>
              </a:defRPr>
            </a:pPr>
            <a:r>
              <a:rPr sz="1275" b="0">
                <a:solidFill>
                  <a:srgbClr val="132238"/>
                </a:solidFill>
                <a:latin typeface="Nimbus Sans"/>
                <a:ea typeface="Nimbus Sans"/>
                <a:cs typeface="Nimbus Sans"/>
              </a:rPr>
              <a:t>A confirmation popup prevents accidental deletion.</a:t>
            </a:r>
          </a:p>
        </p:txBody>
      </p:sp>
      <p:graphicFrame>
        <p:nvGraphicFramePr>
          <p:cNvPr id="22" name="Table 21">
            <a:extLst>
              <a:ext uri="{FF2B5EF4-FFF2-40B4-BE49-F238E27FC236}">
                <a16:creationId xmlns:a16="http://schemas.microsoft.com/office/drawing/2014/main" id="{B53087E2-53AD-4705-CB82-ECD9636C8BA0}"/>
              </a:ext>
            </a:extLst>
          </p:cNvPr>
          <p:cNvGraphicFramePr/>
          <p:nvPr>
            <p:extLst>
              <p:ext uri="{D42A27DB-BD31-4B8C-83A1-F6EECF244321}">
                <p14:modId xmlns:p14="http://schemas.microsoft.com/office/powerpoint/2010/main" val="3566901877"/>
              </p:ext>
            </p:extLst>
          </p:nvPr>
        </p:nvGraphicFramePr>
        <p:xfrm>
          <a:off x="609599" y="1530667"/>
          <a:ext cx="3905250" cy="558165"/>
        </p:xfrm>
        <a:graphic>
          <a:graphicData uri="http://schemas.openxmlformats.org/drawingml/2006/table">
            <a:tbl>
              <a:tblPr/>
              <a:tblGrid>
                <a:gridCol w="1819276">
                  <a:extLst>
                    <a:ext uri="{9D8B030D-6E8A-4147-A177-3AD203B41FA5}">
                      <a16:colId xmlns:a16="http://schemas.microsoft.com/office/drawing/2014/main" val="20000"/>
                    </a:ext>
                  </a:extLst>
                </a:gridCol>
                <a:gridCol w="2085974">
                  <a:extLst>
                    <a:ext uri="{9D8B030D-6E8A-4147-A177-3AD203B41FA5}">
                      <a16:colId xmlns:a16="http://schemas.microsoft.com/office/drawing/2014/main" val="20001"/>
                    </a:ext>
                  </a:extLst>
                </a:gridCol>
              </a:tblGrid>
              <a:tr h="558165">
                <a:tc>
                  <a:txBody>
                    <a:bodyPr/>
                    <a:lstStyle/>
                    <a:p>
                      <a:pPr algn="ctr"/>
                      <a:r>
                        <a:rPr lang="en-US" sz="2000" b="1" dirty="0">
                          <a:solidFill>
                            <a:srgbClr val="FFFFFF"/>
                          </a:solidFill>
                          <a:latin typeface="Nimbus Sans"/>
                          <a:ea typeface="Nimbus Sans"/>
                          <a:cs typeface="Nimbus Sans"/>
                        </a:rPr>
                        <a:t>Balance</a:t>
                      </a:r>
                      <a:endParaRPr sz="2000" b="1" dirty="0">
                        <a:solidFill>
                          <a:srgbClr val="FFFFFF"/>
                        </a:solidFill>
                        <a:latin typeface="Nimbus Sans"/>
                        <a:ea typeface="Nimbus Sans"/>
                        <a:cs typeface="Nimbus Sans"/>
                      </a:endParaRPr>
                    </a:p>
                  </a:txBody>
                  <a:tcPr marL="95250" marR="76200" marT="95250" marB="76200" anchor="ctr">
                    <a:solidFill>
                      <a:srgbClr val="102A43"/>
                    </a:solidFill>
                  </a:tcPr>
                </a:tc>
                <a:tc>
                  <a:txBody>
                    <a:bodyPr/>
                    <a:lstStyle/>
                    <a:p>
                      <a:pPr algn="r"/>
                      <a:r>
                        <a:rPr lang="en-US" sz="1200" b="1" dirty="0">
                          <a:solidFill>
                            <a:schemeClr val="tx1"/>
                          </a:solidFill>
                          <a:latin typeface="Nimbus Sans"/>
                          <a:ea typeface="Nimbus Sans"/>
                          <a:cs typeface="Nimbus Sans"/>
                        </a:rPr>
                        <a:t>Current:                       </a:t>
                      </a:r>
                      <a:r>
                        <a:rPr lang="en-US" sz="2000" b="1" dirty="0">
                          <a:solidFill>
                            <a:srgbClr val="218647"/>
                          </a:solidFill>
                          <a:latin typeface="Nimbus Sans"/>
                          <a:ea typeface="Nimbus Sans"/>
                          <a:cs typeface="Nimbus Sans"/>
                        </a:rPr>
                        <a:t>1,578</a:t>
                      </a:r>
                      <a:endParaRPr sz="2000" b="1" dirty="0">
                        <a:solidFill>
                          <a:srgbClr val="218647"/>
                        </a:solidFill>
                        <a:latin typeface="Nimbus Sans"/>
                        <a:ea typeface="Nimbus Sans"/>
                        <a:cs typeface="Nimbus Sans"/>
                      </a:endParaRPr>
                    </a:p>
                  </a:txBody>
                  <a:tcPr marL="95250" marR="76200" marT="95250" marB="76200" anchor="ct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971914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C259ED5E-8115-43C2-9C6A-739B464ABBDD}"/>
              </a:ext>
            </a:extLst>
          </p:cNvPr>
          <p:cNvSpPr>
            <a:spLocks noGrp="1"/>
          </p:cNvSpPr>
          <p:nvPr/>
        </p:nvSpPr>
        <p:spPr>
          <a:xfrm>
            <a:off x="0" y="0"/>
            <a:ext cx="12192000" cy="1028700"/>
          </a:xfrm>
          <a:prstGeom prst="rect">
            <a:avLst/>
          </a:prstGeom>
          <a:solidFill>
            <a:srgbClr val="081A2D"/>
          </a:solidFill>
          <a:ln w="0">
            <a:noFill/>
          </a:ln>
        </p:spPr>
        <p:txBody>
          <a:bodyPr/>
          <a:lstStyle/>
          <a:p>
            <a:endParaRPr lang="en-US"/>
          </a:p>
        </p:txBody>
      </p:sp>
      <p:sp>
        <p:nvSpPr>
          <p:cNvPr id="3" name="Rectangle 2">
            <a:extLst>
              <a:ext uri="{FF2B5EF4-FFF2-40B4-BE49-F238E27FC236}">
                <a16:creationId xmlns:a16="http://schemas.microsoft.com/office/drawing/2014/main" id="{0643C965-C0F1-4F57-B79A-B176B4A31150}"/>
              </a:ext>
            </a:extLst>
          </p:cNvPr>
          <p:cNvSpPr>
            <a:spLocks noGrp="1"/>
          </p:cNvSpPr>
          <p:nvPr/>
        </p:nvSpPr>
        <p:spPr>
          <a:xfrm>
            <a:off x="1181100" y="209550"/>
            <a:ext cx="9906000" cy="552450"/>
          </a:xfrm>
          <a:prstGeom prst="rect">
            <a:avLst/>
          </a:prstGeom>
          <a:noFill/>
          <a:ln w="0">
            <a:noFill/>
          </a:ln>
        </p:spPr>
        <p:txBody>
          <a:bodyPr wrap="square" lIns="57150" tIns="47625" rIns="57150" bIns="47625" anchor="ctr">
            <a:noAutofit/>
          </a:bodyPr>
          <a:lstStyle/>
          <a:p>
            <a:pPr algn="l">
              <a:defRPr sz="2700" b="1">
                <a:solidFill>
                  <a:srgbClr val="FFFFFF"/>
                </a:solidFill>
                <a:latin typeface="Nimbus Sans"/>
                <a:ea typeface="Nimbus Sans"/>
                <a:cs typeface="Nimbus Sans"/>
              </a:defRPr>
            </a:pPr>
            <a:r>
              <a:rPr sz="2700" b="1">
                <a:solidFill>
                  <a:srgbClr val="FFFFFF"/>
                </a:solidFill>
                <a:latin typeface="Nimbus Sans"/>
                <a:ea typeface="Nimbus Sans"/>
                <a:cs typeface="Nimbus Sans"/>
              </a:rPr>
              <a:t>Finding and organizing transactions</a:t>
            </a:r>
          </a:p>
        </p:txBody>
      </p:sp>
      <p:sp>
        <p:nvSpPr>
          <p:cNvPr id="4" name="Rectangle 3">
            <a:extLst>
              <a:ext uri="{FF2B5EF4-FFF2-40B4-BE49-F238E27FC236}">
                <a16:creationId xmlns:a16="http://schemas.microsoft.com/office/drawing/2014/main" id="{D9A0E599-86D5-467F-ADD6-0ED9B69548E6}"/>
              </a:ext>
            </a:extLst>
          </p:cNvPr>
          <p:cNvSpPr>
            <a:spLocks noGrp="1"/>
          </p:cNvSpPr>
          <p:nvPr/>
        </p:nvSpPr>
        <p:spPr>
          <a:xfrm>
            <a:off x="609600" y="838200"/>
            <a:ext cx="781050" cy="47625"/>
          </a:xfrm>
          <a:prstGeom prst="rect">
            <a:avLst/>
          </a:prstGeom>
          <a:solidFill>
            <a:srgbClr val="FF7A59"/>
          </a:solidFill>
          <a:ln w="0">
            <a:noFill/>
          </a:ln>
        </p:spPr>
        <p:txBody>
          <a:bodyPr/>
          <a:lstStyle/>
          <a:p>
            <a:endParaRPr lang="en-US"/>
          </a:p>
        </p:txBody>
      </p:sp>
      <p:sp>
        <p:nvSpPr>
          <p:cNvPr id="6" name="Rectangle: Rounded Corners 5">
            <a:extLst>
              <a:ext uri="{FF2B5EF4-FFF2-40B4-BE49-F238E27FC236}">
                <a16:creationId xmlns:a16="http://schemas.microsoft.com/office/drawing/2014/main" id="{A94CE723-BBF7-4BCC-B88A-A341D4570AB0}"/>
              </a:ext>
            </a:extLst>
          </p:cNvPr>
          <p:cNvSpPr>
            <a:spLocks noGrp="1"/>
          </p:cNvSpPr>
          <p:nvPr/>
        </p:nvSpPr>
        <p:spPr>
          <a:xfrm>
            <a:off x="609600" y="1885950"/>
            <a:ext cx="10972800" cy="3886200"/>
          </a:xfrm>
          <a:prstGeom prst="roundRect">
            <a:avLst>
              <a:gd name="adj" fmla="val 4902"/>
            </a:avLst>
          </a:prstGeom>
          <a:solidFill>
            <a:srgbClr val="FFFFFF"/>
          </a:solidFill>
          <a:ln w="9525">
            <a:solidFill>
              <a:srgbClr val="D7DF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Straight Connector 6">
            <a:extLst>
              <a:ext uri="{FF2B5EF4-FFF2-40B4-BE49-F238E27FC236}">
                <a16:creationId xmlns:a16="http://schemas.microsoft.com/office/drawing/2014/main" id="{3BC8AD48-1FB1-40B9-BC85-E8B8115EBC2E}"/>
              </a:ext>
            </a:extLst>
          </p:cNvPr>
          <p:cNvSpPr>
            <a:spLocks noGrp="1"/>
          </p:cNvSpPr>
          <p:nvPr/>
        </p:nvSpPr>
        <p:spPr>
          <a:xfrm>
            <a:off x="4267200" y="2152650"/>
            <a:ext cx="0" cy="3314700"/>
          </a:xfrm>
          <a:prstGeom prst="line">
            <a:avLst/>
          </a:prstGeom>
          <a:noFill/>
          <a:ln w="9525">
            <a:solidFill>
              <a:srgbClr val="D7DFE5"/>
            </a:solidFill>
            <a:prstDash val="solid"/>
          </a:ln>
        </p:spPr>
        <p:txBody>
          <a:bodyPr/>
          <a:lstStyle/>
          <a:p>
            <a:endParaRPr lang="en-US"/>
          </a:p>
        </p:txBody>
      </p:sp>
      <p:sp>
        <p:nvSpPr>
          <p:cNvPr id="8" name="Straight Connector 7">
            <a:extLst>
              <a:ext uri="{FF2B5EF4-FFF2-40B4-BE49-F238E27FC236}">
                <a16:creationId xmlns:a16="http://schemas.microsoft.com/office/drawing/2014/main" id="{FB43719D-125C-4934-AC7F-E5DBC978D366}"/>
              </a:ext>
            </a:extLst>
          </p:cNvPr>
          <p:cNvSpPr>
            <a:spLocks noGrp="1"/>
          </p:cNvSpPr>
          <p:nvPr/>
        </p:nvSpPr>
        <p:spPr>
          <a:xfrm>
            <a:off x="7924800" y="2152650"/>
            <a:ext cx="0" cy="3314700"/>
          </a:xfrm>
          <a:prstGeom prst="line">
            <a:avLst/>
          </a:prstGeom>
          <a:noFill/>
          <a:ln w="9525">
            <a:solidFill>
              <a:srgbClr val="D7DFE5"/>
            </a:solidFill>
            <a:prstDash val="solid"/>
          </a:ln>
        </p:spPr>
        <p:txBody>
          <a:bodyPr/>
          <a:lstStyle/>
          <a:p>
            <a:endParaRPr lang="en-US"/>
          </a:p>
        </p:txBody>
      </p:sp>
      <p:sp>
        <p:nvSpPr>
          <p:cNvPr id="9" name="Rectangle: Rounded Corners 8">
            <a:extLst>
              <a:ext uri="{FF2B5EF4-FFF2-40B4-BE49-F238E27FC236}">
                <a16:creationId xmlns:a16="http://schemas.microsoft.com/office/drawing/2014/main" id="{634B6EFB-952F-4EBC-B844-943D55601DFA}"/>
              </a:ext>
            </a:extLst>
          </p:cNvPr>
          <p:cNvSpPr>
            <a:spLocks noGrp="1"/>
          </p:cNvSpPr>
          <p:nvPr/>
        </p:nvSpPr>
        <p:spPr>
          <a:xfrm>
            <a:off x="876300" y="2152650"/>
            <a:ext cx="819150" cy="323850"/>
          </a:xfrm>
          <a:prstGeom prst="roundRect">
            <a:avLst>
              <a:gd name="adj" fmla="val 50000"/>
            </a:avLst>
          </a:prstGeom>
          <a:solidFill>
            <a:srgbClr val="D9F3EF"/>
          </a:solidFill>
          <a:ln w="0">
            <a:noFill/>
          </a:ln>
        </p:spPr>
        <p:txBody>
          <a:bodyPr wrap="square" lIns="76200" tIns="19050" rIns="76200" bIns="19050" anchor="ctr">
            <a:noAutofit/>
          </a:bodyPr>
          <a:lstStyle/>
          <a:p>
            <a:pPr algn="ctr">
              <a:defRPr sz="1125" b="1">
                <a:solidFill>
                  <a:srgbClr val="0F766E"/>
                </a:solidFill>
                <a:latin typeface="Nimbus Sans"/>
                <a:ea typeface="Nimbus Sans"/>
                <a:cs typeface="Nimbus Sans"/>
              </a:defRPr>
            </a:pPr>
            <a:r>
              <a:rPr sz="1125" b="1" dirty="0">
                <a:solidFill>
                  <a:srgbClr val="0F766E"/>
                </a:solidFill>
                <a:latin typeface="Nimbus Sans"/>
                <a:ea typeface="Nimbus Sans"/>
                <a:cs typeface="Nimbus Sans"/>
              </a:rPr>
              <a:t>SORT</a:t>
            </a:r>
          </a:p>
        </p:txBody>
      </p:sp>
      <p:sp>
        <p:nvSpPr>
          <p:cNvPr id="10" name="Rectangle 9">
            <a:extLst>
              <a:ext uri="{FF2B5EF4-FFF2-40B4-BE49-F238E27FC236}">
                <a16:creationId xmlns:a16="http://schemas.microsoft.com/office/drawing/2014/main" id="{5C1FCC41-7202-48AE-BC47-CF7C2FE0ECF4}"/>
              </a:ext>
            </a:extLst>
          </p:cNvPr>
          <p:cNvSpPr>
            <a:spLocks noGrp="1"/>
          </p:cNvSpPr>
          <p:nvPr/>
        </p:nvSpPr>
        <p:spPr>
          <a:xfrm>
            <a:off x="876300" y="2647950"/>
            <a:ext cx="2952750" cy="381000"/>
          </a:xfrm>
          <a:prstGeom prst="rect">
            <a:avLst/>
          </a:prstGeom>
          <a:noFill/>
          <a:ln w="0">
            <a:noFill/>
          </a:ln>
        </p:spPr>
        <p:txBody>
          <a:bodyPr wrap="square" lIns="0" tIns="0" rIns="0" bIns="0" anchor="t">
            <a:noAutofit/>
          </a:bodyPr>
          <a:lstStyle/>
          <a:p>
            <a:pPr algn="l">
              <a:defRPr sz="1875" b="1">
                <a:solidFill>
                  <a:srgbClr val="102A43"/>
                </a:solidFill>
                <a:latin typeface="Nimbus Sans"/>
                <a:ea typeface="Nimbus Sans"/>
                <a:cs typeface="Nimbus Sans"/>
              </a:defRPr>
            </a:pPr>
            <a:r>
              <a:rPr sz="1875" b="1" dirty="0">
                <a:solidFill>
                  <a:srgbClr val="102A43"/>
                </a:solidFill>
                <a:latin typeface="Nimbus Sans"/>
                <a:ea typeface="Nimbus Sans"/>
                <a:cs typeface="Nimbus Sans"/>
              </a:rPr>
              <a:t>Date is the default</a:t>
            </a:r>
          </a:p>
        </p:txBody>
      </p:sp>
      <p:sp>
        <p:nvSpPr>
          <p:cNvPr id="11" name="Rectangle 10">
            <a:extLst>
              <a:ext uri="{FF2B5EF4-FFF2-40B4-BE49-F238E27FC236}">
                <a16:creationId xmlns:a16="http://schemas.microsoft.com/office/drawing/2014/main" id="{B4B5F26C-BB68-4B3C-9754-90CAEF9734EA}"/>
              </a:ext>
            </a:extLst>
          </p:cNvPr>
          <p:cNvSpPr>
            <a:spLocks noGrp="1"/>
          </p:cNvSpPr>
          <p:nvPr/>
        </p:nvSpPr>
        <p:spPr>
          <a:xfrm>
            <a:off x="781052" y="3146390"/>
            <a:ext cx="3219449" cy="1308170"/>
          </a:xfrm>
          <a:prstGeom prst="rect">
            <a:avLst/>
          </a:prstGeom>
          <a:noFill/>
          <a:ln w="0">
            <a:noFill/>
          </a:ln>
        </p:spPr>
        <p:txBody>
          <a:bodyPr wrap="square" lIns="0" tIns="0" rIns="0" bIns="0" anchor="t">
            <a:noAutofit/>
          </a:bodyPr>
          <a:lstStyle/>
          <a:p>
            <a:pPr marL="342900" indent="-342900" algn="l">
              <a:lnSpc>
                <a:spcPct val="105000"/>
              </a:lnSpc>
              <a:buFont typeface="Arial" panose="020B0604020202020204" pitchFamily="34" charset="0"/>
              <a:buChar char="•"/>
              <a:defRPr sz="1425" b="0">
                <a:solidFill>
                  <a:srgbClr val="5B6B7E"/>
                </a:solidFill>
                <a:latin typeface="Nimbus Sans"/>
                <a:ea typeface="Nimbus Sans"/>
                <a:cs typeface="Nimbus Sans"/>
              </a:defRPr>
            </a:pPr>
            <a:r>
              <a:rPr sz="2000" b="0" dirty="0">
                <a:solidFill>
                  <a:srgbClr val="5B6B7E"/>
                </a:solidFill>
                <a:latin typeface="Nimbus Sans"/>
                <a:ea typeface="Nimbus Sans"/>
                <a:cs typeface="Nimbus Sans"/>
              </a:rPr>
              <a:t>Newest records appear first</a:t>
            </a:r>
            <a:endParaRPr lang="en-US" sz="2000" b="0" dirty="0">
              <a:solidFill>
                <a:srgbClr val="5B6B7E"/>
              </a:solidFill>
              <a:latin typeface="Nimbus Sans"/>
              <a:ea typeface="Nimbus Sans"/>
              <a:cs typeface="Nimbus Sans"/>
            </a:endParaRPr>
          </a:p>
          <a:p>
            <a:pPr marL="342900" indent="-342900" algn="l">
              <a:lnSpc>
                <a:spcPct val="105000"/>
              </a:lnSpc>
              <a:buFont typeface="Arial" panose="020B0604020202020204" pitchFamily="34" charset="0"/>
              <a:buChar char="•"/>
              <a:defRPr sz="1425" b="0">
                <a:solidFill>
                  <a:srgbClr val="5B6B7E"/>
                </a:solidFill>
                <a:latin typeface="Nimbus Sans"/>
                <a:ea typeface="Nimbus Sans"/>
                <a:cs typeface="Nimbus Sans"/>
              </a:defRPr>
            </a:pPr>
            <a:endParaRPr lang="en-US" sz="2000" dirty="0">
              <a:solidFill>
                <a:srgbClr val="5B6B7E"/>
              </a:solidFill>
              <a:latin typeface="Nimbus Sans"/>
              <a:ea typeface="Nimbus Sans"/>
              <a:cs typeface="Nimbus Sans"/>
            </a:endParaRPr>
          </a:p>
          <a:p>
            <a:pPr marL="342900" indent="-342900" algn="l">
              <a:lnSpc>
                <a:spcPct val="105000"/>
              </a:lnSpc>
              <a:buFont typeface="Arial" panose="020B0604020202020204" pitchFamily="34" charset="0"/>
              <a:buChar char="•"/>
              <a:defRPr sz="1425" b="0">
                <a:solidFill>
                  <a:srgbClr val="5B6B7E"/>
                </a:solidFill>
                <a:latin typeface="Nimbus Sans"/>
                <a:ea typeface="Nimbus Sans"/>
                <a:cs typeface="Nimbus Sans"/>
              </a:defRPr>
            </a:pPr>
            <a:r>
              <a:rPr lang="en-US" sz="2000" dirty="0">
                <a:solidFill>
                  <a:srgbClr val="5B6B7E"/>
                </a:solidFill>
                <a:latin typeface="Nimbus Sans"/>
                <a:ea typeface="Nimbus Sans"/>
                <a:cs typeface="Nimbus Sans"/>
              </a:rPr>
              <a:t>S</a:t>
            </a:r>
            <a:r>
              <a:rPr lang="en-US" sz="2000" b="0" dirty="0">
                <a:solidFill>
                  <a:srgbClr val="5B6B7E"/>
                </a:solidFill>
                <a:latin typeface="Nimbus Sans"/>
                <a:ea typeface="Nimbus Sans"/>
                <a:cs typeface="Nimbus Sans"/>
              </a:rPr>
              <a:t>ort by </a:t>
            </a:r>
            <a:endParaRPr sz="2000" b="0" dirty="0">
              <a:solidFill>
                <a:srgbClr val="5B6B7E"/>
              </a:solidFill>
              <a:latin typeface="Nimbus Sans"/>
              <a:ea typeface="Nimbus Sans"/>
              <a:cs typeface="Nimbus Sans"/>
            </a:endParaRPr>
          </a:p>
        </p:txBody>
      </p:sp>
      <p:sp>
        <p:nvSpPr>
          <p:cNvPr id="12" name="Rectangle: Rounded Corners 11">
            <a:extLst>
              <a:ext uri="{FF2B5EF4-FFF2-40B4-BE49-F238E27FC236}">
                <a16:creationId xmlns:a16="http://schemas.microsoft.com/office/drawing/2014/main" id="{7379536C-3EF4-4165-B084-45C802D44F02}"/>
              </a:ext>
            </a:extLst>
          </p:cNvPr>
          <p:cNvSpPr>
            <a:spLocks noGrp="1"/>
          </p:cNvSpPr>
          <p:nvPr/>
        </p:nvSpPr>
        <p:spPr>
          <a:xfrm>
            <a:off x="876300" y="4610100"/>
            <a:ext cx="2381250" cy="457200"/>
          </a:xfrm>
          <a:prstGeom prst="roundRect">
            <a:avLst>
              <a:gd name="adj" fmla="val 50000"/>
            </a:avLst>
          </a:prstGeom>
          <a:solidFill>
            <a:srgbClr val="0F766E"/>
          </a:solidFill>
          <a:ln w="0">
            <a:noFill/>
          </a:ln>
        </p:spPr>
        <p:txBody>
          <a:bodyPr wrap="square" lIns="57150" tIns="47625" rIns="57150" bIns="47625" anchor="ctr">
            <a:noAutofit/>
          </a:bodyPr>
          <a:lstStyle/>
          <a:p>
            <a:pPr algn="ctr">
              <a:defRPr sz="1350" b="1">
                <a:solidFill>
                  <a:srgbClr val="FFFFFF"/>
                </a:solidFill>
                <a:latin typeface="Nimbus Sans"/>
                <a:ea typeface="Nimbus Sans"/>
                <a:cs typeface="Nimbus Sans"/>
              </a:defRPr>
            </a:pPr>
            <a:r>
              <a:rPr sz="1350" b="1">
                <a:solidFill>
                  <a:srgbClr val="FFFFFF"/>
                </a:solidFill>
                <a:latin typeface="Nimbus Sans"/>
                <a:ea typeface="Nimbus Sans"/>
                <a:cs typeface="Nimbus Sans"/>
              </a:rPr>
              <a:t>Reverse order</a:t>
            </a:r>
          </a:p>
        </p:txBody>
      </p:sp>
      <p:sp>
        <p:nvSpPr>
          <p:cNvPr id="14" name="Rectangle: Rounded Corners 13">
            <a:extLst>
              <a:ext uri="{FF2B5EF4-FFF2-40B4-BE49-F238E27FC236}">
                <a16:creationId xmlns:a16="http://schemas.microsoft.com/office/drawing/2014/main" id="{900FBA00-E026-47C5-A25B-4B6DFA56A34C}"/>
              </a:ext>
            </a:extLst>
          </p:cNvPr>
          <p:cNvSpPr>
            <a:spLocks noGrp="1"/>
          </p:cNvSpPr>
          <p:nvPr/>
        </p:nvSpPr>
        <p:spPr>
          <a:xfrm>
            <a:off x="4533900" y="2152650"/>
            <a:ext cx="895350" cy="323850"/>
          </a:xfrm>
          <a:prstGeom prst="roundRect">
            <a:avLst>
              <a:gd name="adj" fmla="val 50000"/>
            </a:avLst>
          </a:prstGeom>
          <a:solidFill>
            <a:srgbClr val="FFE8E1"/>
          </a:solidFill>
          <a:ln w="0">
            <a:noFill/>
          </a:ln>
        </p:spPr>
        <p:txBody>
          <a:bodyPr wrap="square" lIns="76200" tIns="19050" rIns="76200" bIns="19050" anchor="ctr">
            <a:noAutofit/>
          </a:bodyPr>
          <a:lstStyle/>
          <a:p>
            <a:pPr algn="ctr">
              <a:defRPr sz="1125" b="1">
                <a:solidFill>
                  <a:srgbClr val="C2413A"/>
                </a:solidFill>
                <a:latin typeface="Nimbus Sans"/>
                <a:ea typeface="Nimbus Sans"/>
                <a:cs typeface="Nimbus Sans"/>
              </a:defRPr>
            </a:pPr>
            <a:r>
              <a:rPr sz="1125" b="1">
                <a:solidFill>
                  <a:srgbClr val="C2413A"/>
                </a:solidFill>
                <a:latin typeface="Nimbus Sans"/>
                <a:ea typeface="Nimbus Sans"/>
                <a:cs typeface="Nimbus Sans"/>
              </a:rPr>
              <a:t>FILTER</a:t>
            </a:r>
          </a:p>
        </p:txBody>
      </p:sp>
      <p:sp>
        <p:nvSpPr>
          <p:cNvPr id="15" name="Rectangle 14">
            <a:extLst>
              <a:ext uri="{FF2B5EF4-FFF2-40B4-BE49-F238E27FC236}">
                <a16:creationId xmlns:a16="http://schemas.microsoft.com/office/drawing/2014/main" id="{9CFD1AD1-0A16-4095-8AC7-62D3B1020C6E}"/>
              </a:ext>
            </a:extLst>
          </p:cNvPr>
          <p:cNvSpPr>
            <a:spLocks noGrp="1"/>
          </p:cNvSpPr>
          <p:nvPr/>
        </p:nvSpPr>
        <p:spPr>
          <a:xfrm>
            <a:off x="4533900" y="2647950"/>
            <a:ext cx="2952750" cy="609600"/>
          </a:xfrm>
          <a:prstGeom prst="rect">
            <a:avLst/>
          </a:prstGeom>
          <a:noFill/>
          <a:ln w="0">
            <a:noFill/>
          </a:ln>
        </p:spPr>
        <p:txBody>
          <a:bodyPr wrap="square" lIns="0" tIns="0" rIns="0" bIns="0" anchor="t">
            <a:noAutofit/>
          </a:bodyPr>
          <a:lstStyle/>
          <a:p>
            <a:pPr algn="l">
              <a:lnSpc>
                <a:spcPct val="100000"/>
              </a:lnSpc>
              <a:buNone/>
              <a:defRPr sz="1875" b="1">
                <a:solidFill>
                  <a:srgbClr val="102A43"/>
                </a:solidFill>
                <a:latin typeface="Nimbus Sans"/>
                <a:ea typeface="Nimbus Sans"/>
                <a:cs typeface="Nimbus Sans"/>
              </a:defRPr>
            </a:pPr>
            <a:r>
              <a:rPr sz="1875" b="1">
                <a:solidFill>
                  <a:srgbClr val="102A43"/>
                </a:solidFill>
                <a:latin typeface="Nimbus Sans"/>
                <a:ea typeface="Nimbus Sans"/>
                <a:cs typeface="Nimbus Sans"/>
              </a:rPr>
              <a:t>Expense + income categories</a:t>
            </a:r>
          </a:p>
        </p:txBody>
      </p:sp>
      <p:sp>
        <p:nvSpPr>
          <p:cNvPr id="16" name="Rectangle 15">
            <a:extLst>
              <a:ext uri="{FF2B5EF4-FFF2-40B4-BE49-F238E27FC236}">
                <a16:creationId xmlns:a16="http://schemas.microsoft.com/office/drawing/2014/main" id="{409E23DB-F9DE-4C33-A522-87219BBB9C39}"/>
              </a:ext>
            </a:extLst>
          </p:cNvPr>
          <p:cNvSpPr>
            <a:spLocks noGrp="1"/>
          </p:cNvSpPr>
          <p:nvPr/>
        </p:nvSpPr>
        <p:spPr>
          <a:xfrm>
            <a:off x="4619625" y="3137807"/>
            <a:ext cx="2952750" cy="1028700"/>
          </a:xfrm>
          <a:prstGeom prst="rect">
            <a:avLst/>
          </a:prstGeom>
          <a:noFill/>
          <a:ln w="0">
            <a:noFill/>
          </a:ln>
        </p:spPr>
        <p:txBody>
          <a:bodyPr wrap="square" lIns="0" tIns="0" rIns="0" bIns="0" anchor="t">
            <a:noAutofit/>
          </a:bodyPr>
          <a:lstStyle/>
          <a:p>
            <a:pPr algn="l">
              <a:lnSpc>
                <a:spcPct val="105000"/>
              </a:lnSpc>
              <a:buNone/>
              <a:defRPr sz="1425" b="0">
                <a:solidFill>
                  <a:srgbClr val="5B6B7E"/>
                </a:solidFill>
                <a:latin typeface="Nimbus Sans"/>
                <a:ea typeface="Nimbus Sans"/>
                <a:cs typeface="Nimbus Sans"/>
              </a:defRPr>
            </a:pPr>
            <a:r>
              <a:rPr sz="2000" b="0" dirty="0">
                <a:solidFill>
                  <a:srgbClr val="5B6B7E"/>
                </a:solidFill>
                <a:latin typeface="Nimbus Sans"/>
                <a:ea typeface="Nimbus Sans"/>
                <a:cs typeface="Nimbus Sans"/>
              </a:rPr>
              <a:t>Food, housing, tuition, employment, financial aid, scholarships, </a:t>
            </a:r>
            <a:r>
              <a:rPr lang="en-US" sz="2000" b="0" dirty="0">
                <a:solidFill>
                  <a:srgbClr val="5B6B7E"/>
                </a:solidFill>
                <a:latin typeface="Nimbus Sans"/>
                <a:ea typeface="Nimbus Sans"/>
                <a:cs typeface="Nimbus Sans"/>
              </a:rPr>
              <a:t>other </a:t>
            </a:r>
            <a:r>
              <a:rPr sz="2000" b="0" dirty="0">
                <a:solidFill>
                  <a:srgbClr val="5B6B7E"/>
                </a:solidFill>
                <a:latin typeface="Nimbus Sans"/>
                <a:ea typeface="Nimbus Sans"/>
                <a:cs typeface="Nimbus Sans"/>
              </a:rPr>
              <a:t>and the remaining defined categories.</a:t>
            </a:r>
          </a:p>
        </p:txBody>
      </p:sp>
      <p:sp>
        <p:nvSpPr>
          <p:cNvPr id="17" name="Rectangle 16">
            <a:extLst>
              <a:ext uri="{FF2B5EF4-FFF2-40B4-BE49-F238E27FC236}">
                <a16:creationId xmlns:a16="http://schemas.microsoft.com/office/drawing/2014/main" id="{A88207E6-DC32-4BC5-8DDE-7AA255771CE5}"/>
              </a:ext>
            </a:extLst>
          </p:cNvPr>
          <p:cNvSpPr>
            <a:spLocks noGrp="1"/>
          </p:cNvSpPr>
          <p:nvPr/>
        </p:nvSpPr>
        <p:spPr>
          <a:xfrm>
            <a:off x="4533900" y="4991100"/>
            <a:ext cx="2857500" cy="476250"/>
          </a:xfrm>
          <a:prstGeom prst="rect">
            <a:avLst/>
          </a:prstGeom>
          <a:noFill/>
          <a:ln w="0">
            <a:noFill/>
          </a:ln>
        </p:spPr>
        <p:txBody>
          <a:bodyPr wrap="square" lIns="0" tIns="0" rIns="0" bIns="0" anchor="t">
            <a:noAutofit/>
          </a:bodyPr>
          <a:lstStyle/>
          <a:p>
            <a:pPr algn="l">
              <a:defRPr sz="1350" b="1">
                <a:solidFill>
                  <a:srgbClr val="C2413A"/>
                </a:solidFill>
                <a:latin typeface="Nimbus Sans"/>
                <a:ea typeface="Nimbus Sans"/>
                <a:cs typeface="Nimbus Sans"/>
              </a:defRPr>
            </a:pPr>
            <a:r>
              <a:rPr sz="2000" b="1" dirty="0">
                <a:solidFill>
                  <a:srgbClr val="C2413A"/>
                </a:solidFill>
                <a:latin typeface="Nimbus Sans"/>
                <a:ea typeface="Nimbus Sans"/>
                <a:cs typeface="Nimbus Sans"/>
              </a:rPr>
              <a:t>Only matching records remain visible</a:t>
            </a:r>
            <a:r>
              <a:rPr sz="1350" b="1" dirty="0">
                <a:solidFill>
                  <a:srgbClr val="C2413A"/>
                </a:solidFill>
                <a:latin typeface="Nimbus Sans"/>
                <a:ea typeface="Nimbus Sans"/>
                <a:cs typeface="Nimbus Sans"/>
              </a:rPr>
              <a:t>.</a:t>
            </a:r>
          </a:p>
        </p:txBody>
      </p:sp>
      <p:sp>
        <p:nvSpPr>
          <p:cNvPr id="18" name="Rectangle: Rounded Corners 17">
            <a:extLst>
              <a:ext uri="{FF2B5EF4-FFF2-40B4-BE49-F238E27FC236}">
                <a16:creationId xmlns:a16="http://schemas.microsoft.com/office/drawing/2014/main" id="{72D5548D-978F-4C45-A76D-7C61463ED210}"/>
              </a:ext>
            </a:extLst>
          </p:cNvPr>
          <p:cNvSpPr>
            <a:spLocks noGrp="1"/>
          </p:cNvSpPr>
          <p:nvPr/>
        </p:nvSpPr>
        <p:spPr>
          <a:xfrm>
            <a:off x="8191500" y="2152650"/>
            <a:ext cx="1619250" cy="323850"/>
          </a:xfrm>
          <a:prstGeom prst="roundRect">
            <a:avLst>
              <a:gd name="adj" fmla="val 50000"/>
            </a:avLst>
          </a:prstGeom>
          <a:solidFill>
            <a:srgbClr val="E8EEF3"/>
          </a:solidFill>
          <a:ln w="0">
            <a:noFill/>
          </a:ln>
        </p:spPr>
        <p:txBody>
          <a:bodyPr wrap="square" lIns="76200" tIns="19050" rIns="76200" bIns="19050" anchor="ctr">
            <a:noAutofit/>
          </a:bodyPr>
          <a:lstStyle/>
          <a:p>
            <a:pPr algn="ctr">
              <a:defRPr sz="1125" b="1">
                <a:solidFill>
                  <a:srgbClr val="102A43"/>
                </a:solidFill>
                <a:latin typeface="Nimbus Sans"/>
                <a:ea typeface="Nimbus Sans"/>
                <a:cs typeface="Nimbus Sans"/>
              </a:defRPr>
            </a:pPr>
            <a:r>
              <a:rPr sz="1125" b="1">
                <a:solidFill>
                  <a:srgbClr val="102A43"/>
                </a:solidFill>
                <a:latin typeface="Nimbus Sans"/>
                <a:ea typeface="Nimbus Sans"/>
                <a:cs typeface="Nimbus Sans"/>
              </a:rPr>
              <a:t>INCLUDE / EXCLUDE</a:t>
            </a:r>
          </a:p>
        </p:txBody>
      </p:sp>
      <p:sp>
        <p:nvSpPr>
          <p:cNvPr id="19" name="Rectangle 18">
            <a:extLst>
              <a:ext uri="{FF2B5EF4-FFF2-40B4-BE49-F238E27FC236}">
                <a16:creationId xmlns:a16="http://schemas.microsoft.com/office/drawing/2014/main" id="{60729C64-8CC3-44BE-9CF4-DE30E6323669}"/>
              </a:ext>
            </a:extLst>
          </p:cNvPr>
          <p:cNvSpPr>
            <a:spLocks noGrp="1"/>
          </p:cNvSpPr>
          <p:nvPr/>
        </p:nvSpPr>
        <p:spPr>
          <a:xfrm>
            <a:off x="8191500" y="2647950"/>
            <a:ext cx="2952750" cy="381000"/>
          </a:xfrm>
          <a:prstGeom prst="rect">
            <a:avLst/>
          </a:prstGeom>
          <a:noFill/>
          <a:ln w="0">
            <a:noFill/>
          </a:ln>
        </p:spPr>
        <p:txBody>
          <a:bodyPr wrap="square" lIns="0" tIns="0" rIns="0" bIns="0" anchor="t">
            <a:noAutofit/>
          </a:bodyPr>
          <a:lstStyle/>
          <a:p>
            <a:pPr algn="l">
              <a:defRPr sz="1875" b="1">
                <a:solidFill>
                  <a:srgbClr val="102A43"/>
                </a:solidFill>
                <a:latin typeface="Nimbus Sans"/>
                <a:ea typeface="Nimbus Sans"/>
                <a:cs typeface="Nimbus Sans"/>
              </a:defRPr>
            </a:pPr>
            <a:r>
              <a:rPr sz="1875" b="1">
                <a:solidFill>
                  <a:srgbClr val="102A43"/>
                </a:solidFill>
                <a:latin typeface="Nimbus Sans"/>
                <a:ea typeface="Nimbus Sans"/>
                <a:cs typeface="Nimbus Sans"/>
              </a:rPr>
              <a:t>One filter, two views</a:t>
            </a:r>
          </a:p>
        </p:txBody>
      </p:sp>
      <p:sp>
        <p:nvSpPr>
          <p:cNvPr id="20" name="Rectangle: Rounded Corners 19">
            <a:extLst>
              <a:ext uri="{FF2B5EF4-FFF2-40B4-BE49-F238E27FC236}">
                <a16:creationId xmlns:a16="http://schemas.microsoft.com/office/drawing/2014/main" id="{1E42C168-42FF-4485-8EBC-C7E91E1CD3B5}"/>
              </a:ext>
            </a:extLst>
          </p:cNvPr>
          <p:cNvSpPr>
            <a:spLocks noGrp="1"/>
          </p:cNvSpPr>
          <p:nvPr/>
        </p:nvSpPr>
        <p:spPr>
          <a:xfrm>
            <a:off x="8191500" y="3295650"/>
            <a:ext cx="2952750" cy="552450"/>
          </a:xfrm>
          <a:prstGeom prst="roundRect">
            <a:avLst>
              <a:gd name="adj" fmla="val 50000"/>
            </a:avLst>
          </a:prstGeom>
          <a:solidFill>
            <a:srgbClr val="EAF7F4"/>
          </a:solidFill>
          <a:ln w="9525">
            <a:solidFill>
              <a:srgbClr val="A9DED5"/>
            </a:solidFill>
            <a:prstDash val="solid"/>
          </a:ln>
        </p:spPr>
        <p:txBody>
          <a:bodyPr/>
          <a:lstStyle/>
          <a:p>
            <a:endParaRPr lang="en-US"/>
          </a:p>
        </p:txBody>
      </p:sp>
      <p:sp>
        <p:nvSpPr>
          <p:cNvPr id="21" name="Oval 20">
            <a:extLst>
              <a:ext uri="{FF2B5EF4-FFF2-40B4-BE49-F238E27FC236}">
                <a16:creationId xmlns:a16="http://schemas.microsoft.com/office/drawing/2014/main" id="{C0CEA2F8-261F-46A1-8113-758C41335AE0}"/>
              </a:ext>
            </a:extLst>
          </p:cNvPr>
          <p:cNvSpPr>
            <a:spLocks noGrp="1"/>
          </p:cNvSpPr>
          <p:nvPr/>
        </p:nvSpPr>
        <p:spPr>
          <a:xfrm>
            <a:off x="8239125" y="3343275"/>
            <a:ext cx="457200" cy="457200"/>
          </a:xfrm>
          <a:prstGeom prst="ellipse">
            <a:avLst/>
          </a:prstGeom>
          <a:solidFill>
            <a:srgbClr val="0F766E"/>
          </a:solidFill>
          <a:ln w="0">
            <a:noFill/>
          </a:ln>
        </p:spPr>
        <p:txBody>
          <a:bodyPr/>
          <a:lstStyle/>
          <a:p>
            <a:endParaRPr lang="en-US"/>
          </a:p>
        </p:txBody>
      </p:sp>
      <p:sp>
        <p:nvSpPr>
          <p:cNvPr id="22" name="Rectangle 21">
            <a:extLst>
              <a:ext uri="{FF2B5EF4-FFF2-40B4-BE49-F238E27FC236}">
                <a16:creationId xmlns:a16="http://schemas.microsoft.com/office/drawing/2014/main" id="{F73398E2-8E0E-41CF-B3EC-9FA47FAF504B}"/>
              </a:ext>
            </a:extLst>
          </p:cNvPr>
          <p:cNvSpPr>
            <a:spLocks noGrp="1"/>
          </p:cNvSpPr>
          <p:nvPr/>
        </p:nvSpPr>
        <p:spPr>
          <a:xfrm>
            <a:off x="8810625" y="3390900"/>
            <a:ext cx="990600" cy="361950"/>
          </a:xfrm>
          <a:prstGeom prst="rect">
            <a:avLst/>
          </a:prstGeom>
          <a:noFill/>
          <a:ln w="0">
            <a:noFill/>
          </a:ln>
        </p:spPr>
        <p:txBody>
          <a:bodyPr wrap="square" lIns="0" tIns="0" rIns="0" bIns="0" anchor="ctr">
            <a:noAutofit/>
          </a:bodyPr>
          <a:lstStyle/>
          <a:p>
            <a:pPr algn="l">
              <a:defRPr sz="1200" b="1">
                <a:solidFill>
                  <a:srgbClr val="0F766E"/>
                </a:solidFill>
                <a:latin typeface="Nimbus Sans"/>
                <a:ea typeface="Nimbus Sans"/>
                <a:cs typeface="Nimbus Sans"/>
              </a:defRPr>
            </a:pPr>
            <a:r>
              <a:rPr sz="1200" b="1">
                <a:solidFill>
                  <a:srgbClr val="0F766E"/>
                </a:solidFill>
                <a:latin typeface="Nimbus Sans"/>
                <a:ea typeface="Nimbus Sans"/>
                <a:cs typeface="Nimbus Sans"/>
              </a:rPr>
              <a:t>INCLUDE</a:t>
            </a:r>
          </a:p>
        </p:txBody>
      </p:sp>
      <p:sp>
        <p:nvSpPr>
          <p:cNvPr id="23" name="Rectangle 22">
            <a:extLst>
              <a:ext uri="{FF2B5EF4-FFF2-40B4-BE49-F238E27FC236}">
                <a16:creationId xmlns:a16="http://schemas.microsoft.com/office/drawing/2014/main" id="{006F8C7D-8A4A-4BDA-A014-067105792F71}"/>
              </a:ext>
            </a:extLst>
          </p:cNvPr>
          <p:cNvSpPr>
            <a:spLocks noGrp="1"/>
          </p:cNvSpPr>
          <p:nvPr/>
        </p:nvSpPr>
        <p:spPr>
          <a:xfrm>
            <a:off x="10048875" y="3390900"/>
            <a:ext cx="952500" cy="361950"/>
          </a:xfrm>
          <a:prstGeom prst="rect">
            <a:avLst/>
          </a:prstGeom>
          <a:noFill/>
          <a:ln w="0">
            <a:noFill/>
          </a:ln>
        </p:spPr>
        <p:txBody>
          <a:bodyPr wrap="square" lIns="0" tIns="0" rIns="0" bIns="0" anchor="ctr">
            <a:noAutofit/>
          </a:bodyPr>
          <a:lstStyle/>
          <a:p>
            <a:pPr algn="l">
              <a:defRPr sz="1200" b="1">
                <a:solidFill>
                  <a:srgbClr val="5B6B7E"/>
                </a:solidFill>
                <a:latin typeface="Nimbus Sans"/>
                <a:ea typeface="Nimbus Sans"/>
                <a:cs typeface="Nimbus Sans"/>
              </a:defRPr>
            </a:pPr>
            <a:r>
              <a:rPr sz="1200" b="1">
                <a:solidFill>
                  <a:srgbClr val="5B6B7E"/>
                </a:solidFill>
                <a:latin typeface="Nimbus Sans"/>
                <a:ea typeface="Nimbus Sans"/>
                <a:cs typeface="Nimbus Sans"/>
              </a:rPr>
              <a:t>EXCLUDE</a:t>
            </a:r>
          </a:p>
        </p:txBody>
      </p:sp>
    </p:spTree>
    <p:extLst>
      <p:ext uri="{BB962C8B-B14F-4D97-AF65-F5344CB8AC3E}">
        <p14:creationId xmlns:p14="http://schemas.microsoft.com/office/powerpoint/2010/main" val="1633822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6E38A039-6262-4FEA-A1C5-455E61993FD1}"/>
              </a:ext>
            </a:extLst>
          </p:cNvPr>
          <p:cNvSpPr>
            <a:spLocks noGrp="1"/>
          </p:cNvSpPr>
          <p:nvPr/>
        </p:nvSpPr>
        <p:spPr>
          <a:xfrm>
            <a:off x="42287" y="0"/>
            <a:ext cx="12192000" cy="1028700"/>
          </a:xfrm>
          <a:prstGeom prst="rect">
            <a:avLst/>
          </a:prstGeom>
          <a:solidFill>
            <a:srgbClr val="081A2D"/>
          </a:solidFill>
          <a:ln w="0">
            <a:noFill/>
          </a:ln>
        </p:spPr>
        <p:txBody>
          <a:bodyPr/>
          <a:lstStyle/>
          <a:p>
            <a:endParaRPr lang="en-US"/>
          </a:p>
        </p:txBody>
      </p:sp>
      <p:sp>
        <p:nvSpPr>
          <p:cNvPr id="3" name="Rectangle 2">
            <a:extLst>
              <a:ext uri="{FF2B5EF4-FFF2-40B4-BE49-F238E27FC236}">
                <a16:creationId xmlns:a16="http://schemas.microsoft.com/office/drawing/2014/main" id="{562492E9-4D7E-4513-850B-0308371FFA63}"/>
              </a:ext>
            </a:extLst>
          </p:cNvPr>
          <p:cNvSpPr>
            <a:spLocks noGrp="1"/>
          </p:cNvSpPr>
          <p:nvPr/>
        </p:nvSpPr>
        <p:spPr>
          <a:xfrm>
            <a:off x="1181100" y="209550"/>
            <a:ext cx="9906000" cy="552450"/>
          </a:xfrm>
          <a:prstGeom prst="rect">
            <a:avLst/>
          </a:prstGeom>
          <a:noFill/>
          <a:ln w="0">
            <a:noFill/>
          </a:ln>
        </p:spPr>
        <p:txBody>
          <a:bodyPr wrap="square" lIns="57150" tIns="47625" rIns="57150" bIns="47625" anchor="ctr">
            <a:noAutofit/>
          </a:bodyPr>
          <a:lstStyle/>
          <a:p>
            <a:pPr algn="l">
              <a:defRPr sz="2700" b="1">
                <a:solidFill>
                  <a:srgbClr val="FFFFFF"/>
                </a:solidFill>
                <a:latin typeface="Nimbus Sans"/>
                <a:ea typeface="Nimbus Sans"/>
                <a:cs typeface="Nimbus Sans"/>
              </a:defRPr>
            </a:pPr>
            <a:r>
              <a:rPr sz="2700" b="1">
                <a:solidFill>
                  <a:srgbClr val="FFFFFF"/>
                </a:solidFill>
                <a:latin typeface="Nimbus Sans"/>
                <a:ea typeface="Nimbus Sans"/>
                <a:cs typeface="Nimbus Sans"/>
              </a:rPr>
              <a:t>Income tracking</a:t>
            </a:r>
          </a:p>
        </p:txBody>
      </p:sp>
      <p:sp>
        <p:nvSpPr>
          <p:cNvPr id="4" name="Rectangle 3">
            <a:extLst>
              <a:ext uri="{FF2B5EF4-FFF2-40B4-BE49-F238E27FC236}">
                <a16:creationId xmlns:a16="http://schemas.microsoft.com/office/drawing/2014/main" id="{0D601F6D-A32D-4DBA-85B9-B03A39F2C50C}"/>
              </a:ext>
            </a:extLst>
          </p:cNvPr>
          <p:cNvSpPr>
            <a:spLocks noGrp="1"/>
          </p:cNvSpPr>
          <p:nvPr/>
        </p:nvSpPr>
        <p:spPr>
          <a:xfrm>
            <a:off x="609600" y="838200"/>
            <a:ext cx="781050" cy="47625"/>
          </a:xfrm>
          <a:prstGeom prst="rect">
            <a:avLst/>
          </a:prstGeom>
          <a:solidFill>
            <a:srgbClr val="2DD4BF"/>
          </a:solidFill>
          <a:ln w="0">
            <a:noFill/>
          </a:ln>
        </p:spPr>
        <p:txBody>
          <a:bodyPr/>
          <a:lstStyle/>
          <a:p>
            <a:endParaRPr lang="en-US"/>
          </a:p>
        </p:txBody>
      </p:sp>
      <p:sp>
        <p:nvSpPr>
          <p:cNvPr id="6" name="Rectangle: Rounded Corners 5">
            <a:extLst>
              <a:ext uri="{FF2B5EF4-FFF2-40B4-BE49-F238E27FC236}">
                <a16:creationId xmlns:a16="http://schemas.microsoft.com/office/drawing/2014/main" id="{B5B9008D-1019-4809-A449-57C9779159F4}"/>
              </a:ext>
            </a:extLst>
          </p:cNvPr>
          <p:cNvSpPr>
            <a:spLocks noGrp="1"/>
          </p:cNvSpPr>
          <p:nvPr/>
        </p:nvSpPr>
        <p:spPr>
          <a:xfrm>
            <a:off x="609600" y="1809750"/>
            <a:ext cx="6191250" cy="4210050"/>
          </a:xfrm>
          <a:prstGeom prst="roundRect">
            <a:avLst>
              <a:gd name="adj" fmla="val 4525"/>
            </a:avLst>
          </a:prstGeom>
          <a:solidFill>
            <a:srgbClr val="FFFFFF"/>
          </a:solidFill>
          <a:ln w="9525">
            <a:solidFill>
              <a:srgbClr val="D7DF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Rectangle 6">
            <a:extLst>
              <a:ext uri="{FF2B5EF4-FFF2-40B4-BE49-F238E27FC236}">
                <a16:creationId xmlns:a16="http://schemas.microsoft.com/office/drawing/2014/main" id="{91A875B1-FD51-46E7-8FDE-3308377E5AE8}"/>
              </a:ext>
            </a:extLst>
          </p:cNvPr>
          <p:cNvSpPr>
            <a:spLocks noGrp="1"/>
          </p:cNvSpPr>
          <p:nvPr/>
        </p:nvSpPr>
        <p:spPr>
          <a:xfrm>
            <a:off x="876300" y="2038350"/>
            <a:ext cx="2857500" cy="400050"/>
          </a:xfrm>
          <a:prstGeom prst="rect">
            <a:avLst/>
          </a:prstGeom>
          <a:noFill/>
          <a:ln w="0">
            <a:noFill/>
          </a:ln>
        </p:spPr>
        <p:txBody>
          <a:bodyPr wrap="square" lIns="0" tIns="0" rIns="0" bIns="0" anchor="t">
            <a:noAutofit/>
          </a:bodyPr>
          <a:lstStyle/>
          <a:p>
            <a:pPr algn="l">
              <a:defRPr sz="2175" b="1">
                <a:solidFill>
                  <a:srgbClr val="102A43"/>
                </a:solidFill>
                <a:latin typeface="Nimbus Sans"/>
                <a:ea typeface="Nimbus Sans"/>
                <a:cs typeface="Nimbus Sans"/>
              </a:defRPr>
            </a:pPr>
            <a:r>
              <a:rPr sz="2175" b="1" dirty="0">
                <a:solidFill>
                  <a:srgbClr val="102A43"/>
                </a:solidFill>
                <a:latin typeface="Nimbus Sans"/>
                <a:ea typeface="Nimbus Sans"/>
                <a:cs typeface="Nimbus Sans"/>
              </a:rPr>
              <a:t>Add income</a:t>
            </a:r>
          </a:p>
        </p:txBody>
      </p:sp>
      <p:sp>
        <p:nvSpPr>
          <p:cNvPr id="8" name="Rectangle 7">
            <a:extLst>
              <a:ext uri="{FF2B5EF4-FFF2-40B4-BE49-F238E27FC236}">
                <a16:creationId xmlns:a16="http://schemas.microsoft.com/office/drawing/2014/main" id="{FA5FB3A7-DA19-402C-976D-255DAD2D5560}"/>
              </a:ext>
            </a:extLst>
          </p:cNvPr>
          <p:cNvSpPr>
            <a:spLocks noGrp="1"/>
          </p:cNvSpPr>
          <p:nvPr/>
        </p:nvSpPr>
        <p:spPr>
          <a:xfrm>
            <a:off x="876300" y="2647950"/>
            <a:ext cx="2571750" cy="209550"/>
          </a:xfrm>
          <a:prstGeom prst="rect">
            <a:avLst/>
          </a:prstGeom>
          <a:noFill/>
          <a:ln w="0">
            <a:noFill/>
          </a:ln>
        </p:spPr>
        <p:txBody>
          <a:bodyPr wrap="square" lIns="0" tIns="0" rIns="0" bIns="0" anchor="t">
            <a:noAutofit/>
          </a:bodyPr>
          <a:lstStyle/>
          <a:p>
            <a:pPr algn="l">
              <a:defRPr sz="900" b="1">
                <a:solidFill>
                  <a:srgbClr val="5B6B7E"/>
                </a:solidFill>
                <a:latin typeface="Nimbus Sans"/>
                <a:ea typeface="Nimbus Sans"/>
                <a:cs typeface="Nimbus Sans"/>
              </a:defRPr>
            </a:pPr>
            <a:r>
              <a:rPr sz="900" b="1">
                <a:solidFill>
                  <a:srgbClr val="5B6B7E"/>
                </a:solidFill>
                <a:latin typeface="Nimbus Sans"/>
                <a:ea typeface="Nimbus Sans"/>
                <a:cs typeface="Nimbus Sans"/>
              </a:rPr>
              <a:t>AMOUNT</a:t>
            </a:r>
          </a:p>
        </p:txBody>
      </p:sp>
      <p:sp>
        <p:nvSpPr>
          <p:cNvPr id="9" name="Rectangle: Rounded Corners 8">
            <a:extLst>
              <a:ext uri="{FF2B5EF4-FFF2-40B4-BE49-F238E27FC236}">
                <a16:creationId xmlns:a16="http://schemas.microsoft.com/office/drawing/2014/main" id="{1EB49576-88D1-4689-89A3-B8E0B41D21D8}"/>
              </a:ext>
            </a:extLst>
          </p:cNvPr>
          <p:cNvSpPr>
            <a:spLocks noGrp="1"/>
          </p:cNvSpPr>
          <p:nvPr/>
        </p:nvSpPr>
        <p:spPr>
          <a:xfrm>
            <a:off x="876300" y="2876550"/>
            <a:ext cx="2571750" cy="457200"/>
          </a:xfrm>
          <a:prstGeom prst="roundRect">
            <a:avLst>
              <a:gd name="adj" fmla="val 20833"/>
            </a:avLst>
          </a:prstGeom>
          <a:solidFill>
            <a:srgbClr val="FFFFFF"/>
          </a:solidFill>
          <a:ln w="9525">
            <a:solidFill>
              <a:srgbClr val="D7DFE5"/>
            </a:solidFill>
            <a:prstDash val="solid"/>
          </a:ln>
        </p:spPr>
        <p:txBody>
          <a:bodyPr/>
          <a:lstStyle/>
          <a:p>
            <a:endParaRPr lang="en-US"/>
          </a:p>
        </p:txBody>
      </p:sp>
      <p:sp>
        <p:nvSpPr>
          <p:cNvPr id="10" name="Rectangle 9">
            <a:extLst>
              <a:ext uri="{FF2B5EF4-FFF2-40B4-BE49-F238E27FC236}">
                <a16:creationId xmlns:a16="http://schemas.microsoft.com/office/drawing/2014/main" id="{3F56C19B-30AE-49E8-ACE6-9EFA876678B2}"/>
              </a:ext>
            </a:extLst>
          </p:cNvPr>
          <p:cNvSpPr>
            <a:spLocks noGrp="1"/>
          </p:cNvSpPr>
          <p:nvPr/>
        </p:nvSpPr>
        <p:spPr>
          <a:xfrm>
            <a:off x="971550" y="2971800"/>
            <a:ext cx="2381250" cy="266700"/>
          </a:xfrm>
          <a:prstGeom prst="rect">
            <a:avLst/>
          </a:prstGeom>
          <a:noFill/>
          <a:ln w="0">
            <a:noFill/>
          </a:ln>
        </p:spPr>
        <p:txBody>
          <a:bodyPr wrap="square" lIns="0" tIns="0" rIns="0" bIns="0" anchor="ctr">
            <a:noAutofit/>
          </a:bodyPr>
          <a:lstStyle/>
          <a:p>
            <a:pPr algn="l">
              <a:defRPr sz="1350" b="0">
                <a:solidFill>
                  <a:srgbClr val="132238"/>
                </a:solidFill>
                <a:latin typeface="Nimbus Sans"/>
                <a:ea typeface="Nimbus Sans"/>
                <a:cs typeface="Nimbus Sans"/>
              </a:defRPr>
            </a:pPr>
            <a:r>
              <a:rPr sz="1350" b="0" dirty="0">
                <a:solidFill>
                  <a:srgbClr val="132238"/>
                </a:solidFill>
                <a:latin typeface="Nimbus Sans"/>
                <a:ea typeface="Nimbus Sans"/>
                <a:cs typeface="Nimbus Sans"/>
              </a:rPr>
              <a:t>$ 0.00</a:t>
            </a:r>
          </a:p>
        </p:txBody>
      </p:sp>
      <p:sp>
        <p:nvSpPr>
          <p:cNvPr id="11" name="Rectangle 10">
            <a:extLst>
              <a:ext uri="{FF2B5EF4-FFF2-40B4-BE49-F238E27FC236}">
                <a16:creationId xmlns:a16="http://schemas.microsoft.com/office/drawing/2014/main" id="{407F7A97-F0ED-424A-8AB9-24CFD5FB6A8F}"/>
              </a:ext>
            </a:extLst>
          </p:cNvPr>
          <p:cNvSpPr>
            <a:spLocks noGrp="1"/>
          </p:cNvSpPr>
          <p:nvPr/>
        </p:nvSpPr>
        <p:spPr>
          <a:xfrm>
            <a:off x="876300" y="2876550"/>
            <a:ext cx="47625" cy="457200"/>
          </a:xfrm>
          <a:prstGeom prst="rect">
            <a:avLst/>
          </a:prstGeom>
          <a:solidFill>
            <a:srgbClr val="0F766E"/>
          </a:solidFill>
          <a:ln w="0">
            <a:noFill/>
          </a:ln>
        </p:spPr>
        <p:txBody>
          <a:bodyPr/>
          <a:lstStyle/>
          <a:p>
            <a:endParaRPr lang="en-US"/>
          </a:p>
        </p:txBody>
      </p:sp>
      <p:sp>
        <p:nvSpPr>
          <p:cNvPr id="12" name="Rectangle 11">
            <a:extLst>
              <a:ext uri="{FF2B5EF4-FFF2-40B4-BE49-F238E27FC236}">
                <a16:creationId xmlns:a16="http://schemas.microsoft.com/office/drawing/2014/main" id="{41B47389-0D9D-41E0-871A-DCE81A510E40}"/>
              </a:ext>
            </a:extLst>
          </p:cNvPr>
          <p:cNvSpPr>
            <a:spLocks noGrp="1"/>
          </p:cNvSpPr>
          <p:nvPr/>
        </p:nvSpPr>
        <p:spPr>
          <a:xfrm>
            <a:off x="3676650" y="2647950"/>
            <a:ext cx="2571750" cy="209550"/>
          </a:xfrm>
          <a:prstGeom prst="rect">
            <a:avLst/>
          </a:prstGeom>
          <a:noFill/>
          <a:ln w="0">
            <a:noFill/>
          </a:ln>
        </p:spPr>
        <p:txBody>
          <a:bodyPr wrap="square" lIns="0" tIns="0" rIns="0" bIns="0" anchor="t">
            <a:noAutofit/>
          </a:bodyPr>
          <a:lstStyle/>
          <a:p>
            <a:pPr algn="l">
              <a:defRPr sz="900" b="1">
                <a:solidFill>
                  <a:srgbClr val="5B6B7E"/>
                </a:solidFill>
                <a:latin typeface="Nimbus Sans"/>
                <a:ea typeface="Nimbus Sans"/>
                <a:cs typeface="Nimbus Sans"/>
              </a:defRPr>
            </a:pPr>
            <a:r>
              <a:rPr sz="900" b="1">
                <a:solidFill>
                  <a:srgbClr val="5B6B7E"/>
                </a:solidFill>
                <a:latin typeface="Nimbus Sans"/>
                <a:ea typeface="Nimbus Sans"/>
                <a:cs typeface="Nimbus Sans"/>
              </a:rPr>
              <a:t>DATE</a:t>
            </a:r>
          </a:p>
        </p:txBody>
      </p:sp>
      <p:sp>
        <p:nvSpPr>
          <p:cNvPr id="13" name="Rectangle: Rounded Corners 12">
            <a:extLst>
              <a:ext uri="{FF2B5EF4-FFF2-40B4-BE49-F238E27FC236}">
                <a16:creationId xmlns:a16="http://schemas.microsoft.com/office/drawing/2014/main" id="{9E830A79-56CF-44E5-A77E-2DF327696D2F}"/>
              </a:ext>
            </a:extLst>
          </p:cNvPr>
          <p:cNvSpPr>
            <a:spLocks noGrp="1"/>
          </p:cNvSpPr>
          <p:nvPr/>
        </p:nvSpPr>
        <p:spPr>
          <a:xfrm>
            <a:off x="3676650" y="2876550"/>
            <a:ext cx="2571750" cy="457200"/>
          </a:xfrm>
          <a:prstGeom prst="roundRect">
            <a:avLst>
              <a:gd name="adj" fmla="val 20833"/>
            </a:avLst>
          </a:prstGeom>
          <a:solidFill>
            <a:srgbClr val="FFFFFF"/>
          </a:solidFill>
          <a:ln w="9525">
            <a:solidFill>
              <a:srgbClr val="D7DFE5"/>
            </a:solidFill>
            <a:prstDash val="solid"/>
          </a:ln>
        </p:spPr>
        <p:txBody>
          <a:bodyPr/>
          <a:lstStyle/>
          <a:p>
            <a:endParaRPr lang="en-US"/>
          </a:p>
        </p:txBody>
      </p:sp>
      <p:sp>
        <p:nvSpPr>
          <p:cNvPr id="14" name="Rectangle 13">
            <a:extLst>
              <a:ext uri="{FF2B5EF4-FFF2-40B4-BE49-F238E27FC236}">
                <a16:creationId xmlns:a16="http://schemas.microsoft.com/office/drawing/2014/main" id="{86BC7E86-5D65-4861-9C54-F5F273440401}"/>
              </a:ext>
            </a:extLst>
          </p:cNvPr>
          <p:cNvSpPr>
            <a:spLocks noGrp="1"/>
          </p:cNvSpPr>
          <p:nvPr/>
        </p:nvSpPr>
        <p:spPr>
          <a:xfrm>
            <a:off x="3771900" y="2971800"/>
            <a:ext cx="2381250" cy="266700"/>
          </a:xfrm>
          <a:prstGeom prst="rect">
            <a:avLst/>
          </a:prstGeom>
          <a:noFill/>
          <a:ln w="0">
            <a:noFill/>
          </a:ln>
        </p:spPr>
        <p:txBody>
          <a:bodyPr wrap="square" lIns="0" tIns="0" rIns="0" bIns="0" anchor="ctr">
            <a:noAutofit/>
          </a:bodyPr>
          <a:lstStyle/>
          <a:p>
            <a:pPr algn="l">
              <a:defRPr sz="1350" b="0">
                <a:solidFill>
                  <a:srgbClr val="132238"/>
                </a:solidFill>
                <a:latin typeface="Nimbus Sans"/>
                <a:ea typeface="Nimbus Sans"/>
                <a:cs typeface="Nimbus Sans"/>
              </a:defRPr>
            </a:pPr>
            <a:r>
              <a:rPr sz="1350" b="0">
                <a:solidFill>
                  <a:srgbClr val="132238"/>
                </a:solidFill>
                <a:latin typeface="Nimbus Sans"/>
                <a:ea typeface="Nimbus Sans"/>
                <a:cs typeface="Nimbus Sans"/>
              </a:rPr>
              <a:t>Select a date</a:t>
            </a:r>
          </a:p>
        </p:txBody>
      </p:sp>
      <p:sp>
        <p:nvSpPr>
          <p:cNvPr id="15" name="Rectangle 14">
            <a:extLst>
              <a:ext uri="{FF2B5EF4-FFF2-40B4-BE49-F238E27FC236}">
                <a16:creationId xmlns:a16="http://schemas.microsoft.com/office/drawing/2014/main" id="{9805BDAA-80D9-4ED7-B34B-50C6A0876BD6}"/>
              </a:ext>
            </a:extLst>
          </p:cNvPr>
          <p:cNvSpPr>
            <a:spLocks noGrp="1"/>
          </p:cNvSpPr>
          <p:nvPr/>
        </p:nvSpPr>
        <p:spPr>
          <a:xfrm>
            <a:off x="3676650" y="2876550"/>
            <a:ext cx="47625" cy="457200"/>
          </a:xfrm>
          <a:prstGeom prst="rect">
            <a:avLst/>
          </a:prstGeom>
          <a:solidFill>
            <a:srgbClr val="0F766E"/>
          </a:solidFill>
          <a:ln w="0">
            <a:noFill/>
          </a:ln>
        </p:spPr>
        <p:txBody>
          <a:bodyPr/>
          <a:lstStyle/>
          <a:p>
            <a:endParaRPr lang="en-US"/>
          </a:p>
        </p:txBody>
      </p:sp>
      <p:sp>
        <p:nvSpPr>
          <p:cNvPr id="16" name="Rectangle 15">
            <a:extLst>
              <a:ext uri="{FF2B5EF4-FFF2-40B4-BE49-F238E27FC236}">
                <a16:creationId xmlns:a16="http://schemas.microsoft.com/office/drawing/2014/main" id="{1A0502C3-EFA7-46CE-B524-1C0BEC7CB427}"/>
              </a:ext>
            </a:extLst>
          </p:cNvPr>
          <p:cNvSpPr>
            <a:spLocks noGrp="1"/>
          </p:cNvSpPr>
          <p:nvPr/>
        </p:nvSpPr>
        <p:spPr>
          <a:xfrm>
            <a:off x="876300" y="3581400"/>
            <a:ext cx="2571750" cy="209550"/>
          </a:xfrm>
          <a:prstGeom prst="rect">
            <a:avLst/>
          </a:prstGeom>
          <a:noFill/>
          <a:ln w="0">
            <a:noFill/>
          </a:ln>
        </p:spPr>
        <p:txBody>
          <a:bodyPr wrap="square" lIns="0" tIns="0" rIns="0" bIns="0" anchor="t">
            <a:noAutofit/>
          </a:bodyPr>
          <a:lstStyle/>
          <a:p>
            <a:pPr algn="l">
              <a:defRPr sz="900" b="1">
                <a:solidFill>
                  <a:srgbClr val="5B6B7E"/>
                </a:solidFill>
                <a:latin typeface="Nimbus Sans"/>
                <a:ea typeface="Nimbus Sans"/>
                <a:cs typeface="Nimbus Sans"/>
              </a:defRPr>
            </a:pPr>
            <a:r>
              <a:rPr sz="900" b="1">
                <a:solidFill>
                  <a:srgbClr val="5B6B7E"/>
                </a:solidFill>
                <a:latin typeface="Nimbus Sans"/>
                <a:ea typeface="Nimbus Sans"/>
                <a:cs typeface="Nimbus Sans"/>
              </a:rPr>
              <a:t>CATEGORY</a:t>
            </a:r>
          </a:p>
        </p:txBody>
      </p:sp>
      <p:sp>
        <p:nvSpPr>
          <p:cNvPr id="17" name="Rectangle: Rounded Corners 16">
            <a:extLst>
              <a:ext uri="{FF2B5EF4-FFF2-40B4-BE49-F238E27FC236}">
                <a16:creationId xmlns:a16="http://schemas.microsoft.com/office/drawing/2014/main" id="{0BD53159-8FD3-4209-8E30-8C657BA89C6E}"/>
              </a:ext>
            </a:extLst>
          </p:cNvPr>
          <p:cNvSpPr>
            <a:spLocks noGrp="1"/>
          </p:cNvSpPr>
          <p:nvPr/>
        </p:nvSpPr>
        <p:spPr>
          <a:xfrm>
            <a:off x="876300" y="3810000"/>
            <a:ext cx="2571750" cy="457200"/>
          </a:xfrm>
          <a:prstGeom prst="roundRect">
            <a:avLst>
              <a:gd name="adj" fmla="val 20833"/>
            </a:avLst>
          </a:prstGeom>
          <a:solidFill>
            <a:srgbClr val="FFFFFF"/>
          </a:solidFill>
          <a:ln w="9525">
            <a:solidFill>
              <a:srgbClr val="D7DFE5"/>
            </a:solidFill>
            <a:prstDash val="solid"/>
          </a:ln>
        </p:spPr>
        <p:txBody>
          <a:bodyPr/>
          <a:lstStyle/>
          <a:p>
            <a:endParaRPr lang="en-US"/>
          </a:p>
        </p:txBody>
      </p:sp>
      <p:sp>
        <p:nvSpPr>
          <p:cNvPr id="18" name="Rectangle 17">
            <a:extLst>
              <a:ext uri="{FF2B5EF4-FFF2-40B4-BE49-F238E27FC236}">
                <a16:creationId xmlns:a16="http://schemas.microsoft.com/office/drawing/2014/main" id="{0E13D2B2-93D0-4932-8E38-746F52C5F509}"/>
              </a:ext>
            </a:extLst>
          </p:cNvPr>
          <p:cNvSpPr>
            <a:spLocks noGrp="1"/>
          </p:cNvSpPr>
          <p:nvPr/>
        </p:nvSpPr>
        <p:spPr>
          <a:xfrm>
            <a:off x="971550" y="3905250"/>
            <a:ext cx="2381250" cy="266700"/>
          </a:xfrm>
          <a:prstGeom prst="rect">
            <a:avLst/>
          </a:prstGeom>
          <a:noFill/>
          <a:ln w="0">
            <a:noFill/>
          </a:ln>
        </p:spPr>
        <p:txBody>
          <a:bodyPr wrap="square" lIns="0" tIns="0" rIns="0" bIns="0" anchor="ctr">
            <a:noAutofit/>
          </a:bodyPr>
          <a:lstStyle/>
          <a:p>
            <a:pPr algn="l">
              <a:defRPr sz="1350" b="0">
                <a:solidFill>
                  <a:srgbClr val="132238"/>
                </a:solidFill>
                <a:latin typeface="Nimbus Sans"/>
                <a:ea typeface="Nimbus Sans"/>
                <a:cs typeface="Nimbus Sans"/>
              </a:defRPr>
            </a:pPr>
            <a:r>
              <a:rPr sz="1350" b="0">
                <a:solidFill>
                  <a:srgbClr val="132238"/>
                </a:solidFill>
                <a:latin typeface="Nimbus Sans"/>
                <a:ea typeface="Nimbus Sans"/>
                <a:cs typeface="Nimbus Sans"/>
              </a:rPr>
              <a:t>Employment</a:t>
            </a:r>
          </a:p>
        </p:txBody>
      </p:sp>
      <p:sp>
        <p:nvSpPr>
          <p:cNvPr id="19" name="Rectangle 18">
            <a:extLst>
              <a:ext uri="{FF2B5EF4-FFF2-40B4-BE49-F238E27FC236}">
                <a16:creationId xmlns:a16="http://schemas.microsoft.com/office/drawing/2014/main" id="{49300DFF-2A2E-4760-A1F6-834EB90AB5F5}"/>
              </a:ext>
            </a:extLst>
          </p:cNvPr>
          <p:cNvSpPr>
            <a:spLocks noGrp="1"/>
          </p:cNvSpPr>
          <p:nvPr/>
        </p:nvSpPr>
        <p:spPr>
          <a:xfrm>
            <a:off x="876300" y="3810000"/>
            <a:ext cx="47625" cy="457200"/>
          </a:xfrm>
          <a:prstGeom prst="rect">
            <a:avLst/>
          </a:prstGeom>
          <a:solidFill>
            <a:srgbClr val="0F766E"/>
          </a:solidFill>
          <a:ln w="0">
            <a:noFill/>
          </a:ln>
        </p:spPr>
        <p:txBody>
          <a:bodyPr/>
          <a:lstStyle/>
          <a:p>
            <a:endParaRPr lang="en-US"/>
          </a:p>
        </p:txBody>
      </p:sp>
      <p:sp>
        <p:nvSpPr>
          <p:cNvPr id="20" name="Rectangle 19">
            <a:extLst>
              <a:ext uri="{FF2B5EF4-FFF2-40B4-BE49-F238E27FC236}">
                <a16:creationId xmlns:a16="http://schemas.microsoft.com/office/drawing/2014/main" id="{D2024D34-2326-4211-82CD-750EA172EAA0}"/>
              </a:ext>
            </a:extLst>
          </p:cNvPr>
          <p:cNvSpPr>
            <a:spLocks noGrp="1"/>
          </p:cNvSpPr>
          <p:nvPr/>
        </p:nvSpPr>
        <p:spPr>
          <a:xfrm>
            <a:off x="3676650" y="3581400"/>
            <a:ext cx="2571750" cy="209550"/>
          </a:xfrm>
          <a:prstGeom prst="rect">
            <a:avLst/>
          </a:prstGeom>
          <a:noFill/>
          <a:ln w="0">
            <a:noFill/>
          </a:ln>
        </p:spPr>
        <p:txBody>
          <a:bodyPr wrap="square" lIns="0" tIns="0" rIns="0" bIns="0" anchor="t">
            <a:noAutofit/>
          </a:bodyPr>
          <a:lstStyle/>
          <a:p>
            <a:pPr algn="l">
              <a:defRPr sz="900" b="1">
                <a:solidFill>
                  <a:srgbClr val="5B6B7E"/>
                </a:solidFill>
                <a:latin typeface="Nimbus Sans"/>
                <a:ea typeface="Nimbus Sans"/>
                <a:cs typeface="Nimbus Sans"/>
              </a:defRPr>
            </a:pPr>
            <a:r>
              <a:rPr sz="900" b="1">
                <a:solidFill>
                  <a:srgbClr val="5B6B7E"/>
                </a:solidFill>
                <a:latin typeface="Nimbus Sans"/>
                <a:ea typeface="Nimbus Sans"/>
                <a:cs typeface="Nimbus Sans"/>
              </a:rPr>
              <a:t>SOURCE OR DESCRIPTION</a:t>
            </a:r>
          </a:p>
        </p:txBody>
      </p:sp>
      <p:sp>
        <p:nvSpPr>
          <p:cNvPr id="21" name="Rectangle: Rounded Corners 20">
            <a:extLst>
              <a:ext uri="{FF2B5EF4-FFF2-40B4-BE49-F238E27FC236}">
                <a16:creationId xmlns:a16="http://schemas.microsoft.com/office/drawing/2014/main" id="{9E3F0B98-D0A0-422D-A2EC-F6A5890BEB14}"/>
              </a:ext>
            </a:extLst>
          </p:cNvPr>
          <p:cNvSpPr>
            <a:spLocks noGrp="1"/>
          </p:cNvSpPr>
          <p:nvPr/>
        </p:nvSpPr>
        <p:spPr>
          <a:xfrm>
            <a:off x="3676650" y="3810000"/>
            <a:ext cx="2571750" cy="457200"/>
          </a:xfrm>
          <a:prstGeom prst="roundRect">
            <a:avLst>
              <a:gd name="adj" fmla="val 20833"/>
            </a:avLst>
          </a:prstGeom>
          <a:solidFill>
            <a:srgbClr val="FFFFFF"/>
          </a:solidFill>
          <a:ln w="9525">
            <a:solidFill>
              <a:srgbClr val="D7DFE5"/>
            </a:solidFill>
            <a:prstDash val="solid"/>
          </a:ln>
        </p:spPr>
        <p:txBody>
          <a:bodyPr/>
          <a:lstStyle/>
          <a:p>
            <a:endParaRPr lang="en-US"/>
          </a:p>
        </p:txBody>
      </p:sp>
      <p:sp>
        <p:nvSpPr>
          <p:cNvPr id="22" name="Rectangle 21">
            <a:extLst>
              <a:ext uri="{FF2B5EF4-FFF2-40B4-BE49-F238E27FC236}">
                <a16:creationId xmlns:a16="http://schemas.microsoft.com/office/drawing/2014/main" id="{B05A35DB-991E-41FE-995F-589A69BD2276}"/>
              </a:ext>
            </a:extLst>
          </p:cNvPr>
          <p:cNvSpPr>
            <a:spLocks noGrp="1"/>
          </p:cNvSpPr>
          <p:nvPr/>
        </p:nvSpPr>
        <p:spPr>
          <a:xfrm>
            <a:off x="3771900" y="3905250"/>
            <a:ext cx="2381250" cy="266700"/>
          </a:xfrm>
          <a:prstGeom prst="rect">
            <a:avLst/>
          </a:prstGeom>
          <a:noFill/>
          <a:ln w="0">
            <a:noFill/>
          </a:ln>
        </p:spPr>
        <p:txBody>
          <a:bodyPr wrap="square" lIns="0" tIns="0" rIns="0" bIns="0" anchor="ctr">
            <a:noAutofit/>
          </a:bodyPr>
          <a:lstStyle/>
          <a:p>
            <a:pPr algn="l">
              <a:defRPr sz="1350" b="0">
                <a:solidFill>
                  <a:srgbClr val="132238"/>
                </a:solidFill>
                <a:latin typeface="Nimbus Sans"/>
                <a:ea typeface="Nimbus Sans"/>
                <a:cs typeface="Nimbus Sans"/>
              </a:defRPr>
            </a:pPr>
            <a:r>
              <a:rPr sz="1350" b="0" dirty="0">
                <a:solidFill>
                  <a:srgbClr val="132238"/>
                </a:solidFill>
                <a:latin typeface="Nimbus Sans"/>
                <a:ea typeface="Nimbus Sans"/>
                <a:cs typeface="Nimbus Sans"/>
              </a:rPr>
              <a:t>Employer, scholarship, side work...</a:t>
            </a:r>
          </a:p>
        </p:txBody>
      </p:sp>
      <p:sp>
        <p:nvSpPr>
          <p:cNvPr id="23" name="Rectangle 22">
            <a:extLst>
              <a:ext uri="{FF2B5EF4-FFF2-40B4-BE49-F238E27FC236}">
                <a16:creationId xmlns:a16="http://schemas.microsoft.com/office/drawing/2014/main" id="{A1D91AF5-5038-4822-8438-C652FE96EB45}"/>
              </a:ext>
            </a:extLst>
          </p:cNvPr>
          <p:cNvSpPr>
            <a:spLocks noGrp="1"/>
          </p:cNvSpPr>
          <p:nvPr/>
        </p:nvSpPr>
        <p:spPr>
          <a:xfrm>
            <a:off x="3676650" y="3810000"/>
            <a:ext cx="47625" cy="457200"/>
          </a:xfrm>
          <a:prstGeom prst="rect">
            <a:avLst/>
          </a:prstGeom>
          <a:solidFill>
            <a:srgbClr val="0F766E"/>
          </a:solidFill>
          <a:ln w="0">
            <a:noFill/>
          </a:ln>
        </p:spPr>
        <p:txBody>
          <a:bodyPr/>
          <a:lstStyle/>
          <a:p>
            <a:endParaRPr lang="en-US"/>
          </a:p>
        </p:txBody>
      </p:sp>
      <p:sp>
        <p:nvSpPr>
          <p:cNvPr id="24" name="Rectangle: Rounded Corners 23">
            <a:extLst>
              <a:ext uri="{FF2B5EF4-FFF2-40B4-BE49-F238E27FC236}">
                <a16:creationId xmlns:a16="http://schemas.microsoft.com/office/drawing/2014/main" id="{7D36C35C-C90F-4E7F-BF53-09FF98A94107}"/>
              </a:ext>
            </a:extLst>
          </p:cNvPr>
          <p:cNvSpPr>
            <a:spLocks noGrp="1"/>
          </p:cNvSpPr>
          <p:nvPr/>
        </p:nvSpPr>
        <p:spPr>
          <a:xfrm>
            <a:off x="3486150" y="4791075"/>
            <a:ext cx="1143000" cy="476250"/>
          </a:xfrm>
          <a:prstGeom prst="roundRect">
            <a:avLst>
              <a:gd name="adj" fmla="val 24000"/>
            </a:avLst>
          </a:prstGeom>
          <a:solidFill>
            <a:srgbClr val="EDF1F4"/>
          </a:solidFill>
          <a:ln w="0">
            <a:noFill/>
          </a:ln>
        </p:spPr>
        <p:txBody>
          <a:bodyPr wrap="square" lIns="57150" tIns="47625" rIns="57150" bIns="47625" anchor="ctr">
            <a:noAutofit/>
          </a:bodyPr>
          <a:lstStyle/>
          <a:p>
            <a:pPr algn="ctr">
              <a:defRPr sz="1350" b="1">
                <a:solidFill>
                  <a:srgbClr val="5B6B7E"/>
                </a:solidFill>
                <a:latin typeface="Nimbus Sans"/>
                <a:ea typeface="Nimbus Sans"/>
                <a:cs typeface="Nimbus Sans"/>
              </a:defRPr>
            </a:pPr>
            <a:r>
              <a:rPr sz="1350" b="1">
                <a:solidFill>
                  <a:srgbClr val="5B6B7E"/>
                </a:solidFill>
                <a:latin typeface="Nimbus Sans"/>
                <a:ea typeface="Nimbus Sans"/>
                <a:cs typeface="Nimbus Sans"/>
              </a:rPr>
              <a:t>Cancel</a:t>
            </a:r>
          </a:p>
        </p:txBody>
      </p:sp>
      <p:sp>
        <p:nvSpPr>
          <p:cNvPr id="25" name="Rectangle: Rounded Corners 24">
            <a:extLst>
              <a:ext uri="{FF2B5EF4-FFF2-40B4-BE49-F238E27FC236}">
                <a16:creationId xmlns:a16="http://schemas.microsoft.com/office/drawing/2014/main" id="{2D9E3F23-4C1C-410A-AE94-51B1E0A747C4}"/>
              </a:ext>
            </a:extLst>
          </p:cNvPr>
          <p:cNvSpPr>
            <a:spLocks noGrp="1"/>
          </p:cNvSpPr>
          <p:nvPr/>
        </p:nvSpPr>
        <p:spPr>
          <a:xfrm>
            <a:off x="4781550" y="4791075"/>
            <a:ext cx="1466850" cy="476250"/>
          </a:xfrm>
          <a:prstGeom prst="roundRect">
            <a:avLst>
              <a:gd name="adj" fmla="val 24000"/>
            </a:avLst>
          </a:prstGeom>
          <a:solidFill>
            <a:srgbClr val="0F766E"/>
          </a:solidFill>
          <a:ln w="0">
            <a:noFill/>
          </a:ln>
        </p:spPr>
        <p:txBody>
          <a:bodyPr wrap="square" lIns="57150" tIns="47625" rIns="57150" bIns="47625" anchor="ctr">
            <a:noAutofit/>
          </a:bodyPr>
          <a:lstStyle/>
          <a:p>
            <a:pPr algn="ctr">
              <a:defRPr sz="1350" b="1">
                <a:solidFill>
                  <a:srgbClr val="FFFFFF"/>
                </a:solidFill>
                <a:latin typeface="Nimbus Sans"/>
                <a:ea typeface="Nimbus Sans"/>
                <a:cs typeface="Nimbus Sans"/>
              </a:defRPr>
            </a:pPr>
            <a:r>
              <a:rPr sz="1350" b="1">
                <a:solidFill>
                  <a:srgbClr val="FFFFFF"/>
                </a:solidFill>
                <a:latin typeface="Nimbus Sans"/>
                <a:ea typeface="Nimbus Sans"/>
                <a:cs typeface="Nimbus Sans"/>
              </a:rPr>
              <a:t>Add Income</a:t>
            </a:r>
          </a:p>
        </p:txBody>
      </p:sp>
      <p:sp>
        <p:nvSpPr>
          <p:cNvPr id="26" name="Rectangle 25">
            <a:extLst>
              <a:ext uri="{FF2B5EF4-FFF2-40B4-BE49-F238E27FC236}">
                <a16:creationId xmlns:a16="http://schemas.microsoft.com/office/drawing/2014/main" id="{743A59B9-7F60-4FB4-901F-C476A2C260E7}"/>
              </a:ext>
            </a:extLst>
          </p:cNvPr>
          <p:cNvSpPr>
            <a:spLocks noGrp="1"/>
          </p:cNvSpPr>
          <p:nvPr/>
        </p:nvSpPr>
        <p:spPr>
          <a:xfrm>
            <a:off x="715840" y="5495925"/>
            <a:ext cx="6016870" cy="457200"/>
          </a:xfrm>
          <a:prstGeom prst="rect">
            <a:avLst/>
          </a:prstGeom>
          <a:noFill/>
          <a:ln w="0">
            <a:noFill/>
          </a:ln>
        </p:spPr>
        <p:txBody>
          <a:bodyPr wrap="square" lIns="0" tIns="0" rIns="0" bIns="0" anchor="t">
            <a:noAutofit/>
          </a:bodyPr>
          <a:lstStyle/>
          <a:p>
            <a:pPr algn="l">
              <a:defRPr sz="975" b="0">
                <a:solidFill>
                  <a:srgbClr val="5B6B7E"/>
                </a:solidFill>
                <a:latin typeface="Nimbus Sans"/>
                <a:ea typeface="Nimbus Sans"/>
                <a:cs typeface="Nimbus Sans"/>
              </a:defRPr>
            </a:pPr>
            <a:r>
              <a:rPr sz="1600" b="0" dirty="0">
                <a:solidFill>
                  <a:srgbClr val="5B6B7E"/>
                </a:solidFill>
                <a:latin typeface="Nimbus Sans"/>
                <a:ea typeface="Nimbus Sans"/>
                <a:cs typeface="Nimbus Sans"/>
              </a:rPr>
              <a:t>Employment   Financial aid   Scholarships   Allowance   Self employment   Other income</a:t>
            </a:r>
          </a:p>
        </p:txBody>
      </p:sp>
      <p:sp>
        <p:nvSpPr>
          <p:cNvPr id="27" name="Rectangle: Rounded Corners 26">
            <a:extLst>
              <a:ext uri="{FF2B5EF4-FFF2-40B4-BE49-F238E27FC236}">
                <a16:creationId xmlns:a16="http://schemas.microsoft.com/office/drawing/2014/main" id="{6998B992-F8B6-46AC-823B-78ADCCEF059D}"/>
              </a:ext>
            </a:extLst>
          </p:cNvPr>
          <p:cNvSpPr>
            <a:spLocks noGrp="1"/>
          </p:cNvSpPr>
          <p:nvPr/>
        </p:nvSpPr>
        <p:spPr>
          <a:xfrm>
            <a:off x="7429500" y="1924050"/>
            <a:ext cx="1047750" cy="876300"/>
          </a:xfrm>
          <a:prstGeom prst="roundRect">
            <a:avLst>
              <a:gd name="adj" fmla="val 50000"/>
            </a:avLst>
          </a:prstGeom>
          <a:solidFill>
            <a:srgbClr val="D9F3EF"/>
          </a:solidFill>
          <a:ln w="0">
            <a:noFill/>
          </a:ln>
        </p:spPr>
        <p:txBody>
          <a:bodyPr wrap="square" lIns="57150" tIns="47625" rIns="57150" bIns="47625" anchor="ctr">
            <a:noAutofit/>
          </a:bodyPr>
          <a:lstStyle/>
          <a:p>
            <a:pPr algn="ctr">
              <a:defRPr sz="3600" b="1">
                <a:solidFill>
                  <a:srgbClr val="0F766E"/>
                </a:solidFill>
                <a:latin typeface="Nimbus Sans"/>
                <a:ea typeface="Nimbus Sans"/>
                <a:cs typeface="Nimbus Sans"/>
              </a:defRPr>
            </a:pPr>
            <a:r>
              <a:rPr sz="3600" b="1">
                <a:solidFill>
                  <a:srgbClr val="0F766E"/>
                </a:solidFill>
                <a:latin typeface="Nimbus Sans"/>
                <a:ea typeface="Nimbus Sans"/>
                <a:cs typeface="Nimbus Sans"/>
              </a:rPr>
              <a:t>$ +</a:t>
            </a:r>
          </a:p>
        </p:txBody>
      </p:sp>
      <p:sp>
        <p:nvSpPr>
          <p:cNvPr id="28" name="Rectangle 27">
            <a:extLst>
              <a:ext uri="{FF2B5EF4-FFF2-40B4-BE49-F238E27FC236}">
                <a16:creationId xmlns:a16="http://schemas.microsoft.com/office/drawing/2014/main" id="{80EFCD8E-830F-4336-86A5-D2FA1F99B781}"/>
              </a:ext>
            </a:extLst>
          </p:cNvPr>
          <p:cNvSpPr>
            <a:spLocks noGrp="1"/>
          </p:cNvSpPr>
          <p:nvPr/>
        </p:nvSpPr>
        <p:spPr>
          <a:xfrm>
            <a:off x="7429500" y="3028950"/>
            <a:ext cx="3714750" cy="428625"/>
          </a:xfrm>
          <a:prstGeom prst="rect">
            <a:avLst/>
          </a:prstGeom>
          <a:noFill/>
          <a:ln w="0">
            <a:noFill/>
          </a:ln>
        </p:spPr>
        <p:txBody>
          <a:bodyPr wrap="square" lIns="0" tIns="0" rIns="0" bIns="0" anchor="t">
            <a:noAutofit/>
          </a:bodyPr>
          <a:lstStyle/>
          <a:p>
            <a:pPr algn="l">
              <a:defRPr sz="2100" b="1">
                <a:solidFill>
                  <a:srgbClr val="102A43"/>
                </a:solidFill>
                <a:latin typeface="Nimbus Sans"/>
                <a:ea typeface="Nimbus Sans"/>
                <a:cs typeface="Nimbus Sans"/>
              </a:defRPr>
            </a:pPr>
            <a:r>
              <a:rPr sz="2100" b="1">
                <a:solidFill>
                  <a:srgbClr val="102A43"/>
                </a:solidFill>
                <a:latin typeface="Nimbus Sans"/>
                <a:ea typeface="Nimbus Sans"/>
                <a:cs typeface="Nimbus Sans"/>
              </a:rPr>
              <a:t>Validation before saving</a:t>
            </a:r>
          </a:p>
        </p:txBody>
      </p:sp>
      <p:sp>
        <p:nvSpPr>
          <p:cNvPr id="29" name="Rectangle 28">
            <a:extLst>
              <a:ext uri="{FF2B5EF4-FFF2-40B4-BE49-F238E27FC236}">
                <a16:creationId xmlns:a16="http://schemas.microsoft.com/office/drawing/2014/main" id="{DDFA6D59-90D6-4CDE-B925-64F86A1C1995}"/>
              </a:ext>
            </a:extLst>
          </p:cNvPr>
          <p:cNvSpPr>
            <a:spLocks noGrp="1"/>
          </p:cNvSpPr>
          <p:nvPr/>
        </p:nvSpPr>
        <p:spPr>
          <a:xfrm>
            <a:off x="7372350" y="3581400"/>
            <a:ext cx="4283738" cy="1352550"/>
          </a:xfrm>
          <a:prstGeom prst="rect">
            <a:avLst/>
          </a:prstGeom>
          <a:noFill/>
          <a:ln w="0">
            <a:noFill/>
          </a:ln>
        </p:spPr>
        <p:txBody>
          <a:bodyPr wrap="square" lIns="0" tIns="0" rIns="0" bIns="0" anchor="t">
            <a:noAutofit/>
          </a:bodyPr>
          <a:lstStyle/>
          <a:p>
            <a:pPr marL="228600" indent="-114300" algn="l">
              <a:spcAft>
                <a:spcPts val="1000"/>
              </a:spcAft>
              <a:buChar char="•"/>
              <a:defRPr sz="1500" b="0">
                <a:solidFill>
                  <a:srgbClr val="132238"/>
                </a:solidFill>
                <a:latin typeface="Nimbus Sans"/>
                <a:ea typeface="Nimbus Sans"/>
                <a:cs typeface="Nimbus Sans"/>
              </a:defRPr>
            </a:pPr>
            <a:r>
              <a:rPr sz="2000" b="0" dirty="0">
                <a:solidFill>
                  <a:srgbClr val="132238"/>
                </a:solidFill>
                <a:latin typeface="Nimbus Sans"/>
                <a:ea typeface="Nimbus Sans"/>
                <a:cs typeface="Nimbus Sans"/>
              </a:rPr>
              <a:t>Amount must be greater than zero</a:t>
            </a:r>
          </a:p>
          <a:p>
            <a:pPr marL="228600" indent="-114300" algn="l">
              <a:spcAft>
                <a:spcPts val="1000"/>
              </a:spcAft>
              <a:buChar char="•"/>
              <a:defRPr sz="1500" b="0">
                <a:solidFill>
                  <a:srgbClr val="132238"/>
                </a:solidFill>
                <a:latin typeface="Nimbus Sans"/>
                <a:ea typeface="Nimbus Sans"/>
                <a:cs typeface="Nimbus Sans"/>
              </a:defRPr>
            </a:pPr>
            <a:r>
              <a:rPr sz="2000" b="0" dirty="0">
                <a:solidFill>
                  <a:srgbClr val="132238"/>
                </a:solidFill>
                <a:latin typeface="Nimbus Sans"/>
                <a:ea typeface="Nimbus Sans"/>
                <a:cs typeface="Nimbus Sans"/>
              </a:rPr>
              <a:t>Date and category are required</a:t>
            </a:r>
          </a:p>
          <a:p>
            <a:pPr marL="228600" indent="-114300" algn="l">
              <a:spcAft>
                <a:spcPts val="1000"/>
              </a:spcAft>
              <a:buChar char="•"/>
              <a:defRPr sz="1500" b="0">
                <a:solidFill>
                  <a:srgbClr val="132238"/>
                </a:solidFill>
                <a:latin typeface="Nimbus Sans"/>
                <a:ea typeface="Nimbus Sans"/>
                <a:cs typeface="Nimbus Sans"/>
              </a:defRPr>
            </a:pPr>
            <a:r>
              <a:rPr sz="2000" b="0" dirty="0">
                <a:solidFill>
                  <a:srgbClr val="132238"/>
                </a:solidFill>
                <a:latin typeface="Nimbus Sans"/>
                <a:ea typeface="Nimbus Sans"/>
                <a:cs typeface="Nimbus Sans"/>
              </a:rPr>
              <a:t>Invalid entries show an error message</a:t>
            </a:r>
          </a:p>
        </p:txBody>
      </p:sp>
    </p:spTree>
    <p:extLst>
      <p:ext uri="{BB962C8B-B14F-4D97-AF65-F5344CB8AC3E}">
        <p14:creationId xmlns:p14="http://schemas.microsoft.com/office/powerpoint/2010/main" val="316114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4BF09FA7-EF48-4A3F-BF33-C6187A98C430}"/>
              </a:ext>
            </a:extLst>
          </p:cNvPr>
          <p:cNvSpPr>
            <a:spLocks noGrp="1"/>
          </p:cNvSpPr>
          <p:nvPr/>
        </p:nvSpPr>
        <p:spPr>
          <a:xfrm>
            <a:off x="0" y="0"/>
            <a:ext cx="12192000" cy="1028700"/>
          </a:xfrm>
          <a:prstGeom prst="rect">
            <a:avLst/>
          </a:prstGeom>
          <a:solidFill>
            <a:srgbClr val="081A2D"/>
          </a:solidFill>
          <a:ln w="0">
            <a:noFill/>
          </a:ln>
        </p:spPr>
        <p:txBody>
          <a:bodyPr/>
          <a:lstStyle/>
          <a:p>
            <a:endParaRPr lang="en-US"/>
          </a:p>
        </p:txBody>
      </p:sp>
      <p:sp>
        <p:nvSpPr>
          <p:cNvPr id="3" name="Rectangle 2">
            <a:extLst>
              <a:ext uri="{FF2B5EF4-FFF2-40B4-BE49-F238E27FC236}">
                <a16:creationId xmlns:a16="http://schemas.microsoft.com/office/drawing/2014/main" id="{74E1A0B9-0787-459D-864D-CAA1E9997FA4}"/>
              </a:ext>
            </a:extLst>
          </p:cNvPr>
          <p:cNvSpPr>
            <a:spLocks noGrp="1"/>
          </p:cNvSpPr>
          <p:nvPr/>
        </p:nvSpPr>
        <p:spPr>
          <a:xfrm>
            <a:off x="1181100" y="209550"/>
            <a:ext cx="9906000" cy="552450"/>
          </a:xfrm>
          <a:prstGeom prst="rect">
            <a:avLst/>
          </a:prstGeom>
          <a:noFill/>
          <a:ln w="0">
            <a:noFill/>
          </a:ln>
        </p:spPr>
        <p:txBody>
          <a:bodyPr wrap="square" lIns="57150" tIns="47625" rIns="57150" bIns="47625" anchor="ctr">
            <a:noAutofit/>
          </a:bodyPr>
          <a:lstStyle/>
          <a:p>
            <a:pPr algn="l">
              <a:defRPr sz="2700" b="1">
                <a:solidFill>
                  <a:srgbClr val="FFFFFF"/>
                </a:solidFill>
                <a:latin typeface="Nimbus Sans"/>
                <a:ea typeface="Nimbus Sans"/>
                <a:cs typeface="Nimbus Sans"/>
              </a:defRPr>
            </a:pPr>
            <a:r>
              <a:rPr sz="2700" b="1">
                <a:solidFill>
                  <a:srgbClr val="FFFFFF"/>
                </a:solidFill>
                <a:latin typeface="Nimbus Sans"/>
                <a:ea typeface="Nimbus Sans"/>
                <a:cs typeface="Nimbus Sans"/>
              </a:rPr>
              <a:t>Expense tracking</a:t>
            </a:r>
          </a:p>
        </p:txBody>
      </p:sp>
      <p:sp>
        <p:nvSpPr>
          <p:cNvPr id="4" name="Rectangle 3">
            <a:extLst>
              <a:ext uri="{FF2B5EF4-FFF2-40B4-BE49-F238E27FC236}">
                <a16:creationId xmlns:a16="http://schemas.microsoft.com/office/drawing/2014/main" id="{169B3CA7-D6A2-4B4A-BADF-31424C616290}"/>
              </a:ext>
            </a:extLst>
          </p:cNvPr>
          <p:cNvSpPr>
            <a:spLocks noGrp="1"/>
          </p:cNvSpPr>
          <p:nvPr/>
        </p:nvSpPr>
        <p:spPr>
          <a:xfrm>
            <a:off x="609600" y="838200"/>
            <a:ext cx="781050" cy="47625"/>
          </a:xfrm>
          <a:prstGeom prst="rect">
            <a:avLst/>
          </a:prstGeom>
          <a:solidFill>
            <a:srgbClr val="FF7A59"/>
          </a:solidFill>
          <a:ln w="0">
            <a:noFill/>
          </a:ln>
        </p:spPr>
        <p:txBody>
          <a:bodyPr/>
          <a:lstStyle/>
          <a:p>
            <a:endParaRPr lang="en-US"/>
          </a:p>
        </p:txBody>
      </p:sp>
      <p:sp>
        <p:nvSpPr>
          <p:cNvPr id="6" name="Rectangle: Rounded Corners 5">
            <a:extLst>
              <a:ext uri="{FF2B5EF4-FFF2-40B4-BE49-F238E27FC236}">
                <a16:creationId xmlns:a16="http://schemas.microsoft.com/office/drawing/2014/main" id="{1148EBC9-55BD-4F30-9327-47D934690B0D}"/>
              </a:ext>
            </a:extLst>
          </p:cNvPr>
          <p:cNvSpPr>
            <a:spLocks noGrp="1"/>
          </p:cNvSpPr>
          <p:nvPr/>
        </p:nvSpPr>
        <p:spPr>
          <a:xfrm>
            <a:off x="685800" y="1924050"/>
            <a:ext cx="1047750" cy="876300"/>
          </a:xfrm>
          <a:prstGeom prst="roundRect">
            <a:avLst>
              <a:gd name="adj" fmla="val 50000"/>
            </a:avLst>
          </a:prstGeom>
          <a:solidFill>
            <a:srgbClr val="FFE8E1"/>
          </a:solidFill>
          <a:ln w="0">
            <a:noFill/>
          </a:ln>
        </p:spPr>
        <p:txBody>
          <a:bodyPr wrap="square" lIns="57150" tIns="47625" rIns="57150" bIns="47625" anchor="ctr">
            <a:noAutofit/>
          </a:bodyPr>
          <a:lstStyle/>
          <a:p>
            <a:pPr algn="ctr">
              <a:defRPr sz="3600" b="1">
                <a:solidFill>
                  <a:srgbClr val="C2413A"/>
                </a:solidFill>
                <a:latin typeface="Nimbus Sans"/>
                <a:ea typeface="Nimbus Sans"/>
                <a:cs typeface="Nimbus Sans"/>
              </a:defRPr>
            </a:pPr>
            <a:r>
              <a:rPr sz="3600" b="1">
                <a:solidFill>
                  <a:srgbClr val="C2413A"/>
                </a:solidFill>
                <a:latin typeface="Nimbus Sans"/>
                <a:ea typeface="Nimbus Sans"/>
                <a:cs typeface="Nimbus Sans"/>
              </a:rPr>
              <a:t>$ −</a:t>
            </a:r>
          </a:p>
        </p:txBody>
      </p:sp>
      <p:sp>
        <p:nvSpPr>
          <p:cNvPr id="7" name="Rectangle 6">
            <a:extLst>
              <a:ext uri="{FF2B5EF4-FFF2-40B4-BE49-F238E27FC236}">
                <a16:creationId xmlns:a16="http://schemas.microsoft.com/office/drawing/2014/main" id="{56D44D79-3C8B-4C19-A4AE-AED9FD4F4697}"/>
              </a:ext>
            </a:extLst>
          </p:cNvPr>
          <p:cNvSpPr>
            <a:spLocks noGrp="1"/>
          </p:cNvSpPr>
          <p:nvPr/>
        </p:nvSpPr>
        <p:spPr>
          <a:xfrm>
            <a:off x="685800" y="3028950"/>
            <a:ext cx="3429000" cy="428625"/>
          </a:xfrm>
          <a:prstGeom prst="rect">
            <a:avLst/>
          </a:prstGeom>
          <a:noFill/>
          <a:ln w="0">
            <a:noFill/>
          </a:ln>
        </p:spPr>
        <p:txBody>
          <a:bodyPr wrap="square" lIns="0" tIns="0" rIns="0" bIns="0" anchor="t">
            <a:noAutofit/>
          </a:bodyPr>
          <a:lstStyle/>
          <a:p>
            <a:pPr algn="l">
              <a:defRPr sz="2100" b="1">
                <a:solidFill>
                  <a:srgbClr val="102A43"/>
                </a:solidFill>
                <a:latin typeface="Nimbus Sans"/>
                <a:ea typeface="Nimbus Sans"/>
                <a:cs typeface="Nimbus Sans"/>
              </a:defRPr>
            </a:pPr>
            <a:r>
              <a:rPr sz="2100" b="1">
                <a:solidFill>
                  <a:srgbClr val="102A43"/>
                </a:solidFill>
                <a:latin typeface="Nimbus Sans"/>
                <a:ea typeface="Nimbus Sans"/>
                <a:cs typeface="Nimbus Sans"/>
              </a:rPr>
              <a:t>Expense rules</a:t>
            </a:r>
          </a:p>
        </p:txBody>
      </p:sp>
      <p:sp>
        <p:nvSpPr>
          <p:cNvPr id="8" name="Rectangle 7">
            <a:extLst>
              <a:ext uri="{FF2B5EF4-FFF2-40B4-BE49-F238E27FC236}">
                <a16:creationId xmlns:a16="http://schemas.microsoft.com/office/drawing/2014/main" id="{BABE728F-9FCB-408A-9200-6F75D2A7098C}"/>
              </a:ext>
            </a:extLst>
          </p:cNvPr>
          <p:cNvSpPr>
            <a:spLocks noGrp="1"/>
          </p:cNvSpPr>
          <p:nvPr/>
        </p:nvSpPr>
        <p:spPr>
          <a:xfrm>
            <a:off x="221064" y="3638550"/>
            <a:ext cx="3988986" cy="1352550"/>
          </a:xfrm>
          <a:prstGeom prst="rect">
            <a:avLst/>
          </a:prstGeom>
          <a:noFill/>
          <a:ln w="0">
            <a:noFill/>
          </a:ln>
        </p:spPr>
        <p:txBody>
          <a:bodyPr wrap="square" lIns="0" tIns="0" rIns="0" bIns="0" anchor="t">
            <a:noAutofit/>
          </a:bodyPr>
          <a:lstStyle/>
          <a:p>
            <a:pPr marL="228600" indent="-114300" algn="l">
              <a:spcAft>
                <a:spcPts val="1000"/>
              </a:spcAft>
              <a:buChar char="•"/>
              <a:defRPr sz="1500" b="0">
                <a:solidFill>
                  <a:srgbClr val="132238"/>
                </a:solidFill>
                <a:latin typeface="Nimbus Sans"/>
                <a:ea typeface="Nimbus Sans"/>
                <a:cs typeface="Nimbus Sans"/>
              </a:defRPr>
            </a:pPr>
            <a:r>
              <a:rPr sz="2000" b="0" dirty="0">
                <a:solidFill>
                  <a:srgbClr val="132238"/>
                </a:solidFill>
                <a:latin typeface="Nimbus Sans"/>
                <a:ea typeface="Nimbus Sans"/>
                <a:cs typeface="Nimbus Sans"/>
              </a:rPr>
              <a:t>Amount must be greater than zero</a:t>
            </a:r>
          </a:p>
          <a:p>
            <a:pPr marL="228600" indent="-114300" algn="l">
              <a:spcAft>
                <a:spcPts val="1000"/>
              </a:spcAft>
              <a:buChar char="•"/>
              <a:defRPr sz="1500" b="0">
                <a:solidFill>
                  <a:srgbClr val="132238"/>
                </a:solidFill>
                <a:latin typeface="Nimbus Sans"/>
                <a:ea typeface="Nimbus Sans"/>
                <a:cs typeface="Nimbus Sans"/>
              </a:defRPr>
            </a:pPr>
            <a:r>
              <a:rPr sz="2000" b="0" dirty="0">
                <a:solidFill>
                  <a:srgbClr val="132238"/>
                </a:solidFill>
                <a:latin typeface="Nimbus Sans"/>
                <a:ea typeface="Nimbus Sans"/>
                <a:cs typeface="Nimbus Sans"/>
              </a:rPr>
              <a:t>Date and category are required</a:t>
            </a:r>
          </a:p>
          <a:p>
            <a:pPr marL="228600" indent="-114300" algn="l">
              <a:spcAft>
                <a:spcPts val="1000"/>
              </a:spcAft>
              <a:buChar char="•"/>
              <a:defRPr sz="1500" b="0">
                <a:solidFill>
                  <a:srgbClr val="132238"/>
                </a:solidFill>
                <a:latin typeface="Nimbus Sans"/>
                <a:ea typeface="Nimbus Sans"/>
                <a:cs typeface="Nimbus Sans"/>
              </a:defRPr>
            </a:pPr>
            <a:r>
              <a:rPr sz="2000" b="0" dirty="0">
                <a:solidFill>
                  <a:srgbClr val="132238"/>
                </a:solidFill>
                <a:latin typeface="Nimbus Sans"/>
                <a:ea typeface="Nimbus Sans"/>
                <a:cs typeface="Nimbus Sans"/>
              </a:rPr>
              <a:t>Description remains optional</a:t>
            </a:r>
          </a:p>
        </p:txBody>
      </p:sp>
      <p:sp>
        <p:nvSpPr>
          <p:cNvPr id="9" name="Rectangle 8">
            <a:extLst>
              <a:ext uri="{FF2B5EF4-FFF2-40B4-BE49-F238E27FC236}">
                <a16:creationId xmlns:a16="http://schemas.microsoft.com/office/drawing/2014/main" id="{8B1F84E5-790E-4D62-9A34-5C6CEBF7541B}"/>
              </a:ext>
            </a:extLst>
          </p:cNvPr>
          <p:cNvSpPr>
            <a:spLocks noGrp="1"/>
          </p:cNvSpPr>
          <p:nvPr/>
        </p:nvSpPr>
        <p:spPr>
          <a:xfrm>
            <a:off x="685800" y="5219700"/>
            <a:ext cx="3524250" cy="704850"/>
          </a:xfrm>
          <a:prstGeom prst="rect">
            <a:avLst/>
          </a:prstGeom>
          <a:noFill/>
          <a:ln w="0">
            <a:noFill/>
          </a:ln>
        </p:spPr>
        <p:txBody>
          <a:bodyPr wrap="square" lIns="0" tIns="0" rIns="0" bIns="0" anchor="t">
            <a:noAutofit/>
          </a:bodyPr>
          <a:lstStyle/>
          <a:p>
            <a:pPr algn="l">
              <a:lnSpc>
                <a:spcPct val="104000"/>
              </a:lnSpc>
              <a:buNone/>
              <a:defRPr sz="1350" b="1">
                <a:solidFill>
                  <a:srgbClr val="C2413A"/>
                </a:solidFill>
                <a:latin typeface="Nimbus Sans"/>
                <a:ea typeface="Nimbus Sans"/>
                <a:cs typeface="Nimbus Sans"/>
              </a:defRPr>
            </a:pPr>
            <a:r>
              <a:rPr sz="1350" b="1">
                <a:solidFill>
                  <a:srgbClr val="C2413A"/>
                </a:solidFill>
                <a:latin typeface="Nimbus Sans"/>
                <a:ea typeface="Nimbus Sans"/>
                <a:cs typeface="Nimbus Sans"/>
              </a:rPr>
              <a:t>Categories: food, housing, transportation, tuition, entertainment, utilities, subscriptions, and other.</a:t>
            </a:r>
          </a:p>
        </p:txBody>
      </p:sp>
      <p:sp>
        <p:nvSpPr>
          <p:cNvPr id="10" name="Rectangle: Rounded Corners 9">
            <a:extLst>
              <a:ext uri="{FF2B5EF4-FFF2-40B4-BE49-F238E27FC236}">
                <a16:creationId xmlns:a16="http://schemas.microsoft.com/office/drawing/2014/main" id="{C763E8B1-C302-4C8F-A027-19D3A272EFD3}"/>
              </a:ext>
            </a:extLst>
          </p:cNvPr>
          <p:cNvSpPr>
            <a:spLocks noGrp="1"/>
          </p:cNvSpPr>
          <p:nvPr/>
        </p:nvSpPr>
        <p:spPr>
          <a:xfrm>
            <a:off x="4572000" y="1809750"/>
            <a:ext cx="7010400" cy="4210050"/>
          </a:xfrm>
          <a:prstGeom prst="roundRect">
            <a:avLst>
              <a:gd name="adj" fmla="val 4525"/>
            </a:avLst>
          </a:prstGeom>
          <a:solidFill>
            <a:srgbClr val="FFFFFF"/>
          </a:solidFill>
          <a:ln w="9525">
            <a:solidFill>
              <a:srgbClr val="D7DF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1" name="Rectangle 10">
            <a:extLst>
              <a:ext uri="{FF2B5EF4-FFF2-40B4-BE49-F238E27FC236}">
                <a16:creationId xmlns:a16="http://schemas.microsoft.com/office/drawing/2014/main" id="{FBD83D59-4809-43A9-9BB5-CD6B2FB129F0}"/>
              </a:ext>
            </a:extLst>
          </p:cNvPr>
          <p:cNvSpPr>
            <a:spLocks noGrp="1"/>
          </p:cNvSpPr>
          <p:nvPr/>
        </p:nvSpPr>
        <p:spPr>
          <a:xfrm>
            <a:off x="4857750" y="2038350"/>
            <a:ext cx="2857500" cy="400050"/>
          </a:xfrm>
          <a:prstGeom prst="rect">
            <a:avLst/>
          </a:prstGeom>
          <a:noFill/>
          <a:ln w="0">
            <a:noFill/>
          </a:ln>
        </p:spPr>
        <p:txBody>
          <a:bodyPr wrap="square" lIns="0" tIns="0" rIns="0" bIns="0" anchor="t">
            <a:noAutofit/>
          </a:bodyPr>
          <a:lstStyle/>
          <a:p>
            <a:pPr algn="l">
              <a:defRPr sz="2175" b="1">
                <a:solidFill>
                  <a:srgbClr val="102A43"/>
                </a:solidFill>
                <a:latin typeface="Nimbus Sans"/>
                <a:ea typeface="Nimbus Sans"/>
                <a:cs typeface="Nimbus Sans"/>
              </a:defRPr>
            </a:pPr>
            <a:r>
              <a:rPr sz="2175" b="1">
                <a:solidFill>
                  <a:srgbClr val="102A43"/>
                </a:solidFill>
                <a:latin typeface="Nimbus Sans"/>
                <a:ea typeface="Nimbus Sans"/>
                <a:cs typeface="Nimbus Sans"/>
              </a:rPr>
              <a:t>Add expense</a:t>
            </a:r>
          </a:p>
        </p:txBody>
      </p:sp>
      <p:sp>
        <p:nvSpPr>
          <p:cNvPr id="12" name="Rectangle 11">
            <a:extLst>
              <a:ext uri="{FF2B5EF4-FFF2-40B4-BE49-F238E27FC236}">
                <a16:creationId xmlns:a16="http://schemas.microsoft.com/office/drawing/2014/main" id="{FE6F7BDC-EB5D-43D3-B3B8-F48AD4D50B1D}"/>
              </a:ext>
            </a:extLst>
          </p:cNvPr>
          <p:cNvSpPr>
            <a:spLocks noGrp="1"/>
          </p:cNvSpPr>
          <p:nvPr/>
        </p:nvSpPr>
        <p:spPr>
          <a:xfrm>
            <a:off x="4857750" y="2647950"/>
            <a:ext cx="2952750" cy="209550"/>
          </a:xfrm>
          <a:prstGeom prst="rect">
            <a:avLst/>
          </a:prstGeom>
          <a:noFill/>
          <a:ln w="0">
            <a:noFill/>
          </a:ln>
        </p:spPr>
        <p:txBody>
          <a:bodyPr wrap="square" lIns="0" tIns="0" rIns="0" bIns="0" anchor="t">
            <a:noAutofit/>
          </a:bodyPr>
          <a:lstStyle/>
          <a:p>
            <a:pPr algn="l">
              <a:defRPr sz="900" b="1">
                <a:solidFill>
                  <a:srgbClr val="5B6B7E"/>
                </a:solidFill>
                <a:latin typeface="Nimbus Sans"/>
                <a:ea typeface="Nimbus Sans"/>
                <a:cs typeface="Nimbus Sans"/>
              </a:defRPr>
            </a:pPr>
            <a:r>
              <a:rPr sz="900" b="1">
                <a:solidFill>
                  <a:srgbClr val="5B6B7E"/>
                </a:solidFill>
                <a:latin typeface="Nimbus Sans"/>
                <a:ea typeface="Nimbus Sans"/>
                <a:cs typeface="Nimbus Sans"/>
              </a:rPr>
              <a:t>AMOUNT</a:t>
            </a:r>
          </a:p>
        </p:txBody>
      </p:sp>
      <p:sp>
        <p:nvSpPr>
          <p:cNvPr id="13" name="Rectangle: Rounded Corners 12">
            <a:extLst>
              <a:ext uri="{FF2B5EF4-FFF2-40B4-BE49-F238E27FC236}">
                <a16:creationId xmlns:a16="http://schemas.microsoft.com/office/drawing/2014/main" id="{DD3B04B4-4DA9-466D-892A-2D91DFC2A8E9}"/>
              </a:ext>
            </a:extLst>
          </p:cNvPr>
          <p:cNvSpPr>
            <a:spLocks noGrp="1"/>
          </p:cNvSpPr>
          <p:nvPr/>
        </p:nvSpPr>
        <p:spPr>
          <a:xfrm>
            <a:off x="4857750" y="2876550"/>
            <a:ext cx="2952750" cy="457200"/>
          </a:xfrm>
          <a:prstGeom prst="roundRect">
            <a:avLst>
              <a:gd name="adj" fmla="val 20833"/>
            </a:avLst>
          </a:prstGeom>
          <a:solidFill>
            <a:srgbClr val="FFFFFF"/>
          </a:solidFill>
          <a:ln w="9525">
            <a:solidFill>
              <a:srgbClr val="D7DFE5"/>
            </a:solidFill>
            <a:prstDash val="solid"/>
          </a:ln>
        </p:spPr>
        <p:txBody>
          <a:bodyPr/>
          <a:lstStyle/>
          <a:p>
            <a:endParaRPr lang="en-US"/>
          </a:p>
        </p:txBody>
      </p:sp>
      <p:sp>
        <p:nvSpPr>
          <p:cNvPr id="14" name="Rectangle 13">
            <a:extLst>
              <a:ext uri="{FF2B5EF4-FFF2-40B4-BE49-F238E27FC236}">
                <a16:creationId xmlns:a16="http://schemas.microsoft.com/office/drawing/2014/main" id="{38ED6DE5-2DF1-4882-A040-43F279B0D741}"/>
              </a:ext>
            </a:extLst>
          </p:cNvPr>
          <p:cNvSpPr>
            <a:spLocks noGrp="1"/>
          </p:cNvSpPr>
          <p:nvPr/>
        </p:nvSpPr>
        <p:spPr>
          <a:xfrm>
            <a:off x="4953000" y="2971800"/>
            <a:ext cx="2762250" cy="266700"/>
          </a:xfrm>
          <a:prstGeom prst="rect">
            <a:avLst/>
          </a:prstGeom>
          <a:noFill/>
          <a:ln w="0">
            <a:noFill/>
          </a:ln>
        </p:spPr>
        <p:txBody>
          <a:bodyPr wrap="square" lIns="0" tIns="0" rIns="0" bIns="0" anchor="ctr">
            <a:noAutofit/>
          </a:bodyPr>
          <a:lstStyle/>
          <a:p>
            <a:pPr algn="l">
              <a:defRPr sz="1350" b="0">
                <a:solidFill>
                  <a:srgbClr val="132238"/>
                </a:solidFill>
                <a:latin typeface="Nimbus Sans"/>
                <a:ea typeface="Nimbus Sans"/>
                <a:cs typeface="Nimbus Sans"/>
              </a:defRPr>
            </a:pPr>
            <a:r>
              <a:rPr sz="1350" b="0">
                <a:solidFill>
                  <a:srgbClr val="132238"/>
                </a:solidFill>
                <a:latin typeface="Nimbus Sans"/>
                <a:ea typeface="Nimbus Sans"/>
                <a:cs typeface="Nimbus Sans"/>
              </a:rPr>
              <a:t>$ 0.00</a:t>
            </a:r>
          </a:p>
        </p:txBody>
      </p:sp>
      <p:sp>
        <p:nvSpPr>
          <p:cNvPr id="15" name="Rectangle 14">
            <a:extLst>
              <a:ext uri="{FF2B5EF4-FFF2-40B4-BE49-F238E27FC236}">
                <a16:creationId xmlns:a16="http://schemas.microsoft.com/office/drawing/2014/main" id="{27011810-837D-4139-964F-1BA1A5635168}"/>
              </a:ext>
            </a:extLst>
          </p:cNvPr>
          <p:cNvSpPr>
            <a:spLocks noGrp="1"/>
          </p:cNvSpPr>
          <p:nvPr/>
        </p:nvSpPr>
        <p:spPr>
          <a:xfrm>
            <a:off x="4857750" y="2876550"/>
            <a:ext cx="47625" cy="457200"/>
          </a:xfrm>
          <a:prstGeom prst="rect">
            <a:avLst/>
          </a:prstGeom>
          <a:solidFill>
            <a:srgbClr val="FF7A59"/>
          </a:solidFill>
          <a:ln w="0">
            <a:noFill/>
          </a:ln>
        </p:spPr>
        <p:txBody>
          <a:bodyPr/>
          <a:lstStyle/>
          <a:p>
            <a:endParaRPr lang="en-US"/>
          </a:p>
        </p:txBody>
      </p:sp>
      <p:sp>
        <p:nvSpPr>
          <p:cNvPr id="16" name="Rectangle 15">
            <a:extLst>
              <a:ext uri="{FF2B5EF4-FFF2-40B4-BE49-F238E27FC236}">
                <a16:creationId xmlns:a16="http://schemas.microsoft.com/office/drawing/2014/main" id="{C9B53A4F-DB82-4891-976A-0557AF550C81}"/>
              </a:ext>
            </a:extLst>
          </p:cNvPr>
          <p:cNvSpPr>
            <a:spLocks noGrp="1"/>
          </p:cNvSpPr>
          <p:nvPr/>
        </p:nvSpPr>
        <p:spPr>
          <a:xfrm>
            <a:off x="8039100" y="2647950"/>
            <a:ext cx="2952750" cy="209550"/>
          </a:xfrm>
          <a:prstGeom prst="rect">
            <a:avLst/>
          </a:prstGeom>
          <a:noFill/>
          <a:ln w="0">
            <a:noFill/>
          </a:ln>
        </p:spPr>
        <p:txBody>
          <a:bodyPr wrap="square" lIns="0" tIns="0" rIns="0" bIns="0" anchor="t">
            <a:noAutofit/>
          </a:bodyPr>
          <a:lstStyle/>
          <a:p>
            <a:pPr algn="l">
              <a:defRPr sz="900" b="1">
                <a:solidFill>
                  <a:srgbClr val="5B6B7E"/>
                </a:solidFill>
                <a:latin typeface="Nimbus Sans"/>
                <a:ea typeface="Nimbus Sans"/>
                <a:cs typeface="Nimbus Sans"/>
              </a:defRPr>
            </a:pPr>
            <a:r>
              <a:rPr sz="900" b="1">
                <a:solidFill>
                  <a:srgbClr val="5B6B7E"/>
                </a:solidFill>
                <a:latin typeface="Nimbus Sans"/>
                <a:ea typeface="Nimbus Sans"/>
                <a:cs typeface="Nimbus Sans"/>
              </a:rPr>
              <a:t>DATE</a:t>
            </a:r>
          </a:p>
        </p:txBody>
      </p:sp>
      <p:sp>
        <p:nvSpPr>
          <p:cNvPr id="17" name="Rectangle: Rounded Corners 16">
            <a:extLst>
              <a:ext uri="{FF2B5EF4-FFF2-40B4-BE49-F238E27FC236}">
                <a16:creationId xmlns:a16="http://schemas.microsoft.com/office/drawing/2014/main" id="{AD4BFDA0-5D05-4693-A8D9-486507FA9A68}"/>
              </a:ext>
            </a:extLst>
          </p:cNvPr>
          <p:cNvSpPr>
            <a:spLocks noGrp="1"/>
          </p:cNvSpPr>
          <p:nvPr/>
        </p:nvSpPr>
        <p:spPr>
          <a:xfrm>
            <a:off x="8039100" y="2876550"/>
            <a:ext cx="2952750" cy="457200"/>
          </a:xfrm>
          <a:prstGeom prst="roundRect">
            <a:avLst>
              <a:gd name="adj" fmla="val 20833"/>
            </a:avLst>
          </a:prstGeom>
          <a:solidFill>
            <a:srgbClr val="FFFFFF"/>
          </a:solidFill>
          <a:ln w="9525">
            <a:solidFill>
              <a:srgbClr val="D7DFE5"/>
            </a:solidFill>
            <a:prstDash val="solid"/>
          </a:ln>
        </p:spPr>
        <p:txBody>
          <a:bodyPr/>
          <a:lstStyle/>
          <a:p>
            <a:endParaRPr lang="en-US"/>
          </a:p>
        </p:txBody>
      </p:sp>
      <p:sp>
        <p:nvSpPr>
          <p:cNvPr id="18" name="Rectangle 17">
            <a:extLst>
              <a:ext uri="{FF2B5EF4-FFF2-40B4-BE49-F238E27FC236}">
                <a16:creationId xmlns:a16="http://schemas.microsoft.com/office/drawing/2014/main" id="{9D95182D-434A-427E-A263-6C429C5E5A28}"/>
              </a:ext>
            </a:extLst>
          </p:cNvPr>
          <p:cNvSpPr>
            <a:spLocks noGrp="1"/>
          </p:cNvSpPr>
          <p:nvPr/>
        </p:nvSpPr>
        <p:spPr>
          <a:xfrm>
            <a:off x="8134350" y="2971800"/>
            <a:ext cx="2762250" cy="266700"/>
          </a:xfrm>
          <a:prstGeom prst="rect">
            <a:avLst/>
          </a:prstGeom>
          <a:noFill/>
          <a:ln w="0">
            <a:noFill/>
          </a:ln>
        </p:spPr>
        <p:txBody>
          <a:bodyPr wrap="square" lIns="0" tIns="0" rIns="0" bIns="0" anchor="ctr">
            <a:noAutofit/>
          </a:bodyPr>
          <a:lstStyle/>
          <a:p>
            <a:pPr algn="l">
              <a:defRPr sz="1350" b="0">
                <a:solidFill>
                  <a:srgbClr val="132238"/>
                </a:solidFill>
                <a:latin typeface="Nimbus Sans"/>
                <a:ea typeface="Nimbus Sans"/>
                <a:cs typeface="Nimbus Sans"/>
              </a:defRPr>
            </a:pPr>
            <a:r>
              <a:rPr sz="1350" b="0">
                <a:solidFill>
                  <a:srgbClr val="132238"/>
                </a:solidFill>
                <a:latin typeface="Nimbus Sans"/>
                <a:ea typeface="Nimbus Sans"/>
                <a:cs typeface="Nimbus Sans"/>
              </a:rPr>
              <a:t>Select a date</a:t>
            </a:r>
          </a:p>
        </p:txBody>
      </p:sp>
      <p:sp>
        <p:nvSpPr>
          <p:cNvPr id="19" name="Rectangle 18">
            <a:extLst>
              <a:ext uri="{FF2B5EF4-FFF2-40B4-BE49-F238E27FC236}">
                <a16:creationId xmlns:a16="http://schemas.microsoft.com/office/drawing/2014/main" id="{9032E0AD-65AD-416B-B2E5-6BCB410EC92C}"/>
              </a:ext>
            </a:extLst>
          </p:cNvPr>
          <p:cNvSpPr>
            <a:spLocks noGrp="1"/>
          </p:cNvSpPr>
          <p:nvPr/>
        </p:nvSpPr>
        <p:spPr>
          <a:xfrm>
            <a:off x="8039100" y="2876550"/>
            <a:ext cx="47625" cy="457200"/>
          </a:xfrm>
          <a:prstGeom prst="rect">
            <a:avLst/>
          </a:prstGeom>
          <a:solidFill>
            <a:srgbClr val="FF7A59"/>
          </a:solidFill>
          <a:ln w="0">
            <a:noFill/>
          </a:ln>
        </p:spPr>
        <p:txBody>
          <a:bodyPr/>
          <a:lstStyle/>
          <a:p>
            <a:endParaRPr lang="en-US"/>
          </a:p>
        </p:txBody>
      </p:sp>
      <p:sp>
        <p:nvSpPr>
          <p:cNvPr id="20" name="Rectangle 19">
            <a:extLst>
              <a:ext uri="{FF2B5EF4-FFF2-40B4-BE49-F238E27FC236}">
                <a16:creationId xmlns:a16="http://schemas.microsoft.com/office/drawing/2014/main" id="{3EF0F730-80AE-4D0D-A52E-44198A814C15}"/>
              </a:ext>
            </a:extLst>
          </p:cNvPr>
          <p:cNvSpPr>
            <a:spLocks noGrp="1"/>
          </p:cNvSpPr>
          <p:nvPr/>
        </p:nvSpPr>
        <p:spPr>
          <a:xfrm>
            <a:off x="4857750" y="3581400"/>
            <a:ext cx="2952750" cy="209550"/>
          </a:xfrm>
          <a:prstGeom prst="rect">
            <a:avLst/>
          </a:prstGeom>
          <a:noFill/>
          <a:ln w="0">
            <a:noFill/>
          </a:ln>
        </p:spPr>
        <p:txBody>
          <a:bodyPr wrap="square" lIns="0" tIns="0" rIns="0" bIns="0" anchor="t">
            <a:noAutofit/>
          </a:bodyPr>
          <a:lstStyle/>
          <a:p>
            <a:pPr algn="l">
              <a:defRPr sz="900" b="1">
                <a:solidFill>
                  <a:srgbClr val="5B6B7E"/>
                </a:solidFill>
                <a:latin typeface="Nimbus Sans"/>
                <a:ea typeface="Nimbus Sans"/>
                <a:cs typeface="Nimbus Sans"/>
              </a:defRPr>
            </a:pPr>
            <a:r>
              <a:rPr sz="900" b="1">
                <a:solidFill>
                  <a:srgbClr val="5B6B7E"/>
                </a:solidFill>
                <a:latin typeface="Nimbus Sans"/>
                <a:ea typeface="Nimbus Sans"/>
                <a:cs typeface="Nimbus Sans"/>
              </a:rPr>
              <a:t>CATEGORY</a:t>
            </a:r>
          </a:p>
        </p:txBody>
      </p:sp>
      <p:sp>
        <p:nvSpPr>
          <p:cNvPr id="21" name="Rectangle: Rounded Corners 20">
            <a:extLst>
              <a:ext uri="{FF2B5EF4-FFF2-40B4-BE49-F238E27FC236}">
                <a16:creationId xmlns:a16="http://schemas.microsoft.com/office/drawing/2014/main" id="{D9469AA5-8228-43FA-A930-AA12277CBD8D}"/>
              </a:ext>
            </a:extLst>
          </p:cNvPr>
          <p:cNvSpPr>
            <a:spLocks noGrp="1"/>
          </p:cNvSpPr>
          <p:nvPr/>
        </p:nvSpPr>
        <p:spPr>
          <a:xfrm>
            <a:off x="4857750" y="3810000"/>
            <a:ext cx="2952750" cy="457200"/>
          </a:xfrm>
          <a:prstGeom prst="roundRect">
            <a:avLst>
              <a:gd name="adj" fmla="val 20833"/>
            </a:avLst>
          </a:prstGeom>
          <a:solidFill>
            <a:srgbClr val="FFFFFF"/>
          </a:solidFill>
          <a:ln w="9525">
            <a:solidFill>
              <a:srgbClr val="D7DFE5"/>
            </a:solidFill>
            <a:prstDash val="solid"/>
          </a:ln>
        </p:spPr>
        <p:txBody>
          <a:bodyPr/>
          <a:lstStyle/>
          <a:p>
            <a:endParaRPr lang="en-US"/>
          </a:p>
        </p:txBody>
      </p:sp>
      <p:sp>
        <p:nvSpPr>
          <p:cNvPr id="22" name="Rectangle 21">
            <a:extLst>
              <a:ext uri="{FF2B5EF4-FFF2-40B4-BE49-F238E27FC236}">
                <a16:creationId xmlns:a16="http://schemas.microsoft.com/office/drawing/2014/main" id="{D8BFB5A8-B45F-41C8-AFD2-2C5D97C051C6}"/>
              </a:ext>
            </a:extLst>
          </p:cNvPr>
          <p:cNvSpPr>
            <a:spLocks noGrp="1"/>
          </p:cNvSpPr>
          <p:nvPr/>
        </p:nvSpPr>
        <p:spPr>
          <a:xfrm>
            <a:off x="4953000" y="3905250"/>
            <a:ext cx="2762250" cy="266700"/>
          </a:xfrm>
          <a:prstGeom prst="rect">
            <a:avLst/>
          </a:prstGeom>
          <a:noFill/>
          <a:ln w="0">
            <a:noFill/>
          </a:ln>
        </p:spPr>
        <p:txBody>
          <a:bodyPr wrap="square" lIns="0" tIns="0" rIns="0" bIns="0" anchor="ctr">
            <a:noAutofit/>
          </a:bodyPr>
          <a:lstStyle/>
          <a:p>
            <a:pPr algn="l">
              <a:defRPr sz="1350" b="0">
                <a:solidFill>
                  <a:srgbClr val="132238"/>
                </a:solidFill>
                <a:latin typeface="Nimbus Sans"/>
                <a:ea typeface="Nimbus Sans"/>
                <a:cs typeface="Nimbus Sans"/>
              </a:defRPr>
            </a:pPr>
            <a:r>
              <a:rPr sz="1350" b="0">
                <a:solidFill>
                  <a:srgbClr val="132238"/>
                </a:solidFill>
                <a:latin typeface="Nimbus Sans"/>
                <a:ea typeface="Nimbus Sans"/>
                <a:cs typeface="Nimbus Sans"/>
              </a:rPr>
              <a:t>Food</a:t>
            </a:r>
          </a:p>
        </p:txBody>
      </p:sp>
      <p:sp>
        <p:nvSpPr>
          <p:cNvPr id="23" name="Rectangle 22">
            <a:extLst>
              <a:ext uri="{FF2B5EF4-FFF2-40B4-BE49-F238E27FC236}">
                <a16:creationId xmlns:a16="http://schemas.microsoft.com/office/drawing/2014/main" id="{1326BF18-A0EE-4199-B2E8-3D3333B942E6}"/>
              </a:ext>
            </a:extLst>
          </p:cNvPr>
          <p:cNvSpPr>
            <a:spLocks noGrp="1"/>
          </p:cNvSpPr>
          <p:nvPr/>
        </p:nvSpPr>
        <p:spPr>
          <a:xfrm>
            <a:off x="4857750" y="3810000"/>
            <a:ext cx="47625" cy="457200"/>
          </a:xfrm>
          <a:prstGeom prst="rect">
            <a:avLst/>
          </a:prstGeom>
          <a:solidFill>
            <a:srgbClr val="FF7A59"/>
          </a:solidFill>
          <a:ln w="0">
            <a:noFill/>
          </a:ln>
        </p:spPr>
        <p:txBody>
          <a:bodyPr/>
          <a:lstStyle/>
          <a:p>
            <a:endParaRPr lang="en-US"/>
          </a:p>
        </p:txBody>
      </p:sp>
      <p:sp>
        <p:nvSpPr>
          <p:cNvPr id="24" name="Rectangle 23">
            <a:extLst>
              <a:ext uri="{FF2B5EF4-FFF2-40B4-BE49-F238E27FC236}">
                <a16:creationId xmlns:a16="http://schemas.microsoft.com/office/drawing/2014/main" id="{DFB57290-27C6-4538-B538-3EE00985C0DB}"/>
              </a:ext>
            </a:extLst>
          </p:cNvPr>
          <p:cNvSpPr>
            <a:spLocks noGrp="1"/>
          </p:cNvSpPr>
          <p:nvPr/>
        </p:nvSpPr>
        <p:spPr>
          <a:xfrm>
            <a:off x="8039100" y="3581400"/>
            <a:ext cx="2952750" cy="209550"/>
          </a:xfrm>
          <a:prstGeom prst="rect">
            <a:avLst/>
          </a:prstGeom>
          <a:noFill/>
          <a:ln w="0">
            <a:noFill/>
          </a:ln>
        </p:spPr>
        <p:txBody>
          <a:bodyPr wrap="square" lIns="0" tIns="0" rIns="0" bIns="0" anchor="t">
            <a:noAutofit/>
          </a:bodyPr>
          <a:lstStyle/>
          <a:p>
            <a:pPr algn="l">
              <a:defRPr sz="900" b="1">
                <a:solidFill>
                  <a:srgbClr val="5B6B7E"/>
                </a:solidFill>
                <a:latin typeface="Nimbus Sans"/>
                <a:ea typeface="Nimbus Sans"/>
                <a:cs typeface="Nimbus Sans"/>
              </a:defRPr>
            </a:pPr>
            <a:r>
              <a:rPr sz="900" b="1">
                <a:solidFill>
                  <a:srgbClr val="5B6B7E"/>
                </a:solidFill>
                <a:latin typeface="Nimbus Sans"/>
                <a:ea typeface="Nimbus Sans"/>
                <a:cs typeface="Nimbus Sans"/>
              </a:rPr>
              <a:t>DESCRIPTION</a:t>
            </a:r>
          </a:p>
        </p:txBody>
      </p:sp>
      <p:sp>
        <p:nvSpPr>
          <p:cNvPr id="25" name="Rectangle: Rounded Corners 24">
            <a:extLst>
              <a:ext uri="{FF2B5EF4-FFF2-40B4-BE49-F238E27FC236}">
                <a16:creationId xmlns:a16="http://schemas.microsoft.com/office/drawing/2014/main" id="{709655FA-A89A-41D3-83CC-9A599B26F770}"/>
              </a:ext>
            </a:extLst>
          </p:cNvPr>
          <p:cNvSpPr>
            <a:spLocks noGrp="1"/>
          </p:cNvSpPr>
          <p:nvPr/>
        </p:nvSpPr>
        <p:spPr>
          <a:xfrm>
            <a:off x="8039100" y="3810000"/>
            <a:ext cx="2952750" cy="457200"/>
          </a:xfrm>
          <a:prstGeom prst="roundRect">
            <a:avLst>
              <a:gd name="adj" fmla="val 20833"/>
            </a:avLst>
          </a:prstGeom>
          <a:solidFill>
            <a:srgbClr val="FFFFFF"/>
          </a:solidFill>
          <a:ln w="9525">
            <a:solidFill>
              <a:srgbClr val="D7DFE5"/>
            </a:solidFill>
            <a:prstDash val="solid"/>
          </a:ln>
        </p:spPr>
        <p:txBody>
          <a:bodyPr/>
          <a:lstStyle/>
          <a:p>
            <a:endParaRPr lang="en-US"/>
          </a:p>
        </p:txBody>
      </p:sp>
      <p:sp>
        <p:nvSpPr>
          <p:cNvPr id="26" name="Rectangle 25">
            <a:extLst>
              <a:ext uri="{FF2B5EF4-FFF2-40B4-BE49-F238E27FC236}">
                <a16:creationId xmlns:a16="http://schemas.microsoft.com/office/drawing/2014/main" id="{3D154875-DEC8-465F-B562-3FA718D397B2}"/>
              </a:ext>
            </a:extLst>
          </p:cNvPr>
          <p:cNvSpPr>
            <a:spLocks noGrp="1"/>
          </p:cNvSpPr>
          <p:nvPr/>
        </p:nvSpPr>
        <p:spPr>
          <a:xfrm>
            <a:off x="8134350" y="3905250"/>
            <a:ext cx="2762250" cy="266700"/>
          </a:xfrm>
          <a:prstGeom prst="rect">
            <a:avLst/>
          </a:prstGeom>
          <a:noFill/>
          <a:ln w="0">
            <a:noFill/>
          </a:ln>
        </p:spPr>
        <p:txBody>
          <a:bodyPr wrap="square" lIns="0" tIns="0" rIns="0" bIns="0" anchor="ctr">
            <a:noAutofit/>
          </a:bodyPr>
          <a:lstStyle/>
          <a:p>
            <a:pPr algn="l">
              <a:defRPr sz="1350" b="0">
                <a:solidFill>
                  <a:srgbClr val="132238"/>
                </a:solidFill>
                <a:latin typeface="Nimbus Sans"/>
                <a:ea typeface="Nimbus Sans"/>
                <a:cs typeface="Nimbus Sans"/>
              </a:defRPr>
            </a:pPr>
            <a:r>
              <a:rPr sz="1350" b="0">
                <a:solidFill>
                  <a:srgbClr val="132238"/>
                </a:solidFill>
                <a:latin typeface="Nimbus Sans"/>
                <a:ea typeface="Nimbus Sans"/>
                <a:cs typeface="Nimbus Sans"/>
              </a:rPr>
              <a:t>Optional details</a:t>
            </a:r>
          </a:p>
        </p:txBody>
      </p:sp>
      <p:sp>
        <p:nvSpPr>
          <p:cNvPr id="27" name="Rectangle 26">
            <a:extLst>
              <a:ext uri="{FF2B5EF4-FFF2-40B4-BE49-F238E27FC236}">
                <a16:creationId xmlns:a16="http://schemas.microsoft.com/office/drawing/2014/main" id="{B033EB04-F95C-4218-A223-52C75A39AFD5}"/>
              </a:ext>
            </a:extLst>
          </p:cNvPr>
          <p:cNvSpPr>
            <a:spLocks noGrp="1"/>
          </p:cNvSpPr>
          <p:nvPr/>
        </p:nvSpPr>
        <p:spPr>
          <a:xfrm>
            <a:off x="8039100" y="3810000"/>
            <a:ext cx="47625" cy="457200"/>
          </a:xfrm>
          <a:prstGeom prst="rect">
            <a:avLst/>
          </a:prstGeom>
          <a:solidFill>
            <a:srgbClr val="FF7A59"/>
          </a:solidFill>
          <a:ln w="0">
            <a:noFill/>
          </a:ln>
        </p:spPr>
        <p:txBody>
          <a:bodyPr/>
          <a:lstStyle/>
          <a:p>
            <a:endParaRPr lang="en-US"/>
          </a:p>
        </p:txBody>
      </p:sp>
      <p:sp>
        <p:nvSpPr>
          <p:cNvPr id="28" name="Rectangle: Rounded Corners 27">
            <a:extLst>
              <a:ext uri="{FF2B5EF4-FFF2-40B4-BE49-F238E27FC236}">
                <a16:creationId xmlns:a16="http://schemas.microsoft.com/office/drawing/2014/main" id="{9BA87659-73AB-4023-982D-99621ED3AF79}"/>
              </a:ext>
            </a:extLst>
          </p:cNvPr>
          <p:cNvSpPr>
            <a:spLocks noGrp="1"/>
          </p:cNvSpPr>
          <p:nvPr/>
        </p:nvSpPr>
        <p:spPr>
          <a:xfrm>
            <a:off x="8039100" y="4791075"/>
            <a:ext cx="1257300" cy="476250"/>
          </a:xfrm>
          <a:prstGeom prst="roundRect">
            <a:avLst>
              <a:gd name="adj" fmla="val 24000"/>
            </a:avLst>
          </a:prstGeom>
          <a:solidFill>
            <a:srgbClr val="EDF1F4"/>
          </a:solidFill>
          <a:ln w="0">
            <a:noFill/>
          </a:ln>
        </p:spPr>
        <p:txBody>
          <a:bodyPr wrap="square" lIns="57150" tIns="47625" rIns="57150" bIns="47625" anchor="ctr">
            <a:noAutofit/>
          </a:bodyPr>
          <a:lstStyle/>
          <a:p>
            <a:pPr algn="ctr">
              <a:defRPr sz="1350" b="1">
                <a:solidFill>
                  <a:srgbClr val="5B6B7E"/>
                </a:solidFill>
                <a:latin typeface="Nimbus Sans"/>
                <a:ea typeface="Nimbus Sans"/>
                <a:cs typeface="Nimbus Sans"/>
              </a:defRPr>
            </a:pPr>
            <a:r>
              <a:rPr sz="1350" b="1">
                <a:solidFill>
                  <a:srgbClr val="5B6B7E"/>
                </a:solidFill>
                <a:latin typeface="Nimbus Sans"/>
                <a:ea typeface="Nimbus Sans"/>
                <a:cs typeface="Nimbus Sans"/>
              </a:rPr>
              <a:t>Cancel</a:t>
            </a:r>
          </a:p>
        </p:txBody>
      </p:sp>
      <p:sp>
        <p:nvSpPr>
          <p:cNvPr id="29" name="Rectangle: Rounded Corners 28">
            <a:extLst>
              <a:ext uri="{FF2B5EF4-FFF2-40B4-BE49-F238E27FC236}">
                <a16:creationId xmlns:a16="http://schemas.microsoft.com/office/drawing/2014/main" id="{54B0F30D-CDFF-4B65-9A8C-C0C7CBA4D6C0}"/>
              </a:ext>
            </a:extLst>
          </p:cNvPr>
          <p:cNvSpPr>
            <a:spLocks noGrp="1"/>
          </p:cNvSpPr>
          <p:nvPr/>
        </p:nvSpPr>
        <p:spPr>
          <a:xfrm>
            <a:off x="9448800" y="4791075"/>
            <a:ext cx="1543050" cy="476250"/>
          </a:xfrm>
          <a:prstGeom prst="roundRect">
            <a:avLst>
              <a:gd name="adj" fmla="val 24000"/>
            </a:avLst>
          </a:prstGeom>
          <a:solidFill>
            <a:srgbClr val="FF7A59"/>
          </a:solidFill>
          <a:ln w="0">
            <a:noFill/>
          </a:ln>
        </p:spPr>
        <p:txBody>
          <a:bodyPr wrap="square" lIns="57150" tIns="47625" rIns="57150" bIns="47625" anchor="ctr">
            <a:noAutofit/>
          </a:bodyPr>
          <a:lstStyle/>
          <a:p>
            <a:pPr algn="ctr">
              <a:defRPr sz="1350" b="1">
                <a:solidFill>
                  <a:srgbClr val="FFFFFF"/>
                </a:solidFill>
                <a:latin typeface="Nimbus Sans"/>
                <a:ea typeface="Nimbus Sans"/>
                <a:cs typeface="Nimbus Sans"/>
              </a:defRPr>
            </a:pPr>
            <a:r>
              <a:rPr sz="1350" b="1">
                <a:solidFill>
                  <a:srgbClr val="FFFFFF"/>
                </a:solidFill>
                <a:latin typeface="Nimbus Sans"/>
                <a:ea typeface="Nimbus Sans"/>
                <a:cs typeface="Nimbus Sans"/>
              </a:rPr>
              <a:t>Add Expense</a:t>
            </a:r>
          </a:p>
        </p:txBody>
      </p:sp>
      <p:sp>
        <p:nvSpPr>
          <p:cNvPr id="30" name="Rectangle 29">
            <a:extLst>
              <a:ext uri="{FF2B5EF4-FFF2-40B4-BE49-F238E27FC236}">
                <a16:creationId xmlns:a16="http://schemas.microsoft.com/office/drawing/2014/main" id="{262E72ED-651E-46EC-A4A7-7F3CB6B14901}"/>
              </a:ext>
            </a:extLst>
          </p:cNvPr>
          <p:cNvSpPr>
            <a:spLocks noGrp="1"/>
          </p:cNvSpPr>
          <p:nvPr/>
        </p:nvSpPr>
        <p:spPr>
          <a:xfrm>
            <a:off x="4857750" y="5486400"/>
            <a:ext cx="6134100" cy="342900"/>
          </a:xfrm>
          <a:prstGeom prst="rect">
            <a:avLst/>
          </a:prstGeom>
          <a:noFill/>
          <a:ln w="0">
            <a:noFill/>
          </a:ln>
        </p:spPr>
        <p:txBody>
          <a:bodyPr wrap="square" lIns="0" tIns="0" rIns="0" bIns="0" anchor="t">
            <a:noAutofit/>
          </a:bodyPr>
          <a:lstStyle/>
          <a:p>
            <a:pPr algn="l">
              <a:defRPr sz="1350" b="1">
                <a:solidFill>
                  <a:srgbClr val="102A43"/>
                </a:solidFill>
                <a:latin typeface="Nimbus Sans"/>
                <a:ea typeface="Nimbus Sans"/>
                <a:cs typeface="Nimbus Sans"/>
              </a:defRPr>
            </a:pPr>
            <a:r>
              <a:rPr sz="1350" b="1">
                <a:solidFill>
                  <a:srgbClr val="102A43"/>
                </a:solidFill>
                <a:latin typeface="Nimbus Sans"/>
                <a:ea typeface="Nimbus Sans"/>
                <a:cs typeface="Nimbus Sans"/>
              </a:rPr>
              <a:t>Valid income and expense entries feed the same transaction history and update the balance.</a:t>
            </a:r>
          </a:p>
        </p:txBody>
      </p:sp>
    </p:spTree>
    <p:extLst>
      <p:ext uri="{BB962C8B-B14F-4D97-AF65-F5344CB8AC3E}">
        <p14:creationId xmlns:p14="http://schemas.microsoft.com/office/powerpoint/2010/main" val="96638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0C75E8-EEDC-56C6-A3F5-0B2F8D0E67CD}"/>
              </a:ext>
            </a:extLst>
          </p:cNvPr>
          <p:cNvSpPr>
            <a:spLocks noGrp="1"/>
          </p:cNvSpPr>
          <p:nvPr>
            <p:ph idx="4294967295"/>
          </p:nvPr>
        </p:nvSpPr>
        <p:spPr>
          <a:xfrm>
            <a:off x="748770" y="1749750"/>
            <a:ext cx="4273550" cy="4351338"/>
          </a:xfrm>
        </p:spPr>
        <p:txBody>
          <a:bodyPr/>
          <a:lstStyle/>
          <a:p>
            <a:r>
              <a:rPr lang="en-US" dirty="0"/>
              <a:t>Plan and set limits for each month</a:t>
            </a:r>
          </a:p>
          <a:p>
            <a:r>
              <a:rPr lang="en-US" dirty="0"/>
              <a:t>Monthly Budget</a:t>
            </a:r>
          </a:p>
          <a:p>
            <a:r>
              <a:rPr lang="en-US" dirty="0"/>
              <a:t>Category Budget</a:t>
            </a:r>
          </a:p>
          <a:p>
            <a:r>
              <a:rPr lang="en-US" dirty="0"/>
              <a:t>Opt-In for email notifications</a:t>
            </a:r>
          </a:p>
          <a:p>
            <a:r>
              <a:rPr lang="en-US" dirty="0"/>
              <a:t>Display for created Budgets</a:t>
            </a:r>
          </a:p>
        </p:txBody>
      </p:sp>
      <p:sp>
        <p:nvSpPr>
          <p:cNvPr id="5" name="Rectangle: Rounded Corners 4">
            <a:extLst>
              <a:ext uri="{FF2B5EF4-FFF2-40B4-BE49-F238E27FC236}">
                <a16:creationId xmlns:a16="http://schemas.microsoft.com/office/drawing/2014/main" id="{EFEA245D-F648-C5EA-CF3F-36A62AF2BAAF}"/>
              </a:ext>
            </a:extLst>
          </p:cNvPr>
          <p:cNvSpPr>
            <a:spLocks noGrp="1"/>
          </p:cNvSpPr>
          <p:nvPr/>
        </p:nvSpPr>
        <p:spPr>
          <a:xfrm>
            <a:off x="5301727" y="1977557"/>
            <a:ext cx="6191250" cy="3284724"/>
          </a:xfrm>
          <a:prstGeom prst="roundRect">
            <a:avLst>
              <a:gd name="adj" fmla="val 4525"/>
            </a:avLst>
          </a:prstGeom>
          <a:solidFill>
            <a:srgbClr val="FFFFFF"/>
          </a:solidFill>
          <a:ln w="9525">
            <a:solidFill>
              <a:srgbClr val="D7DFE5"/>
            </a:solidFill>
            <a:prstDash val="solid"/>
          </a:ln>
        </p:spPr>
        <p:style>
          <a:lnRef idx="0">
            <a:scrgbClr r="0" g="0" b="0"/>
          </a:lnRef>
          <a:fillRef idx="0">
            <a:scrgbClr r="0" g="0" b="0"/>
          </a:fillRef>
          <a:effectRef idx="4">
            <a:scrgbClr r="0" g="0" b="0"/>
          </a:effectRef>
          <a:fontRef idx="maj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Display" panose="02110004020202020204"/>
              <a:ea typeface="+mj-ea"/>
              <a:cs typeface="+mj-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Display" panose="02110004020202020204"/>
              <a:ea typeface="+mj-ea"/>
              <a:cs typeface="+mj-cs"/>
            </a:endParaRPr>
          </a:p>
        </p:txBody>
      </p:sp>
      <p:sp>
        <p:nvSpPr>
          <p:cNvPr id="7" name="Rectangle 6">
            <a:extLst>
              <a:ext uri="{FF2B5EF4-FFF2-40B4-BE49-F238E27FC236}">
                <a16:creationId xmlns:a16="http://schemas.microsoft.com/office/drawing/2014/main" id="{6E0C0465-60E5-4ADF-2E8F-411B99103AAF}"/>
              </a:ext>
            </a:extLst>
          </p:cNvPr>
          <p:cNvSpPr>
            <a:spLocks noGrp="1"/>
          </p:cNvSpPr>
          <p:nvPr/>
        </p:nvSpPr>
        <p:spPr>
          <a:xfrm>
            <a:off x="5568427" y="2206157"/>
            <a:ext cx="2857500" cy="4000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75" b="1">
                <a:solidFill>
                  <a:srgbClr val="102A43"/>
                </a:solidFill>
                <a:latin typeface="Nimbus Sans"/>
                <a:ea typeface="Nimbus Sans"/>
                <a:cs typeface="Nimbus Sans"/>
              </a:defRPr>
            </a:pPr>
            <a:r>
              <a:rPr kumimoji="0" lang="en-US" sz="2175" b="1" i="0" u="none" strike="noStrike" kern="1200" cap="none" spc="0" normalizeH="0" baseline="0" noProof="0" dirty="0">
                <a:ln>
                  <a:noFill/>
                </a:ln>
                <a:solidFill>
                  <a:srgbClr val="102A43"/>
                </a:solidFill>
                <a:effectLst/>
                <a:uLnTx/>
                <a:uFillTx/>
                <a:latin typeface="Nimbus Sans"/>
                <a:ea typeface="Nimbus Sans"/>
                <a:cs typeface="Nimbus Sans"/>
              </a:rPr>
              <a:t>Create Budget</a:t>
            </a:r>
            <a:endParaRPr kumimoji="0" sz="2175" b="1" i="0" u="none" strike="noStrike" kern="1200" cap="none" spc="0" normalizeH="0" baseline="0" noProof="0" dirty="0">
              <a:ln>
                <a:noFill/>
              </a:ln>
              <a:solidFill>
                <a:srgbClr val="102A43"/>
              </a:solidFill>
              <a:effectLst/>
              <a:uLnTx/>
              <a:uFillTx/>
              <a:latin typeface="Nimbus Sans"/>
              <a:ea typeface="Nimbus Sans"/>
              <a:cs typeface="Nimbus Sans"/>
            </a:endParaRPr>
          </a:p>
        </p:txBody>
      </p:sp>
      <p:sp>
        <p:nvSpPr>
          <p:cNvPr id="9" name="Rectangle 8">
            <a:extLst>
              <a:ext uri="{FF2B5EF4-FFF2-40B4-BE49-F238E27FC236}">
                <a16:creationId xmlns:a16="http://schemas.microsoft.com/office/drawing/2014/main" id="{05E991E6-638A-A399-C4BF-C7C71CD7CE4A}"/>
              </a:ext>
            </a:extLst>
          </p:cNvPr>
          <p:cNvSpPr>
            <a:spLocks noGrp="1"/>
          </p:cNvSpPr>
          <p:nvPr/>
        </p:nvSpPr>
        <p:spPr>
          <a:xfrm>
            <a:off x="5568427" y="2815757"/>
            <a:ext cx="2571750" cy="2095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900" b="1">
                <a:solidFill>
                  <a:srgbClr val="5B6B7E"/>
                </a:solidFill>
                <a:latin typeface="Nimbus Sans"/>
                <a:ea typeface="Nimbus Sans"/>
                <a:cs typeface="Nimbus Sans"/>
              </a:defRPr>
            </a:pPr>
            <a:r>
              <a:rPr kumimoji="0" sz="900" b="1" i="0" u="none" strike="noStrike" kern="1200" cap="none" spc="0" normalizeH="0" baseline="0" noProof="0" dirty="0">
                <a:ln>
                  <a:noFill/>
                </a:ln>
                <a:solidFill>
                  <a:srgbClr val="5B6B7E"/>
                </a:solidFill>
                <a:effectLst/>
                <a:uLnTx/>
                <a:uFillTx/>
                <a:latin typeface="Nimbus Sans"/>
                <a:ea typeface="Nimbus Sans"/>
                <a:cs typeface="Nimbus Sans"/>
              </a:rPr>
              <a:t>AMOUNT</a:t>
            </a:r>
          </a:p>
        </p:txBody>
      </p:sp>
      <p:sp>
        <p:nvSpPr>
          <p:cNvPr id="11" name="Rectangle: Rounded Corners 10">
            <a:extLst>
              <a:ext uri="{FF2B5EF4-FFF2-40B4-BE49-F238E27FC236}">
                <a16:creationId xmlns:a16="http://schemas.microsoft.com/office/drawing/2014/main" id="{7672E101-9735-0127-09C8-240AF387E2C3}"/>
              </a:ext>
            </a:extLst>
          </p:cNvPr>
          <p:cNvSpPr>
            <a:spLocks noGrp="1"/>
          </p:cNvSpPr>
          <p:nvPr/>
        </p:nvSpPr>
        <p:spPr>
          <a:xfrm>
            <a:off x="5568427" y="3044357"/>
            <a:ext cx="2571750" cy="457200"/>
          </a:xfrm>
          <a:prstGeom prst="roundRect">
            <a:avLst>
              <a:gd name="adj" fmla="val 20833"/>
            </a:avLst>
          </a:prstGeom>
          <a:solidFill>
            <a:srgbClr val="FFFFFF"/>
          </a:solidFill>
          <a:ln w="9525">
            <a:solidFill>
              <a:srgbClr val="D7DF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2D3634AE-2446-31FF-2575-0BF33A550C0F}"/>
              </a:ext>
            </a:extLst>
          </p:cNvPr>
          <p:cNvSpPr>
            <a:spLocks noGrp="1"/>
          </p:cNvSpPr>
          <p:nvPr/>
        </p:nvSpPr>
        <p:spPr>
          <a:xfrm>
            <a:off x="5663677" y="3139607"/>
            <a:ext cx="2381250" cy="266700"/>
          </a:xfrm>
          <a:prstGeom prst="rect">
            <a:avLst/>
          </a:prstGeom>
          <a:noFill/>
          <a:ln w="0">
            <a:noFill/>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132238"/>
                </a:solidFill>
                <a:latin typeface="Nimbus Sans"/>
                <a:ea typeface="Nimbus Sans"/>
                <a:cs typeface="Nimbus Sans"/>
              </a:defRPr>
            </a:pPr>
            <a:r>
              <a:rPr kumimoji="0" sz="1350" b="0" i="0" u="none" strike="noStrike" kern="1200" cap="none" spc="0" normalizeH="0" baseline="0" noProof="0" dirty="0">
                <a:ln>
                  <a:noFill/>
                </a:ln>
                <a:solidFill>
                  <a:srgbClr val="132238"/>
                </a:solidFill>
                <a:effectLst/>
                <a:uLnTx/>
                <a:uFillTx/>
                <a:latin typeface="Nimbus Sans"/>
                <a:ea typeface="Nimbus Sans"/>
                <a:cs typeface="Nimbus Sans"/>
              </a:rPr>
              <a:t>$ </a:t>
            </a:r>
            <a:r>
              <a:rPr kumimoji="0" lang="en-US" sz="1350" b="0" i="0" u="none" strike="noStrike" kern="1200" cap="none" spc="0" normalizeH="0" baseline="0" noProof="0" dirty="0">
                <a:ln>
                  <a:noFill/>
                </a:ln>
                <a:solidFill>
                  <a:srgbClr val="132238"/>
                </a:solidFill>
                <a:effectLst/>
                <a:uLnTx/>
                <a:uFillTx/>
                <a:latin typeface="Nimbus Sans"/>
                <a:ea typeface="Nimbus Sans"/>
                <a:cs typeface="Nimbus Sans"/>
              </a:rPr>
              <a:t>4,00.00</a:t>
            </a:r>
            <a:endParaRPr kumimoji="0" sz="1350" b="0" i="0" u="none" strike="noStrike" kern="1200" cap="none" spc="0" normalizeH="0" baseline="0" noProof="0" dirty="0">
              <a:ln>
                <a:noFill/>
              </a:ln>
              <a:solidFill>
                <a:srgbClr val="132238"/>
              </a:solidFill>
              <a:effectLst/>
              <a:uLnTx/>
              <a:uFillTx/>
              <a:latin typeface="Nimbus Sans"/>
              <a:ea typeface="Nimbus Sans"/>
              <a:cs typeface="Nimbus Sans"/>
            </a:endParaRPr>
          </a:p>
        </p:txBody>
      </p:sp>
      <p:sp>
        <p:nvSpPr>
          <p:cNvPr id="15" name="Rectangle 14">
            <a:extLst>
              <a:ext uri="{FF2B5EF4-FFF2-40B4-BE49-F238E27FC236}">
                <a16:creationId xmlns:a16="http://schemas.microsoft.com/office/drawing/2014/main" id="{0AAD0707-994F-012C-9276-D5D123F7E42D}"/>
              </a:ext>
            </a:extLst>
          </p:cNvPr>
          <p:cNvSpPr>
            <a:spLocks noGrp="1"/>
          </p:cNvSpPr>
          <p:nvPr/>
        </p:nvSpPr>
        <p:spPr>
          <a:xfrm>
            <a:off x="5568427" y="3044357"/>
            <a:ext cx="47625" cy="457200"/>
          </a:xfrm>
          <a:prstGeom prst="rect">
            <a:avLst/>
          </a:prstGeom>
          <a:solidFill>
            <a:srgbClr val="0F766E"/>
          </a:solid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E8C5C64-5927-FD96-F4CD-45A1A740CF41}"/>
              </a:ext>
            </a:extLst>
          </p:cNvPr>
          <p:cNvSpPr>
            <a:spLocks noGrp="1"/>
          </p:cNvSpPr>
          <p:nvPr/>
        </p:nvSpPr>
        <p:spPr>
          <a:xfrm>
            <a:off x="8368777" y="2815757"/>
            <a:ext cx="2571750" cy="2095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900" b="1">
                <a:solidFill>
                  <a:srgbClr val="5B6B7E"/>
                </a:solidFill>
                <a:latin typeface="Nimbus Sans"/>
                <a:ea typeface="Nimbus Sans"/>
                <a:cs typeface="Nimbus Sans"/>
              </a:defRPr>
            </a:pPr>
            <a:r>
              <a:rPr kumimoji="0" lang="en-US" sz="900" b="1" i="0" u="none" strike="noStrike" kern="1200" cap="none" spc="0" normalizeH="0" baseline="0" noProof="0" dirty="0">
                <a:ln>
                  <a:noFill/>
                </a:ln>
                <a:solidFill>
                  <a:srgbClr val="5B6B7E"/>
                </a:solidFill>
                <a:effectLst/>
                <a:uLnTx/>
                <a:uFillTx/>
                <a:latin typeface="Nimbus Sans"/>
                <a:ea typeface="Nimbus Sans"/>
                <a:cs typeface="Nimbus Sans"/>
              </a:rPr>
              <a:t>START </a:t>
            </a:r>
            <a:r>
              <a:rPr kumimoji="0" sz="900" b="1" i="0" u="none" strike="noStrike" kern="1200" cap="none" spc="0" normalizeH="0" baseline="0" noProof="0" dirty="0">
                <a:ln>
                  <a:noFill/>
                </a:ln>
                <a:solidFill>
                  <a:srgbClr val="5B6B7E"/>
                </a:solidFill>
                <a:effectLst/>
                <a:uLnTx/>
                <a:uFillTx/>
                <a:latin typeface="Nimbus Sans"/>
                <a:ea typeface="Nimbus Sans"/>
                <a:cs typeface="Nimbus Sans"/>
              </a:rPr>
              <a:t>DATE</a:t>
            </a:r>
          </a:p>
        </p:txBody>
      </p:sp>
      <p:sp>
        <p:nvSpPr>
          <p:cNvPr id="19" name="Rectangle: Rounded Corners 18">
            <a:extLst>
              <a:ext uri="{FF2B5EF4-FFF2-40B4-BE49-F238E27FC236}">
                <a16:creationId xmlns:a16="http://schemas.microsoft.com/office/drawing/2014/main" id="{1DAB3382-F980-75A1-0FE3-08F644326283}"/>
              </a:ext>
            </a:extLst>
          </p:cNvPr>
          <p:cNvSpPr>
            <a:spLocks noGrp="1"/>
          </p:cNvSpPr>
          <p:nvPr/>
        </p:nvSpPr>
        <p:spPr>
          <a:xfrm>
            <a:off x="8368777" y="3044357"/>
            <a:ext cx="2571750" cy="457200"/>
          </a:xfrm>
          <a:prstGeom prst="roundRect">
            <a:avLst>
              <a:gd name="adj" fmla="val 20833"/>
            </a:avLst>
          </a:prstGeom>
          <a:solidFill>
            <a:srgbClr val="FFFFFF"/>
          </a:solidFill>
          <a:ln w="9525">
            <a:solidFill>
              <a:srgbClr val="D7DF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1" name="Rectangle 20">
            <a:extLst>
              <a:ext uri="{FF2B5EF4-FFF2-40B4-BE49-F238E27FC236}">
                <a16:creationId xmlns:a16="http://schemas.microsoft.com/office/drawing/2014/main" id="{75E3C6EC-77AA-9779-B33D-158FC467A395}"/>
              </a:ext>
            </a:extLst>
          </p:cNvPr>
          <p:cNvSpPr>
            <a:spLocks noGrp="1"/>
          </p:cNvSpPr>
          <p:nvPr/>
        </p:nvSpPr>
        <p:spPr>
          <a:xfrm>
            <a:off x="8464027" y="3139607"/>
            <a:ext cx="2381250" cy="266700"/>
          </a:xfrm>
          <a:prstGeom prst="rect">
            <a:avLst/>
          </a:prstGeom>
          <a:noFill/>
          <a:ln w="0">
            <a:noFill/>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132238"/>
                </a:solidFill>
                <a:latin typeface="Nimbus Sans"/>
                <a:ea typeface="Nimbus Sans"/>
                <a:cs typeface="Nimbus Sans"/>
              </a:defRPr>
            </a:pPr>
            <a:r>
              <a:rPr kumimoji="0" sz="1350" b="0" i="0" u="none" strike="noStrike" kern="1200" cap="none" spc="0" normalizeH="0" baseline="0" noProof="0" dirty="0">
                <a:ln>
                  <a:noFill/>
                </a:ln>
                <a:solidFill>
                  <a:srgbClr val="132238"/>
                </a:solidFill>
                <a:effectLst/>
                <a:uLnTx/>
                <a:uFillTx/>
                <a:latin typeface="Nimbus Sans"/>
                <a:ea typeface="Nimbus Sans"/>
                <a:cs typeface="Nimbus Sans"/>
              </a:rPr>
              <a:t>Select a date</a:t>
            </a:r>
          </a:p>
        </p:txBody>
      </p:sp>
      <p:sp>
        <p:nvSpPr>
          <p:cNvPr id="23" name="Rectangle 22">
            <a:extLst>
              <a:ext uri="{FF2B5EF4-FFF2-40B4-BE49-F238E27FC236}">
                <a16:creationId xmlns:a16="http://schemas.microsoft.com/office/drawing/2014/main" id="{B90B5C45-393B-9D33-F933-5C6618E159B6}"/>
              </a:ext>
            </a:extLst>
          </p:cNvPr>
          <p:cNvSpPr>
            <a:spLocks noGrp="1"/>
          </p:cNvSpPr>
          <p:nvPr/>
        </p:nvSpPr>
        <p:spPr>
          <a:xfrm>
            <a:off x="8368777" y="3044357"/>
            <a:ext cx="47625" cy="457200"/>
          </a:xfrm>
          <a:prstGeom prst="rect">
            <a:avLst/>
          </a:prstGeom>
          <a:solidFill>
            <a:srgbClr val="0F766E"/>
          </a:solid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5" name="Rectangle 24">
            <a:extLst>
              <a:ext uri="{FF2B5EF4-FFF2-40B4-BE49-F238E27FC236}">
                <a16:creationId xmlns:a16="http://schemas.microsoft.com/office/drawing/2014/main" id="{C406ECBA-D0A0-85A9-BC4C-C636C6B0B909}"/>
              </a:ext>
            </a:extLst>
          </p:cNvPr>
          <p:cNvSpPr>
            <a:spLocks noGrp="1"/>
          </p:cNvSpPr>
          <p:nvPr/>
        </p:nvSpPr>
        <p:spPr>
          <a:xfrm>
            <a:off x="5568427" y="3611094"/>
            <a:ext cx="2571750" cy="2095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900" b="1">
                <a:solidFill>
                  <a:srgbClr val="5B6B7E"/>
                </a:solidFill>
                <a:latin typeface="Nimbus Sans"/>
                <a:ea typeface="Nimbus Sans"/>
                <a:cs typeface="Nimbus Sans"/>
              </a:defRPr>
            </a:pPr>
            <a:r>
              <a:rPr kumimoji="0" sz="900" b="1" i="0" u="none" strike="noStrike" kern="1200" cap="none" spc="0" normalizeH="0" baseline="0" noProof="0" dirty="0">
                <a:ln>
                  <a:noFill/>
                </a:ln>
                <a:solidFill>
                  <a:srgbClr val="5B6B7E"/>
                </a:solidFill>
                <a:effectLst/>
                <a:uLnTx/>
                <a:uFillTx/>
                <a:latin typeface="Nimbus Sans"/>
                <a:ea typeface="Nimbus Sans"/>
                <a:cs typeface="Nimbus Sans"/>
              </a:rPr>
              <a:t>CATEGORY</a:t>
            </a:r>
          </a:p>
        </p:txBody>
      </p:sp>
      <p:sp>
        <p:nvSpPr>
          <p:cNvPr id="27" name="Rectangle: Rounded Corners 26">
            <a:extLst>
              <a:ext uri="{FF2B5EF4-FFF2-40B4-BE49-F238E27FC236}">
                <a16:creationId xmlns:a16="http://schemas.microsoft.com/office/drawing/2014/main" id="{032E7045-8815-D2F0-3683-FE76AF704988}"/>
              </a:ext>
            </a:extLst>
          </p:cNvPr>
          <p:cNvSpPr>
            <a:spLocks noGrp="1"/>
          </p:cNvSpPr>
          <p:nvPr/>
        </p:nvSpPr>
        <p:spPr>
          <a:xfrm>
            <a:off x="5568427" y="3847492"/>
            <a:ext cx="2571750" cy="457200"/>
          </a:xfrm>
          <a:prstGeom prst="roundRect">
            <a:avLst>
              <a:gd name="adj" fmla="val 20833"/>
            </a:avLst>
          </a:prstGeom>
          <a:solidFill>
            <a:srgbClr val="FFFFFF"/>
          </a:solidFill>
          <a:ln w="9525">
            <a:solidFill>
              <a:srgbClr val="D7DF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Rectangle 28">
            <a:extLst>
              <a:ext uri="{FF2B5EF4-FFF2-40B4-BE49-F238E27FC236}">
                <a16:creationId xmlns:a16="http://schemas.microsoft.com/office/drawing/2014/main" id="{FED1862D-1FDA-72C7-7D89-F266883EC259}"/>
              </a:ext>
            </a:extLst>
          </p:cNvPr>
          <p:cNvSpPr>
            <a:spLocks noGrp="1"/>
          </p:cNvSpPr>
          <p:nvPr/>
        </p:nvSpPr>
        <p:spPr>
          <a:xfrm>
            <a:off x="5663677" y="3925419"/>
            <a:ext cx="2381250" cy="266700"/>
          </a:xfrm>
          <a:prstGeom prst="rect">
            <a:avLst/>
          </a:prstGeom>
          <a:noFill/>
          <a:ln w="0">
            <a:noFill/>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132238"/>
                </a:solidFill>
                <a:latin typeface="Nimbus Sans"/>
                <a:ea typeface="Nimbus Sans"/>
                <a:cs typeface="Nimbus Sans"/>
              </a:defRPr>
            </a:pPr>
            <a:r>
              <a:rPr kumimoji="0" lang="en-US" sz="1350" b="0" i="0" u="none" strike="noStrike" kern="1200" cap="none" spc="0" normalizeH="0" baseline="0" noProof="0" dirty="0">
                <a:ln>
                  <a:noFill/>
                </a:ln>
                <a:solidFill>
                  <a:srgbClr val="132238"/>
                </a:solidFill>
                <a:effectLst/>
                <a:uLnTx/>
                <a:uFillTx/>
                <a:latin typeface="Nimbus Sans"/>
                <a:ea typeface="Nimbus Sans"/>
                <a:cs typeface="Nimbus Sans"/>
              </a:rPr>
              <a:t>Food</a:t>
            </a:r>
            <a:endParaRPr kumimoji="0" sz="1350" b="0" i="0" u="none" strike="noStrike" kern="1200" cap="none" spc="0" normalizeH="0" baseline="0" noProof="0" dirty="0">
              <a:ln>
                <a:noFill/>
              </a:ln>
              <a:solidFill>
                <a:srgbClr val="132238"/>
              </a:solidFill>
              <a:effectLst/>
              <a:uLnTx/>
              <a:uFillTx/>
              <a:latin typeface="Nimbus Sans"/>
              <a:ea typeface="Nimbus Sans"/>
              <a:cs typeface="Nimbus Sans"/>
            </a:endParaRPr>
          </a:p>
        </p:txBody>
      </p:sp>
      <p:sp>
        <p:nvSpPr>
          <p:cNvPr id="31" name="Rectangle 30">
            <a:extLst>
              <a:ext uri="{FF2B5EF4-FFF2-40B4-BE49-F238E27FC236}">
                <a16:creationId xmlns:a16="http://schemas.microsoft.com/office/drawing/2014/main" id="{1ECE68DA-E7A7-37A4-4519-2E99DD6FD0F6}"/>
              </a:ext>
            </a:extLst>
          </p:cNvPr>
          <p:cNvSpPr>
            <a:spLocks noGrp="1"/>
          </p:cNvSpPr>
          <p:nvPr/>
        </p:nvSpPr>
        <p:spPr>
          <a:xfrm>
            <a:off x="5568427" y="3847492"/>
            <a:ext cx="47625" cy="457200"/>
          </a:xfrm>
          <a:prstGeom prst="rect">
            <a:avLst/>
          </a:prstGeom>
          <a:solidFill>
            <a:srgbClr val="0F766E"/>
          </a:solid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3" name="Rectangle 32">
            <a:extLst>
              <a:ext uri="{FF2B5EF4-FFF2-40B4-BE49-F238E27FC236}">
                <a16:creationId xmlns:a16="http://schemas.microsoft.com/office/drawing/2014/main" id="{AFCAC645-9C96-94FA-F8CE-403342287ADF}"/>
              </a:ext>
            </a:extLst>
          </p:cNvPr>
          <p:cNvSpPr>
            <a:spLocks noGrp="1"/>
          </p:cNvSpPr>
          <p:nvPr/>
        </p:nvSpPr>
        <p:spPr>
          <a:xfrm>
            <a:off x="8464027" y="4073057"/>
            <a:ext cx="2381250" cy="266700"/>
          </a:xfrm>
          <a:prstGeom prst="rect">
            <a:avLst/>
          </a:prstGeom>
          <a:noFill/>
          <a:ln w="0">
            <a:noFill/>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132238"/>
                </a:solidFill>
                <a:latin typeface="Nimbus Sans"/>
                <a:ea typeface="Nimbus Sans"/>
                <a:cs typeface="Nimbus Sans"/>
              </a:defRPr>
            </a:pPr>
            <a:endParaRPr kumimoji="0" sz="1350" b="0" i="0" u="none" strike="noStrike" kern="1200" cap="none" spc="0" normalizeH="0" baseline="0" noProof="0" dirty="0">
              <a:ln>
                <a:noFill/>
              </a:ln>
              <a:solidFill>
                <a:srgbClr val="132238"/>
              </a:solidFill>
              <a:effectLst/>
              <a:uLnTx/>
              <a:uFillTx/>
              <a:latin typeface="Nimbus Sans"/>
              <a:ea typeface="Nimbus Sans"/>
              <a:cs typeface="Nimbus Sans"/>
            </a:endParaRPr>
          </a:p>
        </p:txBody>
      </p:sp>
      <p:sp>
        <p:nvSpPr>
          <p:cNvPr id="35" name="Rectangle: Rounded Corners 34">
            <a:extLst>
              <a:ext uri="{FF2B5EF4-FFF2-40B4-BE49-F238E27FC236}">
                <a16:creationId xmlns:a16="http://schemas.microsoft.com/office/drawing/2014/main" id="{8FF5B151-A499-EED0-19D3-B3F009BF4B58}"/>
              </a:ext>
            </a:extLst>
          </p:cNvPr>
          <p:cNvSpPr>
            <a:spLocks noGrp="1"/>
          </p:cNvSpPr>
          <p:nvPr/>
        </p:nvSpPr>
        <p:spPr>
          <a:xfrm>
            <a:off x="8163455" y="4458820"/>
            <a:ext cx="1143000" cy="476250"/>
          </a:xfrm>
          <a:prstGeom prst="roundRect">
            <a:avLst>
              <a:gd name="adj" fmla="val 24000"/>
            </a:avLst>
          </a:prstGeom>
          <a:solidFill>
            <a:srgbClr val="EDF1F4"/>
          </a:solidFill>
          <a:ln w="0">
            <a:noFill/>
          </a:ln>
        </p:spPr>
        <p:txBody>
          <a:bodyPr wrap="square" lIns="57150" tIns="47625" rIns="57150" bIns="47625"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50" b="1">
                <a:solidFill>
                  <a:srgbClr val="5B6B7E"/>
                </a:solidFill>
                <a:latin typeface="Nimbus Sans"/>
                <a:ea typeface="Nimbus Sans"/>
                <a:cs typeface="Nimbus Sans"/>
              </a:defRPr>
            </a:pPr>
            <a:r>
              <a:rPr kumimoji="0" sz="1350" b="1" i="0" u="none" strike="noStrike" kern="1200" cap="none" spc="0" normalizeH="0" baseline="0" noProof="0">
                <a:ln>
                  <a:noFill/>
                </a:ln>
                <a:solidFill>
                  <a:srgbClr val="5B6B7E"/>
                </a:solidFill>
                <a:effectLst/>
                <a:uLnTx/>
                <a:uFillTx/>
                <a:latin typeface="Nimbus Sans"/>
                <a:ea typeface="Nimbus Sans"/>
                <a:cs typeface="Nimbus Sans"/>
              </a:rPr>
              <a:t>Cancel</a:t>
            </a:r>
          </a:p>
        </p:txBody>
      </p:sp>
      <p:sp>
        <p:nvSpPr>
          <p:cNvPr id="37" name="Rectangle: Rounded Corners 36">
            <a:extLst>
              <a:ext uri="{FF2B5EF4-FFF2-40B4-BE49-F238E27FC236}">
                <a16:creationId xmlns:a16="http://schemas.microsoft.com/office/drawing/2014/main" id="{A30A7F49-AFD5-B61D-997D-7BDE1ABE5377}"/>
              </a:ext>
            </a:extLst>
          </p:cNvPr>
          <p:cNvSpPr>
            <a:spLocks noGrp="1"/>
          </p:cNvSpPr>
          <p:nvPr/>
        </p:nvSpPr>
        <p:spPr>
          <a:xfrm>
            <a:off x="9473677" y="4466568"/>
            <a:ext cx="1466850" cy="476250"/>
          </a:xfrm>
          <a:prstGeom prst="roundRect">
            <a:avLst>
              <a:gd name="adj" fmla="val 24000"/>
            </a:avLst>
          </a:prstGeom>
          <a:solidFill>
            <a:srgbClr val="0F766E"/>
          </a:solidFill>
          <a:ln w="0">
            <a:noFill/>
          </a:ln>
        </p:spPr>
        <p:txBody>
          <a:bodyPr wrap="square" lIns="57150" tIns="47625" rIns="57150" bIns="47625"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50" b="1">
                <a:solidFill>
                  <a:srgbClr val="FFFFFF"/>
                </a:solidFill>
                <a:latin typeface="Nimbus Sans"/>
                <a:ea typeface="Nimbus Sans"/>
                <a:cs typeface="Nimbus Sans"/>
              </a:defRPr>
            </a:pPr>
            <a:r>
              <a:rPr kumimoji="0" lang="en-US" sz="1350" b="1" i="0" u="none" strike="noStrike" kern="1200" cap="none" spc="0" normalizeH="0" baseline="0" noProof="0" dirty="0">
                <a:ln>
                  <a:noFill/>
                </a:ln>
                <a:solidFill>
                  <a:srgbClr val="FFFFFF"/>
                </a:solidFill>
                <a:effectLst/>
                <a:uLnTx/>
                <a:uFillTx/>
                <a:latin typeface="Nimbus Sans"/>
                <a:ea typeface="Nimbus Sans"/>
                <a:cs typeface="Nimbus Sans"/>
              </a:rPr>
              <a:t>Create Budget</a:t>
            </a:r>
            <a:endParaRPr kumimoji="0" sz="1350" b="1" i="0" u="none" strike="noStrike" kern="1200" cap="none" spc="0" normalizeH="0" baseline="0" noProof="0" dirty="0">
              <a:ln>
                <a:noFill/>
              </a:ln>
              <a:solidFill>
                <a:srgbClr val="FFFFFF"/>
              </a:solidFill>
              <a:effectLst/>
              <a:uLnTx/>
              <a:uFillTx/>
              <a:latin typeface="Nimbus Sans"/>
              <a:ea typeface="Nimbus Sans"/>
              <a:cs typeface="Nimbus Sans"/>
            </a:endParaRPr>
          </a:p>
        </p:txBody>
      </p:sp>
      <p:sp>
        <p:nvSpPr>
          <p:cNvPr id="39" name="Rectangle 38">
            <a:extLst>
              <a:ext uri="{FF2B5EF4-FFF2-40B4-BE49-F238E27FC236}">
                <a16:creationId xmlns:a16="http://schemas.microsoft.com/office/drawing/2014/main" id="{9037C34B-1080-CEB0-BBAD-C754BDAC7910}"/>
              </a:ext>
            </a:extLst>
          </p:cNvPr>
          <p:cNvSpPr>
            <a:spLocks noGrp="1"/>
          </p:cNvSpPr>
          <p:nvPr/>
        </p:nvSpPr>
        <p:spPr>
          <a:xfrm>
            <a:off x="5607617" y="4554070"/>
            <a:ext cx="2365338" cy="2857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975" b="0">
                <a:solidFill>
                  <a:srgbClr val="5B6B7E"/>
                </a:solidFill>
                <a:latin typeface="Nimbus Sans"/>
                <a:ea typeface="Nimbus Sans"/>
                <a:cs typeface="Nimbus Sans"/>
              </a:defRPr>
            </a:pPr>
            <a:r>
              <a:rPr kumimoji="0" sz="975" b="0" i="0" u="none" strike="noStrike" kern="1200" cap="none" spc="0" normalizeH="0" baseline="0" noProof="0" dirty="0">
                <a:ln>
                  <a:noFill/>
                </a:ln>
                <a:solidFill>
                  <a:srgbClr val="5B6B7E"/>
                </a:solidFill>
                <a:effectLst/>
                <a:uLnTx/>
                <a:uFillTx/>
                <a:latin typeface="Nimbus Sans"/>
                <a:ea typeface="Nimbus Sans"/>
                <a:cs typeface="Nimbus Sans"/>
              </a:rPr>
              <a:t>Employment   Financial aid   Scholarships   Allowance   Self employment   Other income</a:t>
            </a:r>
          </a:p>
        </p:txBody>
      </p:sp>
      <p:sp>
        <p:nvSpPr>
          <p:cNvPr id="41" name="TextBox 40">
            <a:extLst>
              <a:ext uri="{FF2B5EF4-FFF2-40B4-BE49-F238E27FC236}">
                <a16:creationId xmlns:a16="http://schemas.microsoft.com/office/drawing/2014/main" id="{75C1562B-F9BE-FA30-B85C-3E1365AEBD0D}"/>
              </a:ext>
            </a:extLst>
          </p:cNvPr>
          <p:cNvSpPr txBox="1"/>
          <p:nvPr/>
        </p:nvSpPr>
        <p:spPr>
          <a:xfrm>
            <a:off x="8330677" y="3863507"/>
            <a:ext cx="404278"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3" name="TextBox 42">
            <a:extLst>
              <a:ext uri="{FF2B5EF4-FFF2-40B4-BE49-F238E27FC236}">
                <a16:creationId xmlns:a16="http://schemas.microsoft.com/office/drawing/2014/main" id="{36DF80A8-B6B3-B7DE-74DB-F9924CF2FCD7}"/>
              </a:ext>
            </a:extLst>
          </p:cNvPr>
          <p:cNvSpPr txBox="1"/>
          <p:nvPr/>
        </p:nvSpPr>
        <p:spPr>
          <a:xfrm>
            <a:off x="8671548" y="3820644"/>
            <a:ext cx="1912703" cy="60016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I would like to receive email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notifications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0F3FE06-30E4-5F07-3CFB-2DAF5A71D7FD}"/>
              </a:ext>
            </a:extLst>
          </p:cNvPr>
          <p:cNvSpPr>
            <a:spLocks noGrp="1"/>
          </p:cNvSpPr>
          <p:nvPr>
            <p:ph type="title" idx="4294967295"/>
          </p:nvPr>
        </p:nvSpPr>
        <p:spPr>
          <a:xfrm>
            <a:off x="748770" y="61630"/>
            <a:ext cx="10515600" cy="1010585"/>
          </a:xfrm>
        </p:spPr>
        <p:txBody>
          <a:bodyPr/>
          <a:lstStyle/>
          <a:p>
            <a:r>
              <a:rPr lang="en-US" dirty="0">
                <a:solidFill>
                  <a:schemeClr val="bg1"/>
                </a:solidFill>
              </a:rPr>
              <a:t>Budget Planner -  Overview</a:t>
            </a:r>
          </a:p>
        </p:txBody>
      </p:sp>
      <p:pic>
        <p:nvPicPr>
          <p:cNvPr id="6" name="Picture 5">
            <a:extLst>
              <a:ext uri="{FF2B5EF4-FFF2-40B4-BE49-F238E27FC236}">
                <a16:creationId xmlns:a16="http://schemas.microsoft.com/office/drawing/2014/main" id="{5BCFE1F3-56ED-7EFB-994F-E47FECB62C0C}"/>
              </a:ext>
            </a:extLst>
          </p:cNvPr>
          <p:cNvPicPr>
            <a:picLocks noChangeAspect="1"/>
          </p:cNvPicPr>
          <p:nvPr/>
        </p:nvPicPr>
        <p:blipFill>
          <a:blip r:embed="rId2"/>
          <a:stretch>
            <a:fillRect/>
          </a:stretch>
        </p:blipFill>
        <p:spPr>
          <a:xfrm>
            <a:off x="358245" y="883051"/>
            <a:ext cx="781050" cy="47625"/>
          </a:xfrm>
          <a:prstGeom prst="rect">
            <a:avLst/>
          </a:prstGeom>
        </p:spPr>
      </p:pic>
    </p:spTree>
    <p:extLst>
      <p:ext uri="{BB962C8B-B14F-4D97-AF65-F5344CB8AC3E}">
        <p14:creationId xmlns:p14="http://schemas.microsoft.com/office/powerpoint/2010/main" val="2416275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63B5D045-2535-ED29-5AFC-28ACAD4DB621}"/>
              </a:ext>
            </a:extLst>
          </p:cNvPr>
          <p:cNvSpPr>
            <a:spLocks noGrp="1"/>
          </p:cNvSpPr>
          <p:nvPr/>
        </p:nvSpPr>
        <p:spPr>
          <a:xfrm>
            <a:off x="5357084" y="1431876"/>
            <a:ext cx="6191250" cy="4210050"/>
          </a:xfrm>
          <a:prstGeom prst="roundRect">
            <a:avLst>
              <a:gd name="adj" fmla="val 4525"/>
            </a:avLst>
          </a:prstGeom>
          <a:solidFill>
            <a:srgbClr val="FFFFFF"/>
          </a:solidFill>
          <a:ln w="9525">
            <a:solidFill>
              <a:srgbClr val="D7DFE5"/>
            </a:solidFill>
            <a:prstDash val="solid"/>
          </a:ln>
        </p:spPr>
        <p:style>
          <a:lnRef idx="0">
            <a:scrgbClr r="0" g="0" b="0"/>
          </a:lnRef>
          <a:fillRef idx="0">
            <a:scrgbClr r="0" g="0" b="0"/>
          </a:fillRef>
          <a:effectRef idx="4">
            <a:scrgbClr r="0" g="0" b="0"/>
          </a:effectRef>
          <a:fontRef idx="major"/>
        </p:style>
        <p:txBody>
          <a:bodyPr/>
          <a:lstStyle/>
          <a:p>
            <a:endParaRPr lang="en-US" dirty="0"/>
          </a:p>
          <a:p>
            <a:endParaRPr lang="en-US" dirty="0"/>
          </a:p>
        </p:txBody>
      </p:sp>
      <p:sp>
        <p:nvSpPr>
          <p:cNvPr id="10" name="Rectangle: Rounded Corners 9">
            <a:extLst>
              <a:ext uri="{FF2B5EF4-FFF2-40B4-BE49-F238E27FC236}">
                <a16:creationId xmlns:a16="http://schemas.microsoft.com/office/drawing/2014/main" id="{291DB7B7-FD1F-BD68-5CFC-EF3A80814326}"/>
              </a:ext>
            </a:extLst>
          </p:cNvPr>
          <p:cNvSpPr>
            <a:spLocks noGrp="1"/>
          </p:cNvSpPr>
          <p:nvPr/>
        </p:nvSpPr>
        <p:spPr>
          <a:xfrm>
            <a:off x="5726430" y="1654833"/>
            <a:ext cx="1937500" cy="846324"/>
          </a:xfrm>
          <a:prstGeom prst="roundRect">
            <a:avLst>
              <a:gd name="adj" fmla="val 4525"/>
            </a:avLst>
          </a:prstGeom>
          <a:solidFill>
            <a:srgbClr val="FFFFFF"/>
          </a:solidFill>
          <a:ln w="9525">
            <a:solidFill>
              <a:srgbClr val="D7DFE5"/>
            </a:solidFill>
            <a:prstDash val="solid"/>
          </a:ln>
        </p:spPr>
        <p:style>
          <a:lnRef idx="0">
            <a:scrgbClr r="0" g="0" b="0"/>
          </a:lnRef>
          <a:fillRef idx="0">
            <a:scrgbClr r="0" g="0" b="0"/>
          </a:fillRef>
          <a:effectRef idx="4">
            <a:scrgbClr r="0" g="0" b="0"/>
          </a:effectRef>
          <a:fontRef idx="major"/>
        </p:style>
        <p:txBody>
          <a:bodyPr anchor="ctr"/>
          <a:lstStyle/>
          <a:p>
            <a:r>
              <a:rPr lang="en-US" dirty="0"/>
              <a:t>       Create Budget</a:t>
            </a:r>
          </a:p>
        </p:txBody>
      </p:sp>
      <p:sp>
        <p:nvSpPr>
          <p:cNvPr id="14" name="Rectangle: Rounded Corners 13">
            <a:extLst>
              <a:ext uri="{FF2B5EF4-FFF2-40B4-BE49-F238E27FC236}">
                <a16:creationId xmlns:a16="http://schemas.microsoft.com/office/drawing/2014/main" id="{D6920A7B-5011-18D1-FFAC-4743E887438B}"/>
              </a:ext>
            </a:extLst>
          </p:cNvPr>
          <p:cNvSpPr>
            <a:spLocks noGrp="1"/>
          </p:cNvSpPr>
          <p:nvPr/>
        </p:nvSpPr>
        <p:spPr>
          <a:xfrm>
            <a:off x="5726429" y="2654395"/>
            <a:ext cx="5461523" cy="846324"/>
          </a:xfrm>
          <a:prstGeom prst="roundRect">
            <a:avLst>
              <a:gd name="adj" fmla="val 4525"/>
            </a:avLst>
          </a:prstGeom>
          <a:solidFill>
            <a:schemeClr val="accent1">
              <a:lumMod val="20000"/>
              <a:lumOff val="80000"/>
            </a:schemeClr>
          </a:solidFill>
          <a:ln w="9525">
            <a:solidFill>
              <a:srgbClr val="D7DFE5"/>
            </a:solidFill>
            <a:prstDash val="solid"/>
          </a:ln>
        </p:spPr>
        <p:style>
          <a:lnRef idx="0">
            <a:scrgbClr r="0" g="0" b="0"/>
          </a:lnRef>
          <a:fillRef idx="0">
            <a:scrgbClr r="0" g="0" b="0"/>
          </a:fillRef>
          <a:effectRef idx="4">
            <a:scrgbClr r="0" g="0" b="0"/>
          </a:effectRef>
          <a:fontRef idx="major"/>
        </p:style>
        <p:txBody>
          <a:bodyPr anchor="ctr"/>
          <a:lstStyle/>
          <a:p>
            <a:r>
              <a:rPr lang="en-US" dirty="0"/>
              <a:t>Total Budget</a:t>
            </a:r>
          </a:p>
        </p:txBody>
      </p:sp>
      <p:sp>
        <p:nvSpPr>
          <p:cNvPr id="18" name="Rectangle: Rounded Corners 17">
            <a:extLst>
              <a:ext uri="{FF2B5EF4-FFF2-40B4-BE49-F238E27FC236}">
                <a16:creationId xmlns:a16="http://schemas.microsoft.com/office/drawing/2014/main" id="{FEB7850D-AE2C-244A-2442-A950D30264D6}"/>
              </a:ext>
            </a:extLst>
          </p:cNvPr>
          <p:cNvSpPr>
            <a:spLocks noGrp="1"/>
          </p:cNvSpPr>
          <p:nvPr/>
        </p:nvSpPr>
        <p:spPr>
          <a:xfrm>
            <a:off x="5721948" y="3649487"/>
            <a:ext cx="5461523" cy="846324"/>
          </a:xfrm>
          <a:prstGeom prst="roundRect">
            <a:avLst>
              <a:gd name="adj" fmla="val 4525"/>
            </a:avLst>
          </a:prstGeom>
          <a:solidFill>
            <a:schemeClr val="accent2">
              <a:lumMod val="20000"/>
              <a:lumOff val="80000"/>
            </a:schemeClr>
          </a:solidFill>
          <a:ln w="9525">
            <a:solidFill>
              <a:srgbClr val="D7DFE5"/>
            </a:solidFill>
            <a:prstDash val="solid"/>
          </a:ln>
        </p:spPr>
        <p:style>
          <a:lnRef idx="0">
            <a:scrgbClr r="0" g="0" b="0"/>
          </a:lnRef>
          <a:fillRef idx="0">
            <a:scrgbClr r="0" g="0" b="0"/>
          </a:fillRef>
          <a:effectRef idx="4">
            <a:scrgbClr r="0" g="0" b="0"/>
          </a:effectRef>
          <a:fontRef idx="major"/>
        </p:style>
        <p:txBody>
          <a:bodyPr anchor="ctr"/>
          <a:lstStyle/>
          <a:p>
            <a:r>
              <a:rPr lang="en-US" dirty="0"/>
              <a:t>Food</a:t>
            </a:r>
          </a:p>
        </p:txBody>
      </p:sp>
      <p:sp>
        <p:nvSpPr>
          <p:cNvPr id="22" name="Rectangle: Rounded Corners 21">
            <a:extLst>
              <a:ext uri="{FF2B5EF4-FFF2-40B4-BE49-F238E27FC236}">
                <a16:creationId xmlns:a16="http://schemas.microsoft.com/office/drawing/2014/main" id="{DAB4E3B8-E35B-D6CA-924E-9D929E5162DE}"/>
              </a:ext>
            </a:extLst>
          </p:cNvPr>
          <p:cNvSpPr>
            <a:spLocks noGrp="1"/>
          </p:cNvSpPr>
          <p:nvPr/>
        </p:nvSpPr>
        <p:spPr>
          <a:xfrm>
            <a:off x="5721948" y="4649049"/>
            <a:ext cx="5461523" cy="846324"/>
          </a:xfrm>
          <a:prstGeom prst="roundRect">
            <a:avLst>
              <a:gd name="adj" fmla="val 4525"/>
            </a:avLst>
          </a:prstGeom>
          <a:solidFill>
            <a:schemeClr val="accent3">
              <a:lumMod val="20000"/>
              <a:lumOff val="80000"/>
            </a:schemeClr>
          </a:solidFill>
          <a:ln w="9525">
            <a:solidFill>
              <a:srgbClr val="D7DFE5"/>
            </a:solidFill>
            <a:prstDash val="solid"/>
          </a:ln>
        </p:spPr>
        <p:style>
          <a:lnRef idx="0">
            <a:scrgbClr r="0" g="0" b="0"/>
          </a:lnRef>
          <a:fillRef idx="0">
            <a:scrgbClr r="0" g="0" b="0"/>
          </a:fillRef>
          <a:effectRef idx="4">
            <a:scrgbClr r="0" g="0" b="0"/>
          </a:effectRef>
          <a:fontRef idx="major"/>
        </p:style>
        <p:txBody>
          <a:bodyPr anchor="ctr"/>
          <a:lstStyle/>
          <a:p>
            <a:r>
              <a:rPr lang="en-US" dirty="0"/>
              <a:t>Entertainment</a:t>
            </a:r>
          </a:p>
        </p:txBody>
      </p:sp>
      <p:sp>
        <p:nvSpPr>
          <p:cNvPr id="2" name="Title 1">
            <a:extLst>
              <a:ext uri="{FF2B5EF4-FFF2-40B4-BE49-F238E27FC236}">
                <a16:creationId xmlns:a16="http://schemas.microsoft.com/office/drawing/2014/main" id="{BCF0C9DA-1BEC-E158-D0D6-1F1CF8D341CB}"/>
              </a:ext>
            </a:extLst>
          </p:cNvPr>
          <p:cNvSpPr>
            <a:spLocks noGrp="1"/>
          </p:cNvSpPr>
          <p:nvPr>
            <p:ph type="title" idx="4294967295"/>
          </p:nvPr>
        </p:nvSpPr>
        <p:spPr>
          <a:xfrm>
            <a:off x="838200" y="67731"/>
            <a:ext cx="10515600" cy="883027"/>
          </a:xfrm>
        </p:spPr>
        <p:txBody>
          <a:bodyPr/>
          <a:lstStyle/>
          <a:p>
            <a:r>
              <a:rPr lang="en-US" dirty="0">
                <a:solidFill>
                  <a:schemeClr val="bg1"/>
                </a:solidFill>
              </a:rPr>
              <a:t>Budget Planner</a:t>
            </a:r>
          </a:p>
        </p:txBody>
      </p:sp>
      <p:sp>
        <p:nvSpPr>
          <p:cNvPr id="3" name="Content Placeholder 2">
            <a:extLst>
              <a:ext uri="{FF2B5EF4-FFF2-40B4-BE49-F238E27FC236}">
                <a16:creationId xmlns:a16="http://schemas.microsoft.com/office/drawing/2014/main" id="{E52FCE4B-EC36-0045-D53D-18A74925A3BC}"/>
              </a:ext>
            </a:extLst>
          </p:cNvPr>
          <p:cNvSpPr>
            <a:spLocks noGrp="1"/>
          </p:cNvSpPr>
          <p:nvPr>
            <p:ph idx="4294967295"/>
          </p:nvPr>
        </p:nvSpPr>
        <p:spPr>
          <a:xfrm>
            <a:off x="495671" y="1811520"/>
            <a:ext cx="4335463" cy="4351338"/>
          </a:xfrm>
        </p:spPr>
        <p:txBody>
          <a:bodyPr/>
          <a:lstStyle/>
          <a:p>
            <a:r>
              <a:rPr lang="en-US" dirty="0">
                <a:latin typeface="Nimbus Sans"/>
              </a:rPr>
              <a:t>Buttons to Create &amp; Modify Budgets</a:t>
            </a:r>
          </a:p>
          <a:p>
            <a:r>
              <a:rPr lang="en-US" dirty="0">
                <a:latin typeface="Nimbus Sans"/>
              </a:rPr>
              <a:t>Webpage Display:</a:t>
            </a:r>
          </a:p>
          <a:p>
            <a:pPr lvl="1"/>
            <a:r>
              <a:rPr lang="en-US" dirty="0">
                <a:latin typeface="Nimbus Sans"/>
              </a:rPr>
              <a:t>Total Budget</a:t>
            </a:r>
          </a:p>
          <a:p>
            <a:pPr lvl="1"/>
            <a:r>
              <a:rPr lang="en-US" dirty="0">
                <a:latin typeface="Nimbus Sans"/>
              </a:rPr>
              <a:t>Amount spent</a:t>
            </a:r>
          </a:p>
          <a:p>
            <a:pPr lvl="1"/>
            <a:r>
              <a:rPr lang="en-US" dirty="0">
                <a:latin typeface="Nimbus Sans"/>
              </a:rPr>
              <a:t>Amount remaining</a:t>
            </a:r>
          </a:p>
          <a:p>
            <a:pPr lvl="1"/>
            <a:r>
              <a:rPr lang="en-US" dirty="0">
                <a:latin typeface="Nimbus Sans"/>
              </a:rPr>
              <a:t>Percentage used</a:t>
            </a:r>
          </a:p>
          <a:p>
            <a:pPr lvl="1"/>
            <a:r>
              <a:rPr lang="en-US" dirty="0">
                <a:latin typeface="Nimbus Sans"/>
              </a:rPr>
              <a:t>Warning label if spending approaches or exceeds Budget</a:t>
            </a:r>
          </a:p>
          <a:p>
            <a:endParaRPr lang="en-US" dirty="0"/>
          </a:p>
        </p:txBody>
      </p:sp>
      <p:sp>
        <p:nvSpPr>
          <p:cNvPr id="9" name="Rectangle 8">
            <a:extLst>
              <a:ext uri="{FF2B5EF4-FFF2-40B4-BE49-F238E27FC236}">
                <a16:creationId xmlns:a16="http://schemas.microsoft.com/office/drawing/2014/main" id="{9493EDE9-E9C7-D0A2-CC6E-28CDF7376A53}"/>
              </a:ext>
            </a:extLst>
          </p:cNvPr>
          <p:cNvSpPr>
            <a:spLocks noGrp="1"/>
          </p:cNvSpPr>
          <p:nvPr/>
        </p:nvSpPr>
        <p:spPr>
          <a:xfrm>
            <a:off x="7456730" y="2734045"/>
            <a:ext cx="701151" cy="708409"/>
          </a:xfrm>
          <a:prstGeom prst="rect">
            <a:avLst/>
          </a:prstGeom>
          <a:noFill/>
          <a:ln w="0">
            <a:noFill/>
          </a:ln>
        </p:spPr>
        <p:txBody>
          <a:bodyPr wrap="square" lIns="0" tIns="0" rIns="0" bIns="0" anchor="t">
            <a:noAutofit/>
          </a:bodyPr>
          <a:lstStyle/>
          <a:p>
            <a:pPr algn="l">
              <a:defRPr sz="900" b="1">
                <a:solidFill>
                  <a:srgbClr val="5B6B7E"/>
                </a:solidFill>
                <a:latin typeface="Nimbus Sans"/>
                <a:ea typeface="Nimbus Sans"/>
                <a:cs typeface="Nimbus Sans"/>
              </a:defRPr>
            </a:pPr>
            <a:r>
              <a:rPr sz="900" b="1" dirty="0">
                <a:solidFill>
                  <a:srgbClr val="5B6B7E"/>
                </a:solidFill>
                <a:latin typeface="Nimbus Sans"/>
                <a:ea typeface="Nimbus Sans"/>
                <a:cs typeface="Nimbus Sans"/>
              </a:rPr>
              <a:t>AMOUNT</a:t>
            </a:r>
            <a:r>
              <a:rPr lang="en-US" sz="900" b="1" dirty="0">
                <a:solidFill>
                  <a:srgbClr val="5B6B7E"/>
                </a:solidFill>
                <a:latin typeface="Nimbus Sans"/>
                <a:ea typeface="Nimbus Sans"/>
                <a:cs typeface="Nimbus Sans"/>
              </a:rPr>
              <a:t>:</a:t>
            </a:r>
          </a:p>
          <a:p>
            <a:pPr algn="l">
              <a:defRPr sz="900" b="1">
                <a:solidFill>
                  <a:srgbClr val="5B6B7E"/>
                </a:solidFill>
                <a:latin typeface="Nimbus Sans"/>
                <a:ea typeface="Nimbus Sans"/>
                <a:cs typeface="Nimbus Sans"/>
              </a:defRPr>
            </a:pPr>
            <a:endParaRPr lang="en-US" sz="900" b="1" dirty="0">
              <a:solidFill>
                <a:srgbClr val="5B6B7E"/>
              </a:solidFill>
              <a:latin typeface="Nimbus Sans"/>
              <a:ea typeface="Nimbus Sans"/>
              <a:cs typeface="Nimbus Sans"/>
            </a:endParaRPr>
          </a:p>
          <a:p>
            <a:pPr algn="l">
              <a:defRPr sz="900" b="1">
                <a:solidFill>
                  <a:srgbClr val="5B6B7E"/>
                </a:solidFill>
                <a:latin typeface="Nimbus Sans"/>
                <a:ea typeface="Nimbus Sans"/>
                <a:cs typeface="Nimbus Sans"/>
              </a:defRPr>
            </a:pPr>
            <a:r>
              <a:rPr lang="en-US" sz="900" b="1" dirty="0">
                <a:solidFill>
                  <a:srgbClr val="5B6B7E"/>
                </a:solidFill>
                <a:latin typeface="Nimbus Sans"/>
                <a:ea typeface="Nimbus Sans"/>
                <a:cs typeface="Nimbus Sans"/>
              </a:rPr>
              <a:t>SPENT:</a:t>
            </a:r>
            <a:br>
              <a:rPr lang="en-US" sz="900" b="1" dirty="0">
                <a:solidFill>
                  <a:srgbClr val="5B6B7E"/>
                </a:solidFill>
                <a:latin typeface="Nimbus Sans"/>
                <a:ea typeface="Nimbus Sans"/>
                <a:cs typeface="Nimbus Sans"/>
              </a:rPr>
            </a:br>
            <a:br>
              <a:rPr lang="en-US" sz="900" b="1" dirty="0">
                <a:solidFill>
                  <a:srgbClr val="5B6B7E"/>
                </a:solidFill>
                <a:latin typeface="Nimbus Sans"/>
                <a:ea typeface="Nimbus Sans"/>
                <a:cs typeface="Nimbus Sans"/>
              </a:rPr>
            </a:br>
            <a:r>
              <a:rPr lang="en-US" sz="900" b="1" dirty="0">
                <a:solidFill>
                  <a:srgbClr val="5B6B7E"/>
                </a:solidFill>
                <a:latin typeface="Nimbus Sans"/>
                <a:ea typeface="Nimbus Sans"/>
                <a:cs typeface="Nimbus Sans"/>
              </a:rPr>
              <a:t>PERCENTAGE:</a:t>
            </a:r>
          </a:p>
        </p:txBody>
      </p:sp>
      <p:sp>
        <p:nvSpPr>
          <p:cNvPr id="11" name="Rectangle: Rounded Corners 10">
            <a:extLst>
              <a:ext uri="{FF2B5EF4-FFF2-40B4-BE49-F238E27FC236}">
                <a16:creationId xmlns:a16="http://schemas.microsoft.com/office/drawing/2014/main" id="{A9E22399-FE30-38E8-47C3-4E458F8D4EE7}"/>
              </a:ext>
            </a:extLst>
          </p:cNvPr>
          <p:cNvSpPr>
            <a:spLocks noGrp="1"/>
          </p:cNvSpPr>
          <p:nvPr/>
        </p:nvSpPr>
        <p:spPr>
          <a:xfrm>
            <a:off x="8253878" y="2707586"/>
            <a:ext cx="1027202" cy="227125"/>
          </a:xfrm>
          <a:prstGeom prst="roundRect">
            <a:avLst>
              <a:gd name="adj" fmla="val 20833"/>
            </a:avLst>
          </a:prstGeom>
          <a:solidFill>
            <a:srgbClr val="FFFFFF"/>
          </a:solidFill>
          <a:ln w="9525">
            <a:solidFill>
              <a:srgbClr val="D7DFE5"/>
            </a:solidFill>
            <a:prstDash val="solid"/>
          </a:ln>
        </p:spPr>
        <p:txBody>
          <a:bodyPr/>
          <a:lstStyle/>
          <a:p>
            <a:r>
              <a:rPr lang="en-US" sz="900" dirty="0"/>
              <a:t>$ 2,000</a:t>
            </a:r>
          </a:p>
        </p:txBody>
      </p:sp>
      <p:sp>
        <p:nvSpPr>
          <p:cNvPr id="37" name="Rectangle 36">
            <a:extLst>
              <a:ext uri="{FF2B5EF4-FFF2-40B4-BE49-F238E27FC236}">
                <a16:creationId xmlns:a16="http://schemas.microsoft.com/office/drawing/2014/main" id="{E6686BD9-7B64-33BF-B2B0-DE5FB5A2F6C4}"/>
              </a:ext>
            </a:extLst>
          </p:cNvPr>
          <p:cNvSpPr>
            <a:spLocks noGrp="1"/>
          </p:cNvSpPr>
          <p:nvPr/>
        </p:nvSpPr>
        <p:spPr>
          <a:xfrm>
            <a:off x="8526780" y="3531177"/>
            <a:ext cx="2381250" cy="266700"/>
          </a:xfrm>
          <a:prstGeom prst="rect">
            <a:avLst/>
          </a:prstGeom>
          <a:noFill/>
          <a:ln w="0">
            <a:noFill/>
          </a:ln>
        </p:spPr>
        <p:txBody>
          <a:bodyPr wrap="square" lIns="0" tIns="0" rIns="0" bIns="0" anchor="ctr">
            <a:noAutofit/>
          </a:bodyPr>
          <a:lstStyle/>
          <a:p>
            <a:pPr algn="l">
              <a:defRPr sz="1350" b="0">
                <a:solidFill>
                  <a:srgbClr val="132238"/>
                </a:solidFill>
                <a:latin typeface="Nimbus Sans"/>
                <a:ea typeface="Nimbus Sans"/>
                <a:cs typeface="Nimbus Sans"/>
              </a:defRPr>
            </a:pPr>
            <a:endParaRPr sz="1350" b="0" dirty="0">
              <a:solidFill>
                <a:srgbClr val="132238"/>
              </a:solidFill>
              <a:latin typeface="Nimbus Sans"/>
              <a:ea typeface="Nimbus Sans"/>
              <a:cs typeface="Nimbus Sans"/>
            </a:endParaRPr>
          </a:p>
        </p:txBody>
      </p:sp>
      <p:sp>
        <p:nvSpPr>
          <p:cNvPr id="15" name="Rectangle 14">
            <a:extLst>
              <a:ext uri="{FF2B5EF4-FFF2-40B4-BE49-F238E27FC236}">
                <a16:creationId xmlns:a16="http://schemas.microsoft.com/office/drawing/2014/main" id="{CFB15D07-0EC4-2977-9CA2-343B673627D7}"/>
              </a:ext>
            </a:extLst>
          </p:cNvPr>
          <p:cNvSpPr>
            <a:spLocks noGrp="1"/>
          </p:cNvSpPr>
          <p:nvPr/>
        </p:nvSpPr>
        <p:spPr>
          <a:xfrm>
            <a:off x="5698135" y="1651009"/>
            <a:ext cx="45719" cy="853032"/>
          </a:xfrm>
          <a:prstGeom prst="rect">
            <a:avLst/>
          </a:prstGeom>
          <a:solidFill>
            <a:srgbClr val="0F766E"/>
          </a:solidFill>
          <a:ln w="0">
            <a:noFill/>
          </a:ln>
        </p:spPr>
        <p:txBody>
          <a:bodyPr/>
          <a:lstStyle/>
          <a:p>
            <a:endParaRPr lang="en-US"/>
          </a:p>
        </p:txBody>
      </p:sp>
      <p:sp>
        <p:nvSpPr>
          <p:cNvPr id="26" name="Rectangle 25">
            <a:extLst>
              <a:ext uri="{FF2B5EF4-FFF2-40B4-BE49-F238E27FC236}">
                <a16:creationId xmlns:a16="http://schemas.microsoft.com/office/drawing/2014/main" id="{46DF2631-DAE2-3AFD-CF39-3CD1E11C2748}"/>
              </a:ext>
            </a:extLst>
          </p:cNvPr>
          <p:cNvSpPr>
            <a:spLocks noGrp="1"/>
          </p:cNvSpPr>
          <p:nvPr/>
        </p:nvSpPr>
        <p:spPr>
          <a:xfrm>
            <a:off x="5698135" y="3653838"/>
            <a:ext cx="45719" cy="853032"/>
          </a:xfrm>
          <a:prstGeom prst="rect">
            <a:avLst/>
          </a:prstGeom>
          <a:solidFill>
            <a:srgbClr val="0F766E"/>
          </a:solidFill>
          <a:ln w="0">
            <a:noFill/>
          </a:ln>
        </p:spPr>
        <p:txBody>
          <a:bodyPr/>
          <a:lstStyle/>
          <a:p>
            <a:endParaRPr lang="en-US"/>
          </a:p>
        </p:txBody>
      </p:sp>
      <p:sp>
        <p:nvSpPr>
          <p:cNvPr id="30" name="Rectangle 29">
            <a:extLst>
              <a:ext uri="{FF2B5EF4-FFF2-40B4-BE49-F238E27FC236}">
                <a16:creationId xmlns:a16="http://schemas.microsoft.com/office/drawing/2014/main" id="{1DC99C47-99F7-15E7-6BA8-0A2C5722C690}"/>
              </a:ext>
            </a:extLst>
          </p:cNvPr>
          <p:cNvSpPr>
            <a:spLocks noGrp="1"/>
          </p:cNvSpPr>
          <p:nvPr/>
        </p:nvSpPr>
        <p:spPr>
          <a:xfrm>
            <a:off x="5698135" y="2650452"/>
            <a:ext cx="45719" cy="853032"/>
          </a:xfrm>
          <a:prstGeom prst="rect">
            <a:avLst/>
          </a:prstGeom>
          <a:solidFill>
            <a:srgbClr val="0F766E"/>
          </a:solidFill>
          <a:ln w="0">
            <a:noFill/>
          </a:ln>
        </p:spPr>
        <p:txBody>
          <a:bodyPr/>
          <a:lstStyle/>
          <a:p>
            <a:endParaRPr lang="en-US"/>
          </a:p>
        </p:txBody>
      </p:sp>
      <p:sp>
        <p:nvSpPr>
          <p:cNvPr id="34" name="Rectangle 33">
            <a:extLst>
              <a:ext uri="{FF2B5EF4-FFF2-40B4-BE49-F238E27FC236}">
                <a16:creationId xmlns:a16="http://schemas.microsoft.com/office/drawing/2014/main" id="{BC72E348-6586-8733-BA78-AD58384DDA6A}"/>
              </a:ext>
            </a:extLst>
          </p:cNvPr>
          <p:cNvSpPr>
            <a:spLocks noGrp="1"/>
          </p:cNvSpPr>
          <p:nvPr/>
        </p:nvSpPr>
        <p:spPr>
          <a:xfrm>
            <a:off x="5698135" y="4640610"/>
            <a:ext cx="45719" cy="853032"/>
          </a:xfrm>
          <a:prstGeom prst="rect">
            <a:avLst/>
          </a:prstGeom>
          <a:solidFill>
            <a:srgbClr val="0F766E"/>
          </a:solidFill>
          <a:ln w="0">
            <a:noFill/>
          </a:ln>
        </p:spPr>
        <p:txBody>
          <a:bodyPr/>
          <a:lstStyle/>
          <a:p>
            <a:endParaRPr lang="en-US"/>
          </a:p>
        </p:txBody>
      </p:sp>
      <p:sp>
        <p:nvSpPr>
          <p:cNvPr id="46" name="Rectangle: Rounded Corners 45">
            <a:extLst>
              <a:ext uri="{FF2B5EF4-FFF2-40B4-BE49-F238E27FC236}">
                <a16:creationId xmlns:a16="http://schemas.microsoft.com/office/drawing/2014/main" id="{E4C5623D-6904-EF2A-4D04-24D5129C3D4B}"/>
              </a:ext>
            </a:extLst>
          </p:cNvPr>
          <p:cNvSpPr>
            <a:spLocks noGrp="1"/>
          </p:cNvSpPr>
          <p:nvPr/>
        </p:nvSpPr>
        <p:spPr>
          <a:xfrm>
            <a:off x="10306936" y="4774449"/>
            <a:ext cx="744988" cy="292677"/>
          </a:xfrm>
          <a:prstGeom prst="roundRect">
            <a:avLst>
              <a:gd name="adj" fmla="val 24000"/>
            </a:avLst>
          </a:prstGeom>
          <a:solidFill>
            <a:srgbClr val="EDF1F4"/>
          </a:solidFill>
          <a:ln w="0">
            <a:noFill/>
          </a:ln>
        </p:spPr>
        <p:txBody>
          <a:bodyPr wrap="square" lIns="57150" tIns="47625" rIns="57150" bIns="47625" anchor="ctr">
            <a:noAutofit/>
          </a:bodyPr>
          <a:lstStyle/>
          <a:p>
            <a:pPr algn="ctr">
              <a:defRPr sz="1350" b="1">
                <a:solidFill>
                  <a:srgbClr val="5B6B7E"/>
                </a:solidFill>
                <a:latin typeface="Nimbus Sans"/>
                <a:ea typeface="Nimbus Sans"/>
                <a:cs typeface="Nimbus Sans"/>
              </a:defRPr>
            </a:pPr>
            <a:r>
              <a:rPr lang="en-US" sz="1350" b="1" dirty="0">
                <a:solidFill>
                  <a:srgbClr val="5B6B7E"/>
                </a:solidFill>
                <a:latin typeface="Nimbus Sans"/>
                <a:ea typeface="Nimbus Sans"/>
                <a:cs typeface="Nimbus Sans"/>
              </a:rPr>
              <a:t>Edit</a:t>
            </a:r>
            <a:endParaRPr sz="1350" b="1" dirty="0">
              <a:solidFill>
                <a:srgbClr val="5B6B7E"/>
              </a:solidFill>
              <a:latin typeface="Nimbus Sans"/>
              <a:ea typeface="Nimbus Sans"/>
              <a:cs typeface="Nimbus Sans"/>
            </a:endParaRPr>
          </a:p>
        </p:txBody>
      </p:sp>
      <p:sp>
        <p:nvSpPr>
          <p:cNvPr id="48" name="Rectangle: Rounded Corners 47">
            <a:extLst>
              <a:ext uri="{FF2B5EF4-FFF2-40B4-BE49-F238E27FC236}">
                <a16:creationId xmlns:a16="http://schemas.microsoft.com/office/drawing/2014/main" id="{22328DB5-BD61-7958-3744-4A067A775DF5}"/>
              </a:ext>
            </a:extLst>
          </p:cNvPr>
          <p:cNvSpPr>
            <a:spLocks noGrp="1"/>
          </p:cNvSpPr>
          <p:nvPr/>
        </p:nvSpPr>
        <p:spPr>
          <a:xfrm>
            <a:off x="10306936" y="5083650"/>
            <a:ext cx="744988" cy="292677"/>
          </a:xfrm>
          <a:prstGeom prst="roundRect">
            <a:avLst>
              <a:gd name="adj" fmla="val 24000"/>
            </a:avLst>
          </a:prstGeom>
          <a:solidFill>
            <a:srgbClr val="EDF1F4"/>
          </a:solidFill>
          <a:ln w="0">
            <a:noFill/>
          </a:ln>
        </p:spPr>
        <p:txBody>
          <a:bodyPr wrap="square" lIns="57150" tIns="47625" rIns="57150" bIns="47625" anchor="ctr">
            <a:noAutofit/>
          </a:bodyPr>
          <a:lstStyle/>
          <a:p>
            <a:pPr algn="ctr">
              <a:defRPr sz="1350" b="1">
                <a:solidFill>
                  <a:srgbClr val="5B6B7E"/>
                </a:solidFill>
                <a:latin typeface="Nimbus Sans"/>
                <a:ea typeface="Nimbus Sans"/>
                <a:cs typeface="Nimbus Sans"/>
              </a:defRPr>
            </a:pPr>
            <a:r>
              <a:rPr lang="en-US" sz="1350" b="1" dirty="0">
                <a:solidFill>
                  <a:srgbClr val="5B6B7E"/>
                </a:solidFill>
                <a:latin typeface="Nimbus Sans"/>
                <a:ea typeface="Nimbus Sans"/>
                <a:cs typeface="Nimbus Sans"/>
              </a:rPr>
              <a:t>Delete</a:t>
            </a:r>
            <a:endParaRPr sz="1350" b="1" dirty="0">
              <a:solidFill>
                <a:srgbClr val="5B6B7E"/>
              </a:solidFill>
              <a:latin typeface="Nimbus Sans"/>
              <a:ea typeface="Nimbus Sans"/>
              <a:cs typeface="Nimbus Sans"/>
            </a:endParaRPr>
          </a:p>
        </p:txBody>
      </p:sp>
      <p:sp>
        <p:nvSpPr>
          <p:cNvPr id="50" name="Rectangle: Rounded Corners 49">
            <a:extLst>
              <a:ext uri="{FF2B5EF4-FFF2-40B4-BE49-F238E27FC236}">
                <a16:creationId xmlns:a16="http://schemas.microsoft.com/office/drawing/2014/main" id="{A092640C-DF3C-AB1E-1D50-1B2CC91E7811}"/>
              </a:ext>
            </a:extLst>
          </p:cNvPr>
          <p:cNvSpPr>
            <a:spLocks noGrp="1"/>
          </p:cNvSpPr>
          <p:nvPr/>
        </p:nvSpPr>
        <p:spPr>
          <a:xfrm>
            <a:off x="10300763" y="3793717"/>
            <a:ext cx="744988" cy="292677"/>
          </a:xfrm>
          <a:prstGeom prst="roundRect">
            <a:avLst>
              <a:gd name="adj" fmla="val 24000"/>
            </a:avLst>
          </a:prstGeom>
          <a:solidFill>
            <a:srgbClr val="EDF1F4"/>
          </a:solidFill>
          <a:ln w="0">
            <a:noFill/>
          </a:ln>
        </p:spPr>
        <p:txBody>
          <a:bodyPr wrap="square" lIns="57150" tIns="47625" rIns="57150" bIns="47625" anchor="ctr">
            <a:noAutofit/>
          </a:bodyPr>
          <a:lstStyle/>
          <a:p>
            <a:pPr algn="ctr">
              <a:defRPr sz="1350" b="1">
                <a:solidFill>
                  <a:srgbClr val="5B6B7E"/>
                </a:solidFill>
                <a:latin typeface="Nimbus Sans"/>
                <a:ea typeface="Nimbus Sans"/>
                <a:cs typeface="Nimbus Sans"/>
              </a:defRPr>
            </a:pPr>
            <a:r>
              <a:rPr lang="en-US" sz="1350" b="1" dirty="0">
                <a:solidFill>
                  <a:srgbClr val="5B6B7E"/>
                </a:solidFill>
                <a:latin typeface="Nimbus Sans"/>
                <a:ea typeface="Nimbus Sans"/>
                <a:cs typeface="Nimbus Sans"/>
              </a:rPr>
              <a:t>Edit</a:t>
            </a:r>
            <a:endParaRPr sz="1350" b="1" dirty="0">
              <a:solidFill>
                <a:srgbClr val="5B6B7E"/>
              </a:solidFill>
              <a:latin typeface="Nimbus Sans"/>
              <a:ea typeface="Nimbus Sans"/>
              <a:cs typeface="Nimbus Sans"/>
            </a:endParaRPr>
          </a:p>
        </p:txBody>
      </p:sp>
      <p:sp>
        <p:nvSpPr>
          <p:cNvPr id="52" name="Rectangle: Rounded Corners 51">
            <a:extLst>
              <a:ext uri="{FF2B5EF4-FFF2-40B4-BE49-F238E27FC236}">
                <a16:creationId xmlns:a16="http://schemas.microsoft.com/office/drawing/2014/main" id="{2B290EB0-0526-EC1B-1BA6-357DE89363EB}"/>
              </a:ext>
            </a:extLst>
          </p:cNvPr>
          <p:cNvSpPr>
            <a:spLocks noGrp="1"/>
          </p:cNvSpPr>
          <p:nvPr/>
        </p:nvSpPr>
        <p:spPr>
          <a:xfrm>
            <a:off x="10300763" y="4102918"/>
            <a:ext cx="744988" cy="292677"/>
          </a:xfrm>
          <a:prstGeom prst="roundRect">
            <a:avLst>
              <a:gd name="adj" fmla="val 24000"/>
            </a:avLst>
          </a:prstGeom>
          <a:solidFill>
            <a:srgbClr val="EDF1F4"/>
          </a:solidFill>
          <a:ln w="0">
            <a:noFill/>
          </a:ln>
        </p:spPr>
        <p:txBody>
          <a:bodyPr wrap="square" lIns="57150" tIns="47625" rIns="57150" bIns="47625" anchor="ctr">
            <a:noAutofit/>
          </a:bodyPr>
          <a:lstStyle/>
          <a:p>
            <a:pPr algn="ctr">
              <a:defRPr sz="1350" b="1">
                <a:solidFill>
                  <a:srgbClr val="5B6B7E"/>
                </a:solidFill>
                <a:latin typeface="Nimbus Sans"/>
                <a:ea typeface="Nimbus Sans"/>
                <a:cs typeface="Nimbus Sans"/>
              </a:defRPr>
            </a:pPr>
            <a:r>
              <a:rPr lang="en-US" sz="1350" b="1" dirty="0">
                <a:solidFill>
                  <a:srgbClr val="5B6B7E"/>
                </a:solidFill>
                <a:latin typeface="Nimbus Sans"/>
                <a:ea typeface="Nimbus Sans"/>
                <a:cs typeface="Nimbus Sans"/>
              </a:rPr>
              <a:t>Delete</a:t>
            </a:r>
            <a:endParaRPr sz="1350" b="1" dirty="0">
              <a:solidFill>
                <a:srgbClr val="5B6B7E"/>
              </a:solidFill>
              <a:latin typeface="Nimbus Sans"/>
              <a:ea typeface="Nimbus Sans"/>
              <a:cs typeface="Nimbus Sans"/>
            </a:endParaRPr>
          </a:p>
        </p:txBody>
      </p:sp>
      <p:sp>
        <p:nvSpPr>
          <p:cNvPr id="54" name="Rectangle: Rounded Corners 53">
            <a:extLst>
              <a:ext uri="{FF2B5EF4-FFF2-40B4-BE49-F238E27FC236}">
                <a16:creationId xmlns:a16="http://schemas.microsoft.com/office/drawing/2014/main" id="{25DA9A89-29BE-CB69-A90F-C67720B56A7A}"/>
              </a:ext>
            </a:extLst>
          </p:cNvPr>
          <p:cNvSpPr>
            <a:spLocks noGrp="1"/>
          </p:cNvSpPr>
          <p:nvPr/>
        </p:nvSpPr>
        <p:spPr>
          <a:xfrm>
            <a:off x="10306936" y="2774383"/>
            <a:ext cx="744988" cy="292677"/>
          </a:xfrm>
          <a:prstGeom prst="roundRect">
            <a:avLst>
              <a:gd name="adj" fmla="val 24000"/>
            </a:avLst>
          </a:prstGeom>
          <a:solidFill>
            <a:srgbClr val="EDF1F4"/>
          </a:solidFill>
          <a:ln w="0">
            <a:noFill/>
          </a:ln>
        </p:spPr>
        <p:txBody>
          <a:bodyPr wrap="square" lIns="57150" tIns="47625" rIns="57150" bIns="47625" anchor="ctr">
            <a:noAutofit/>
          </a:bodyPr>
          <a:lstStyle/>
          <a:p>
            <a:pPr algn="ctr">
              <a:defRPr sz="1350" b="1">
                <a:solidFill>
                  <a:srgbClr val="5B6B7E"/>
                </a:solidFill>
                <a:latin typeface="Nimbus Sans"/>
                <a:ea typeface="Nimbus Sans"/>
                <a:cs typeface="Nimbus Sans"/>
              </a:defRPr>
            </a:pPr>
            <a:r>
              <a:rPr lang="en-US" sz="1350" b="1" dirty="0">
                <a:solidFill>
                  <a:srgbClr val="5B6B7E"/>
                </a:solidFill>
                <a:latin typeface="Nimbus Sans"/>
                <a:ea typeface="Nimbus Sans"/>
                <a:cs typeface="Nimbus Sans"/>
              </a:rPr>
              <a:t>Edit</a:t>
            </a:r>
            <a:endParaRPr sz="1350" b="1" dirty="0">
              <a:solidFill>
                <a:srgbClr val="5B6B7E"/>
              </a:solidFill>
              <a:latin typeface="Nimbus Sans"/>
              <a:ea typeface="Nimbus Sans"/>
              <a:cs typeface="Nimbus Sans"/>
            </a:endParaRPr>
          </a:p>
        </p:txBody>
      </p:sp>
      <p:sp>
        <p:nvSpPr>
          <p:cNvPr id="56" name="Rectangle: Rounded Corners 55">
            <a:extLst>
              <a:ext uri="{FF2B5EF4-FFF2-40B4-BE49-F238E27FC236}">
                <a16:creationId xmlns:a16="http://schemas.microsoft.com/office/drawing/2014/main" id="{51BB5ADE-30B0-A456-F76B-9A65873CD428}"/>
              </a:ext>
            </a:extLst>
          </p:cNvPr>
          <p:cNvSpPr>
            <a:spLocks noGrp="1"/>
          </p:cNvSpPr>
          <p:nvPr/>
        </p:nvSpPr>
        <p:spPr>
          <a:xfrm>
            <a:off x="10306936" y="3083584"/>
            <a:ext cx="744988" cy="292677"/>
          </a:xfrm>
          <a:prstGeom prst="roundRect">
            <a:avLst>
              <a:gd name="adj" fmla="val 24000"/>
            </a:avLst>
          </a:prstGeom>
          <a:solidFill>
            <a:srgbClr val="EDF1F4"/>
          </a:solidFill>
          <a:ln w="0">
            <a:noFill/>
          </a:ln>
        </p:spPr>
        <p:txBody>
          <a:bodyPr wrap="square" lIns="57150" tIns="47625" rIns="57150" bIns="47625" anchor="ctr">
            <a:noAutofit/>
          </a:bodyPr>
          <a:lstStyle/>
          <a:p>
            <a:pPr algn="ctr">
              <a:defRPr sz="1350" b="1">
                <a:solidFill>
                  <a:srgbClr val="5B6B7E"/>
                </a:solidFill>
                <a:latin typeface="Nimbus Sans"/>
                <a:ea typeface="Nimbus Sans"/>
                <a:cs typeface="Nimbus Sans"/>
              </a:defRPr>
            </a:pPr>
            <a:r>
              <a:rPr lang="en-US" sz="1350" b="1" dirty="0">
                <a:solidFill>
                  <a:srgbClr val="5B6B7E"/>
                </a:solidFill>
                <a:latin typeface="Nimbus Sans"/>
                <a:ea typeface="Nimbus Sans"/>
                <a:cs typeface="Nimbus Sans"/>
              </a:rPr>
              <a:t>Delete</a:t>
            </a:r>
            <a:endParaRPr sz="1350" b="1" dirty="0">
              <a:solidFill>
                <a:srgbClr val="5B6B7E"/>
              </a:solidFill>
              <a:latin typeface="Nimbus Sans"/>
              <a:ea typeface="Nimbus Sans"/>
              <a:cs typeface="Nimbus Sans"/>
            </a:endParaRPr>
          </a:p>
        </p:txBody>
      </p:sp>
      <p:sp>
        <p:nvSpPr>
          <p:cNvPr id="61" name="TextBox 60">
            <a:extLst>
              <a:ext uri="{FF2B5EF4-FFF2-40B4-BE49-F238E27FC236}">
                <a16:creationId xmlns:a16="http://schemas.microsoft.com/office/drawing/2014/main" id="{7AEF3FA1-230E-EDEB-1F75-63896EB10097}"/>
              </a:ext>
            </a:extLst>
          </p:cNvPr>
          <p:cNvSpPr txBox="1"/>
          <p:nvPr/>
        </p:nvSpPr>
        <p:spPr>
          <a:xfrm>
            <a:off x="5743854" y="1789111"/>
            <a:ext cx="404278" cy="584775"/>
          </a:xfrm>
          <a:prstGeom prst="rect">
            <a:avLst/>
          </a:prstGeom>
          <a:noFill/>
        </p:spPr>
        <p:txBody>
          <a:bodyPr wrap="none" rtlCol="0">
            <a:spAutoFit/>
          </a:bodyPr>
          <a:lstStyle/>
          <a:p>
            <a:r>
              <a:rPr lang="en-US" sz="3200" dirty="0"/>
              <a:t>+</a:t>
            </a:r>
          </a:p>
        </p:txBody>
      </p:sp>
      <p:sp>
        <p:nvSpPr>
          <p:cNvPr id="63" name="Rectangle: Rounded Corners 62">
            <a:extLst>
              <a:ext uri="{FF2B5EF4-FFF2-40B4-BE49-F238E27FC236}">
                <a16:creationId xmlns:a16="http://schemas.microsoft.com/office/drawing/2014/main" id="{45FB7F92-00BD-7001-543F-FD56EA092FD4}"/>
              </a:ext>
            </a:extLst>
          </p:cNvPr>
          <p:cNvSpPr>
            <a:spLocks noGrp="1"/>
          </p:cNvSpPr>
          <p:nvPr/>
        </p:nvSpPr>
        <p:spPr>
          <a:xfrm>
            <a:off x="8253878" y="2970021"/>
            <a:ext cx="1027202" cy="227125"/>
          </a:xfrm>
          <a:prstGeom prst="roundRect">
            <a:avLst>
              <a:gd name="adj" fmla="val 20833"/>
            </a:avLst>
          </a:prstGeom>
          <a:solidFill>
            <a:srgbClr val="FFFFFF"/>
          </a:solidFill>
          <a:ln w="9525">
            <a:solidFill>
              <a:srgbClr val="D7DFE5"/>
            </a:solidFill>
            <a:prstDash val="solid"/>
          </a:ln>
        </p:spPr>
        <p:txBody>
          <a:bodyPr/>
          <a:lstStyle/>
          <a:p>
            <a:r>
              <a:rPr lang="en-US" sz="900" dirty="0"/>
              <a:t>$ 985.01</a:t>
            </a:r>
          </a:p>
        </p:txBody>
      </p:sp>
      <p:sp>
        <p:nvSpPr>
          <p:cNvPr id="65" name="Rectangle: Rounded Corners 64">
            <a:extLst>
              <a:ext uri="{FF2B5EF4-FFF2-40B4-BE49-F238E27FC236}">
                <a16:creationId xmlns:a16="http://schemas.microsoft.com/office/drawing/2014/main" id="{0A0035AB-274B-BEAC-17F9-C285746E8E78}"/>
              </a:ext>
            </a:extLst>
          </p:cNvPr>
          <p:cNvSpPr>
            <a:spLocks noGrp="1"/>
          </p:cNvSpPr>
          <p:nvPr/>
        </p:nvSpPr>
        <p:spPr>
          <a:xfrm>
            <a:off x="8253878" y="3239095"/>
            <a:ext cx="1027202" cy="227125"/>
          </a:xfrm>
          <a:prstGeom prst="roundRect">
            <a:avLst>
              <a:gd name="adj" fmla="val 20833"/>
            </a:avLst>
          </a:prstGeom>
          <a:solidFill>
            <a:srgbClr val="FFFFFF"/>
          </a:solidFill>
          <a:ln w="9525">
            <a:solidFill>
              <a:srgbClr val="D7DFE5"/>
            </a:solidFill>
            <a:prstDash val="solid"/>
          </a:ln>
        </p:spPr>
        <p:txBody>
          <a:bodyPr/>
          <a:lstStyle/>
          <a:p>
            <a:r>
              <a:rPr lang="en-US" sz="900" dirty="0"/>
              <a:t>49%</a:t>
            </a:r>
          </a:p>
        </p:txBody>
      </p:sp>
      <p:sp>
        <p:nvSpPr>
          <p:cNvPr id="67" name="Rectangle 66">
            <a:extLst>
              <a:ext uri="{FF2B5EF4-FFF2-40B4-BE49-F238E27FC236}">
                <a16:creationId xmlns:a16="http://schemas.microsoft.com/office/drawing/2014/main" id="{8991B8E1-6B70-7009-78BA-6189BCE2C61A}"/>
              </a:ext>
            </a:extLst>
          </p:cNvPr>
          <p:cNvSpPr>
            <a:spLocks noGrp="1"/>
          </p:cNvSpPr>
          <p:nvPr/>
        </p:nvSpPr>
        <p:spPr>
          <a:xfrm>
            <a:off x="7456729" y="3724642"/>
            <a:ext cx="701151" cy="708409"/>
          </a:xfrm>
          <a:prstGeom prst="rect">
            <a:avLst/>
          </a:prstGeom>
          <a:noFill/>
          <a:ln w="0">
            <a:noFill/>
          </a:ln>
        </p:spPr>
        <p:txBody>
          <a:bodyPr wrap="square" lIns="0" tIns="0" rIns="0" bIns="0" anchor="t">
            <a:noAutofit/>
          </a:bodyPr>
          <a:lstStyle/>
          <a:p>
            <a:pPr algn="l">
              <a:defRPr sz="900" b="1">
                <a:solidFill>
                  <a:srgbClr val="5B6B7E"/>
                </a:solidFill>
                <a:latin typeface="Nimbus Sans"/>
                <a:ea typeface="Nimbus Sans"/>
                <a:cs typeface="Nimbus Sans"/>
              </a:defRPr>
            </a:pPr>
            <a:r>
              <a:rPr sz="900" b="1" dirty="0">
                <a:solidFill>
                  <a:srgbClr val="5B6B7E"/>
                </a:solidFill>
                <a:latin typeface="Nimbus Sans"/>
                <a:ea typeface="Nimbus Sans"/>
                <a:cs typeface="Nimbus Sans"/>
              </a:rPr>
              <a:t>AMOUNT</a:t>
            </a:r>
            <a:r>
              <a:rPr lang="en-US" sz="900" b="1" dirty="0">
                <a:solidFill>
                  <a:srgbClr val="5B6B7E"/>
                </a:solidFill>
                <a:latin typeface="Nimbus Sans"/>
                <a:ea typeface="Nimbus Sans"/>
                <a:cs typeface="Nimbus Sans"/>
              </a:rPr>
              <a:t>:</a:t>
            </a:r>
          </a:p>
          <a:p>
            <a:pPr algn="l">
              <a:defRPr sz="900" b="1">
                <a:solidFill>
                  <a:srgbClr val="5B6B7E"/>
                </a:solidFill>
                <a:latin typeface="Nimbus Sans"/>
                <a:ea typeface="Nimbus Sans"/>
                <a:cs typeface="Nimbus Sans"/>
              </a:defRPr>
            </a:pPr>
            <a:endParaRPr lang="en-US" sz="900" b="1" dirty="0">
              <a:solidFill>
                <a:srgbClr val="5B6B7E"/>
              </a:solidFill>
              <a:latin typeface="Nimbus Sans"/>
              <a:ea typeface="Nimbus Sans"/>
              <a:cs typeface="Nimbus Sans"/>
            </a:endParaRPr>
          </a:p>
          <a:p>
            <a:pPr algn="l">
              <a:defRPr sz="900" b="1">
                <a:solidFill>
                  <a:srgbClr val="5B6B7E"/>
                </a:solidFill>
                <a:latin typeface="Nimbus Sans"/>
                <a:ea typeface="Nimbus Sans"/>
                <a:cs typeface="Nimbus Sans"/>
              </a:defRPr>
            </a:pPr>
            <a:r>
              <a:rPr lang="en-US" sz="900" b="1" dirty="0">
                <a:solidFill>
                  <a:srgbClr val="5B6B7E"/>
                </a:solidFill>
                <a:latin typeface="Nimbus Sans"/>
                <a:ea typeface="Nimbus Sans"/>
                <a:cs typeface="Nimbus Sans"/>
              </a:rPr>
              <a:t>SPENT:</a:t>
            </a:r>
            <a:br>
              <a:rPr lang="en-US" sz="900" b="1" dirty="0">
                <a:solidFill>
                  <a:srgbClr val="5B6B7E"/>
                </a:solidFill>
                <a:latin typeface="Nimbus Sans"/>
                <a:ea typeface="Nimbus Sans"/>
                <a:cs typeface="Nimbus Sans"/>
              </a:rPr>
            </a:br>
            <a:br>
              <a:rPr lang="en-US" sz="900" b="1" dirty="0">
                <a:solidFill>
                  <a:srgbClr val="5B6B7E"/>
                </a:solidFill>
                <a:latin typeface="Nimbus Sans"/>
                <a:ea typeface="Nimbus Sans"/>
                <a:cs typeface="Nimbus Sans"/>
              </a:rPr>
            </a:br>
            <a:r>
              <a:rPr lang="en-US" sz="900" b="1" dirty="0">
                <a:solidFill>
                  <a:srgbClr val="5B6B7E"/>
                </a:solidFill>
                <a:latin typeface="Nimbus Sans"/>
                <a:ea typeface="Nimbus Sans"/>
                <a:cs typeface="Nimbus Sans"/>
              </a:rPr>
              <a:t>PERCENTAGE:</a:t>
            </a:r>
          </a:p>
        </p:txBody>
      </p:sp>
      <p:sp>
        <p:nvSpPr>
          <p:cNvPr id="69" name="Rectangle: Rounded Corners 68">
            <a:extLst>
              <a:ext uri="{FF2B5EF4-FFF2-40B4-BE49-F238E27FC236}">
                <a16:creationId xmlns:a16="http://schemas.microsoft.com/office/drawing/2014/main" id="{057B831E-E6B0-EE2B-98D4-0758736C9337}"/>
              </a:ext>
            </a:extLst>
          </p:cNvPr>
          <p:cNvSpPr>
            <a:spLocks noGrp="1"/>
          </p:cNvSpPr>
          <p:nvPr/>
        </p:nvSpPr>
        <p:spPr>
          <a:xfrm>
            <a:off x="8253877" y="3698183"/>
            <a:ext cx="1027202" cy="227125"/>
          </a:xfrm>
          <a:prstGeom prst="roundRect">
            <a:avLst>
              <a:gd name="adj" fmla="val 20833"/>
            </a:avLst>
          </a:prstGeom>
          <a:solidFill>
            <a:srgbClr val="FFFFFF"/>
          </a:solidFill>
          <a:ln w="9525">
            <a:solidFill>
              <a:srgbClr val="D7DFE5"/>
            </a:solidFill>
            <a:prstDash val="solid"/>
          </a:ln>
        </p:spPr>
        <p:txBody>
          <a:bodyPr/>
          <a:lstStyle/>
          <a:p>
            <a:r>
              <a:rPr lang="en-US" sz="900" dirty="0"/>
              <a:t>$ 500</a:t>
            </a:r>
          </a:p>
        </p:txBody>
      </p:sp>
      <p:sp>
        <p:nvSpPr>
          <p:cNvPr id="71" name="Rectangle: Rounded Corners 70">
            <a:extLst>
              <a:ext uri="{FF2B5EF4-FFF2-40B4-BE49-F238E27FC236}">
                <a16:creationId xmlns:a16="http://schemas.microsoft.com/office/drawing/2014/main" id="{19A6E083-FE85-B676-CFD0-D0BD3B26F293}"/>
              </a:ext>
            </a:extLst>
          </p:cNvPr>
          <p:cNvSpPr>
            <a:spLocks noGrp="1"/>
          </p:cNvSpPr>
          <p:nvPr/>
        </p:nvSpPr>
        <p:spPr>
          <a:xfrm>
            <a:off x="8253877" y="3960618"/>
            <a:ext cx="1027202" cy="227125"/>
          </a:xfrm>
          <a:prstGeom prst="roundRect">
            <a:avLst>
              <a:gd name="adj" fmla="val 20833"/>
            </a:avLst>
          </a:prstGeom>
          <a:solidFill>
            <a:srgbClr val="FFFFFF"/>
          </a:solidFill>
          <a:ln w="9525">
            <a:solidFill>
              <a:srgbClr val="D7DFE5"/>
            </a:solidFill>
            <a:prstDash val="solid"/>
          </a:ln>
        </p:spPr>
        <p:txBody>
          <a:bodyPr/>
          <a:lstStyle/>
          <a:p>
            <a:r>
              <a:rPr lang="en-US" sz="900" dirty="0"/>
              <a:t>$ 154.71</a:t>
            </a:r>
          </a:p>
        </p:txBody>
      </p:sp>
      <p:sp>
        <p:nvSpPr>
          <p:cNvPr id="73" name="Rectangle: Rounded Corners 72">
            <a:extLst>
              <a:ext uri="{FF2B5EF4-FFF2-40B4-BE49-F238E27FC236}">
                <a16:creationId xmlns:a16="http://schemas.microsoft.com/office/drawing/2014/main" id="{E0E95EEF-1BFE-26A9-64DE-1AB528A8CDDA}"/>
              </a:ext>
            </a:extLst>
          </p:cNvPr>
          <p:cNvSpPr>
            <a:spLocks noGrp="1"/>
          </p:cNvSpPr>
          <p:nvPr/>
        </p:nvSpPr>
        <p:spPr>
          <a:xfrm>
            <a:off x="8253877" y="4229692"/>
            <a:ext cx="1027202" cy="227125"/>
          </a:xfrm>
          <a:prstGeom prst="roundRect">
            <a:avLst>
              <a:gd name="adj" fmla="val 20833"/>
            </a:avLst>
          </a:prstGeom>
          <a:solidFill>
            <a:srgbClr val="FFFFFF"/>
          </a:solidFill>
          <a:ln w="9525">
            <a:solidFill>
              <a:srgbClr val="D7DFE5"/>
            </a:solidFill>
            <a:prstDash val="solid"/>
          </a:ln>
        </p:spPr>
        <p:txBody>
          <a:bodyPr/>
          <a:lstStyle/>
          <a:p>
            <a:r>
              <a:rPr lang="en-US" sz="900" dirty="0"/>
              <a:t>31%</a:t>
            </a:r>
          </a:p>
        </p:txBody>
      </p:sp>
      <p:sp>
        <p:nvSpPr>
          <p:cNvPr id="75" name="Rectangle 74">
            <a:extLst>
              <a:ext uri="{FF2B5EF4-FFF2-40B4-BE49-F238E27FC236}">
                <a16:creationId xmlns:a16="http://schemas.microsoft.com/office/drawing/2014/main" id="{91F250E3-AAEF-C00C-C936-D770AC64140B}"/>
              </a:ext>
            </a:extLst>
          </p:cNvPr>
          <p:cNvSpPr>
            <a:spLocks noGrp="1"/>
          </p:cNvSpPr>
          <p:nvPr/>
        </p:nvSpPr>
        <p:spPr>
          <a:xfrm>
            <a:off x="7456730" y="4724208"/>
            <a:ext cx="701151" cy="708409"/>
          </a:xfrm>
          <a:prstGeom prst="rect">
            <a:avLst/>
          </a:prstGeom>
          <a:noFill/>
          <a:ln w="0">
            <a:noFill/>
          </a:ln>
        </p:spPr>
        <p:txBody>
          <a:bodyPr wrap="square" lIns="0" tIns="0" rIns="0" bIns="0" anchor="t">
            <a:noAutofit/>
          </a:bodyPr>
          <a:lstStyle/>
          <a:p>
            <a:pPr algn="l">
              <a:defRPr sz="900" b="1">
                <a:solidFill>
                  <a:srgbClr val="5B6B7E"/>
                </a:solidFill>
                <a:latin typeface="Nimbus Sans"/>
                <a:ea typeface="Nimbus Sans"/>
                <a:cs typeface="Nimbus Sans"/>
              </a:defRPr>
            </a:pPr>
            <a:r>
              <a:rPr sz="900" b="1" dirty="0">
                <a:solidFill>
                  <a:srgbClr val="5B6B7E"/>
                </a:solidFill>
                <a:latin typeface="Nimbus Sans"/>
                <a:ea typeface="Nimbus Sans"/>
                <a:cs typeface="Nimbus Sans"/>
              </a:rPr>
              <a:t>AMOUNT</a:t>
            </a:r>
            <a:r>
              <a:rPr lang="en-US" sz="900" b="1" dirty="0">
                <a:solidFill>
                  <a:srgbClr val="5B6B7E"/>
                </a:solidFill>
                <a:latin typeface="Nimbus Sans"/>
                <a:ea typeface="Nimbus Sans"/>
                <a:cs typeface="Nimbus Sans"/>
              </a:rPr>
              <a:t>:</a:t>
            </a:r>
          </a:p>
          <a:p>
            <a:pPr algn="l">
              <a:defRPr sz="900" b="1">
                <a:solidFill>
                  <a:srgbClr val="5B6B7E"/>
                </a:solidFill>
                <a:latin typeface="Nimbus Sans"/>
                <a:ea typeface="Nimbus Sans"/>
                <a:cs typeface="Nimbus Sans"/>
              </a:defRPr>
            </a:pPr>
            <a:endParaRPr lang="en-US" sz="900" b="1" dirty="0">
              <a:solidFill>
                <a:srgbClr val="5B6B7E"/>
              </a:solidFill>
              <a:latin typeface="Nimbus Sans"/>
              <a:ea typeface="Nimbus Sans"/>
              <a:cs typeface="Nimbus Sans"/>
            </a:endParaRPr>
          </a:p>
          <a:p>
            <a:pPr algn="l">
              <a:defRPr sz="900" b="1">
                <a:solidFill>
                  <a:srgbClr val="5B6B7E"/>
                </a:solidFill>
                <a:latin typeface="Nimbus Sans"/>
                <a:ea typeface="Nimbus Sans"/>
                <a:cs typeface="Nimbus Sans"/>
              </a:defRPr>
            </a:pPr>
            <a:r>
              <a:rPr lang="en-US" sz="900" b="1" dirty="0">
                <a:solidFill>
                  <a:srgbClr val="5B6B7E"/>
                </a:solidFill>
                <a:latin typeface="Nimbus Sans"/>
                <a:ea typeface="Nimbus Sans"/>
                <a:cs typeface="Nimbus Sans"/>
              </a:rPr>
              <a:t>SPENT:</a:t>
            </a:r>
            <a:br>
              <a:rPr lang="en-US" sz="900" b="1" dirty="0">
                <a:solidFill>
                  <a:srgbClr val="5B6B7E"/>
                </a:solidFill>
                <a:latin typeface="Nimbus Sans"/>
                <a:ea typeface="Nimbus Sans"/>
                <a:cs typeface="Nimbus Sans"/>
              </a:rPr>
            </a:br>
            <a:br>
              <a:rPr lang="en-US" sz="900" b="1" dirty="0">
                <a:solidFill>
                  <a:srgbClr val="5B6B7E"/>
                </a:solidFill>
                <a:latin typeface="Nimbus Sans"/>
                <a:ea typeface="Nimbus Sans"/>
                <a:cs typeface="Nimbus Sans"/>
              </a:rPr>
            </a:br>
            <a:r>
              <a:rPr lang="en-US" sz="900" b="1" dirty="0">
                <a:solidFill>
                  <a:srgbClr val="5B6B7E"/>
                </a:solidFill>
                <a:latin typeface="Nimbus Sans"/>
                <a:ea typeface="Nimbus Sans"/>
                <a:cs typeface="Nimbus Sans"/>
              </a:rPr>
              <a:t>PERCENTAGE:</a:t>
            </a:r>
          </a:p>
        </p:txBody>
      </p:sp>
      <p:sp>
        <p:nvSpPr>
          <p:cNvPr id="77" name="Rectangle: Rounded Corners 76">
            <a:extLst>
              <a:ext uri="{FF2B5EF4-FFF2-40B4-BE49-F238E27FC236}">
                <a16:creationId xmlns:a16="http://schemas.microsoft.com/office/drawing/2014/main" id="{DBB9D180-2C5B-8373-2A35-AA30D8AA5FB1}"/>
              </a:ext>
            </a:extLst>
          </p:cNvPr>
          <p:cNvSpPr>
            <a:spLocks noGrp="1"/>
          </p:cNvSpPr>
          <p:nvPr/>
        </p:nvSpPr>
        <p:spPr>
          <a:xfrm>
            <a:off x="8253878" y="4697749"/>
            <a:ext cx="1027202" cy="227125"/>
          </a:xfrm>
          <a:prstGeom prst="roundRect">
            <a:avLst>
              <a:gd name="adj" fmla="val 20833"/>
            </a:avLst>
          </a:prstGeom>
          <a:solidFill>
            <a:srgbClr val="FFFFFF"/>
          </a:solidFill>
          <a:ln w="9525">
            <a:solidFill>
              <a:srgbClr val="D7DFE5"/>
            </a:solidFill>
            <a:prstDash val="solid"/>
          </a:ln>
        </p:spPr>
        <p:txBody>
          <a:bodyPr/>
          <a:lstStyle/>
          <a:p>
            <a:r>
              <a:rPr lang="en-US" sz="900" dirty="0"/>
              <a:t>$ 100</a:t>
            </a:r>
          </a:p>
        </p:txBody>
      </p:sp>
      <p:sp>
        <p:nvSpPr>
          <p:cNvPr id="79" name="Rectangle: Rounded Corners 78">
            <a:extLst>
              <a:ext uri="{FF2B5EF4-FFF2-40B4-BE49-F238E27FC236}">
                <a16:creationId xmlns:a16="http://schemas.microsoft.com/office/drawing/2014/main" id="{456315BC-3A6B-89D0-138C-8A7C51930D27}"/>
              </a:ext>
            </a:extLst>
          </p:cNvPr>
          <p:cNvSpPr>
            <a:spLocks noGrp="1"/>
          </p:cNvSpPr>
          <p:nvPr/>
        </p:nvSpPr>
        <p:spPr>
          <a:xfrm>
            <a:off x="8253878" y="4960184"/>
            <a:ext cx="1027202" cy="227125"/>
          </a:xfrm>
          <a:prstGeom prst="roundRect">
            <a:avLst>
              <a:gd name="adj" fmla="val 20833"/>
            </a:avLst>
          </a:prstGeom>
          <a:solidFill>
            <a:srgbClr val="FFFFFF"/>
          </a:solidFill>
          <a:ln w="9525">
            <a:solidFill>
              <a:srgbClr val="D7DFE5"/>
            </a:solidFill>
            <a:prstDash val="solid"/>
          </a:ln>
        </p:spPr>
        <p:txBody>
          <a:bodyPr/>
          <a:lstStyle/>
          <a:p>
            <a:r>
              <a:rPr lang="en-US" sz="900" dirty="0"/>
              <a:t>$ 291.15</a:t>
            </a:r>
          </a:p>
        </p:txBody>
      </p:sp>
      <p:sp>
        <p:nvSpPr>
          <p:cNvPr id="81" name="Rectangle: Rounded Corners 80">
            <a:extLst>
              <a:ext uri="{FF2B5EF4-FFF2-40B4-BE49-F238E27FC236}">
                <a16:creationId xmlns:a16="http://schemas.microsoft.com/office/drawing/2014/main" id="{6D5DE461-7A0C-83EE-682D-A22DFCD061FB}"/>
              </a:ext>
            </a:extLst>
          </p:cNvPr>
          <p:cNvSpPr>
            <a:spLocks noGrp="1"/>
          </p:cNvSpPr>
          <p:nvPr/>
        </p:nvSpPr>
        <p:spPr>
          <a:xfrm>
            <a:off x="8253878" y="5229258"/>
            <a:ext cx="1027202" cy="227125"/>
          </a:xfrm>
          <a:prstGeom prst="roundRect">
            <a:avLst>
              <a:gd name="adj" fmla="val 20833"/>
            </a:avLst>
          </a:prstGeom>
          <a:solidFill>
            <a:srgbClr val="FFFFFF"/>
          </a:solidFill>
          <a:ln w="9525">
            <a:solidFill>
              <a:srgbClr val="D7DFE5"/>
            </a:solidFill>
            <a:prstDash val="solid"/>
          </a:ln>
        </p:spPr>
        <p:txBody>
          <a:bodyPr/>
          <a:lstStyle/>
          <a:p>
            <a:r>
              <a:rPr lang="en-US" sz="900" dirty="0"/>
              <a:t>291%</a:t>
            </a:r>
          </a:p>
        </p:txBody>
      </p:sp>
      <p:pic>
        <p:nvPicPr>
          <p:cNvPr id="6" name="Picture 5">
            <a:extLst>
              <a:ext uri="{FF2B5EF4-FFF2-40B4-BE49-F238E27FC236}">
                <a16:creationId xmlns:a16="http://schemas.microsoft.com/office/drawing/2014/main" id="{8CFDD060-A455-4519-9DF3-4509E9430D33}"/>
              </a:ext>
            </a:extLst>
          </p:cNvPr>
          <p:cNvPicPr>
            <a:picLocks noChangeAspect="1"/>
          </p:cNvPicPr>
          <p:nvPr/>
        </p:nvPicPr>
        <p:blipFill>
          <a:blip r:embed="rId2"/>
          <a:stretch>
            <a:fillRect/>
          </a:stretch>
        </p:blipFill>
        <p:spPr>
          <a:xfrm>
            <a:off x="357336" y="838913"/>
            <a:ext cx="781050" cy="47625"/>
          </a:xfrm>
          <a:prstGeom prst="rect">
            <a:avLst/>
          </a:prstGeom>
        </p:spPr>
      </p:pic>
    </p:spTree>
    <p:extLst>
      <p:ext uri="{BB962C8B-B14F-4D97-AF65-F5344CB8AC3E}">
        <p14:creationId xmlns:p14="http://schemas.microsoft.com/office/powerpoint/2010/main" val="1857513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E3B9-4D04-41C2-A18A-48358D2213F7}"/>
              </a:ext>
            </a:extLst>
          </p:cNvPr>
          <p:cNvSpPr>
            <a:spLocks noGrp="1"/>
          </p:cNvSpPr>
          <p:nvPr>
            <p:ph type="title" idx="4294967295"/>
          </p:nvPr>
        </p:nvSpPr>
        <p:spPr>
          <a:xfrm>
            <a:off x="996156" y="119346"/>
            <a:ext cx="10515600" cy="811914"/>
          </a:xfrm>
        </p:spPr>
        <p:txBody>
          <a:bodyPr/>
          <a:lstStyle/>
          <a:p>
            <a:r>
              <a:rPr lang="en-US" dirty="0">
                <a:solidFill>
                  <a:schemeClr val="bg1"/>
                </a:solidFill>
              </a:rPr>
              <a:t>Recurring Expenses</a:t>
            </a:r>
          </a:p>
        </p:txBody>
      </p:sp>
      <p:sp>
        <p:nvSpPr>
          <p:cNvPr id="3" name="Content Placeholder 2">
            <a:extLst>
              <a:ext uri="{FF2B5EF4-FFF2-40B4-BE49-F238E27FC236}">
                <a16:creationId xmlns:a16="http://schemas.microsoft.com/office/drawing/2014/main" id="{CD2A199E-D9F9-3969-447A-CD7E00E06495}"/>
              </a:ext>
            </a:extLst>
          </p:cNvPr>
          <p:cNvSpPr>
            <a:spLocks noGrp="1"/>
          </p:cNvSpPr>
          <p:nvPr>
            <p:ph idx="4294967295"/>
          </p:nvPr>
        </p:nvSpPr>
        <p:spPr>
          <a:xfrm>
            <a:off x="507082" y="1502616"/>
            <a:ext cx="4832350" cy="4351338"/>
          </a:xfrm>
        </p:spPr>
        <p:txBody>
          <a:bodyPr/>
          <a:lstStyle/>
          <a:p>
            <a:r>
              <a:rPr lang="en-US" dirty="0">
                <a:latin typeface="Nimbus Sans"/>
              </a:rPr>
              <a:t>Expense name</a:t>
            </a:r>
          </a:p>
          <a:p>
            <a:r>
              <a:rPr lang="en-US" dirty="0">
                <a:latin typeface="Nimbus Sans"/>
              </a:rPr>
              <a:t>Expense amount</a:t>
            </a:r>
          </a:p>
          <a:p>
            <a:r>
              <a:rPr lang="en-US" dirty="0">
                <a:latin typeface="Nimbus Sans"/>
              </a:rPr>
              <a:t>Expense frequency (weekly, monthly, annual)</a:t>
            </a:r>
          </a:p>
          <a:p>
            <a:r>
              <a:rPr lang="en-US" dirty="0">
                <a:latin typeface="Nimbus Sans"/>
              </a:rPr>
              <a:t>Expense category</a:t>
            </a:r>
          </a:p>
          <a:p>
            <a:r>
              <a:rPr lang="en-US" dirty="0">
                <a:latin typeface="Nimbus Sans"/>
              </a:rPr>
              <a:t>Start date</a:t>
            </a:r>
          </a:p>
        </p:txBody>
      </p:sp>
      <p:sp>
        <p:nvSpPr>
          <p:cNvPr id="5" name="Rectangle: Rounded Corners 4">
            <a:extLst>
              <a:ext uri="{FF2B5EF4-FFF2-40B4-BE49-F238E27FC236}">
                <a16:creationId xmlns:a16="http://schemas.microsoft.com/office/drawing/2014/main" id="{9472E30A-ABDB-1892-62A9-F7A1789DD5EA}"/>
              </a:ext>
            </a:extLst>
          </p:cNvPr>
          <p:cNvSpPr>
            <a:spLocks noGrp="1"/>
          </p:cNvSpPr>
          <p:nvPr/>
        </p:nvSpPr>
        <p:spPr>
          <a:xfrm>
            <a:off x="5570668" y="1337804"/>
            <a:ext cx="6191250" cy="4516150"/>
          </a:xfrm>
          <a:prstGeom prst="roundRect">
            <a:avLst>
              <a:gd name="adj" fmla="val 4525"/>
            </a:avLst>
          </a:prstGeom>
          <a:solidFill>
            <a:srgbClr val="FFFFFF"/>
          </a:solidFill>
          <a:ln w="9525">
            <a:solidFill>
              <a:srgbClr val="D7DFE5"/>
            </a:solidFill>
            <a:prstDash val="solid"/>
          </a:ln>
        </p:spPr>
        <p:style>
          <a:lnRef idx="0">
            <a:scrgbClr r="0" g="0" b="0"/>
          </a:lnRef>
          <a:fillRef idx="0">
            <a:scrgbClr r="0" g="0" b="0"/>
          </a:fillRef>
          <a:effectRef idx="4">
            <a:scrgbClr r="0" g="0" b="0"/>
          </a:effectRef>
          <a:fontRef idx="major"/>
        </p:style>
        <p:txBody>
          <a:bodyPr/>
          <a:lstStyle/>
          <a:p>
            <a:endParaRPr lang="en-US" dirty="0"/>
          </a:p>
          <a:p>
            <a:endParaRPr lang="en-US" dirty="0"/>
          </a:p>
        </p:txBody>
      </p:sp>
      <p:sp>
        <p:nvSpPr>
          <p:cNvPr id="7" name="Rectangle 6">
            <a:extLst>
              <a:ext uri="{FF2B5EF4-FFF2-40B4-BE49-F238E27FC236}">
                <a16:creationId xmlns:a16="http://schemas.microsoft.com/office/drawing/2014/main" id="{10ACF384-3C36-432A-D02C-3813935E1BA6}"/>
              </a:ext>
            </a:extLst>
          </p:cNvPr>
          <p:cNvSpPr>
            <a:spLocks noGrp="1"/>
          </p:cNvSpPr>
          <p:nvPr/>
        </p:nvSpPr>
        <p:spPr>
          <a:xfrm>
            <a:off x="5837367" y="1622946"/>
            <a:ext cx="3145267" cy="507049"/>
          </a:xfrm>
          <a:prstGeom prst="rect">
            <a:avLst/>
          </a:prstGeom>
          <a:noFill/>
          <a:ln w="0">
            <a:noFill/>
          </a:ln>
        </p:spPr>
        <p:txBody>
          <a:bodyPr wrap="square" lIns="0" tIns="0" rIns="0" bIns="0" anchor="t">
            <a:noAutofit/>
          </a:bodyPr>
          <a:lstStyle/>
          <a:p>
            <a:pPr algn="l">
              <a:defRPr sz="2175" b="1">
                <a:solidFill>
                  <a:srgbClr val="102A43"/>
                </a:solidFill>
                <a:latin typeface="Nimbus Sans"/>
                <a:ea typeface="Nimbus Sans"/>
                <a:cs typeface="Nimbus Sans"/>
              </a:defRPr>
            </a:pPr>
            <a:r>
              <a:rPr lang="en-US" sz="2175" b="1" dirty="0">
                <a:solidFill>
                  <a:srgbClr val="102A43"/>
                </a:solidFill>
                <a:latin typeface="Nimbus Sans"/>
                <a:ea typeface="Nimbus Sans"/>
                <a:cs typeface="Nimbus Sans"/>
              </a:rPr>
              <a:t>Create Recurring Expense</a:t>
            </a:r>
            <a:endParaRPr sz="2175" b="1" dirty="0">
              <a:solidFill>
                <a:srgbClr val="102A43"/>
              </a:solidFill>
              <a:latin typeface="Nimbus Sans"/>
              <a:ea typeface="Nimbus Sans"/>
              <a:cs typeface="Nimbus Sans"/>
            </a:endParaRPr>
          </a:p>
        </p:txBody>
      </p:sp>
      <p:sp>
        <p:nvSpPr>
          <p:cNvPr id="9" name="Rectangle 8">
            <a:extLst>
              <a:ext uri="{FF2B5EF4-FFF2-40B4-BE49-F238E27FC236}">
                <a16:creationId xmlns:a16="http://schemas.microsoft.com/office/drawing/2014/main" id="{9D7E3D11-F7B5-C496-AEFA-511E4C837C94}"/>
              </a:ext>
            </a:extLst>
          </p:cNvPr>
          <p:cNvSpPr>
            <a:spLocks noGrp="1"/>
          </p:cNvSpPr>
          <p:nvPr/>
        </p:nvSpPr>
        <p:spPr>
          <a:xfrm>
            <a:off x="5837368" y="2290231"/>
            <a:ext cx="2571750" cy="265597"/>
          </a:xfrm>
          <a:prstGeom prst="rect">
            <a:avLst/>
          </a:prstGeom>
          <a:noFill/>
          <a:ln w="0">
            <a:noFill/>
          </a:ln>
        </p:spPr>
        <p:txBody>
          <a:bodyPr wrap="square" lIns="0" tIns="0" rIns="0" bIns="0" anchor="t">
            <a:noAutofit/>
          </a:bodyPr>
          <a:lstStyle/>
          <a:p>
            <a:pPr algn="l">
              <a:defRPr sz="900" b="1">
                <a:solidFill>
                  <a:srgbClr val="5B6B7E"/>
                </a:solidFill>
                <a:latin typeface="Nimbus Sans"/>
                <a:ea typeface="Nimbus Sans"/>
                <a:cs typeface="Nimbus Sans"/>
              </a:defRPr>
            </a:pPr>
            <a:r>
              <a:rPr lang="en-US" sz="900" b="1" dirty="0">
                <a:solidFill>
                  <a:srgbClr val="5B6B7E"/>
                </a:solidFill>
                <a:latin typeface="Nimbus Sans"/>
                <a:ea typeface="Nimbus Sans"/>
                <a:cs typeface="Nimbus Sans"/>
              </a:rPr>
              <a:t>EXPENSE NAME</a:t>
            </a:r>
            <a:endParaRPr sz="900" b="1" dirty="0">
              <a:solidFill>
                <a:srgbClr val="5B6B7E"/>
              </a:solidFill>
              <a:latin typeface="Nimbus Sans"/>
              <a:ea typeface="Nimbus Sans"/>
              <a:cs typeface="Nimbus Sans"/>
            </a:endParaRPr>
          </a:p>
        </p:txBody>
      </p:sp>
      <p:sp>
        <p:nvSpPr>
          <p:cNvPr id="11" name="Rectangle: Rounded Corners 10">
            <a:extLst>
              <a:ext uri="{FF2B5EF4-FFF2-40B4-BE49-F238E27FC236}">
                <a16:creationId xmlns:a16="http://schemas.microsoft.com/office/drawing/2014/main" id="{4FB3A489-8E8C-A97B-F239-4DAE47950D59}"/>
              </a:ext>
            </a:extLst>
          </p:cNvPr>
          <p:cNvSpPr>
            <a:spLocks noGrp="1"/>
          </p:cNvSpPr>
          <p:nvPr/>
        </p:nvSpPr>
        <p:spPr>
          <a:xfrm>
            <a:off x="5837368" y="2575902"/>
            <a:ext cx="2571750" cy="579484"/>
          </a:xfrm>
          <a:prstGeom prst="roundRect">
            <a:avLst>
              <a:gd name="adj" fmla="val 20833"/>
            </a:avLst>
          </a:prstGeom>
          <a:solidFill>
            <a:srgbClr val="FFFFFF"/>
          </a:solidFill>
          <a:ln w="9525">
            <a:solidFill>
              <a:srgbClr val="D7DFE5"/>
            </a:solidFill>
            <a:prstDash val="solid"/>
          </a:ln>
        </p:spPr>
        <p:txBody>
          <a:bodyPr/>
          <a:lstStyle/>
          <a:p>
            <a:endParaRPr lang="en-US" dirty="0"/>
          </a:p>
        </p:txBody>
      </p:sp>
      <p:sp>
        <p:nvSpPr>
          <p:cNvPr id="13" name="Rectangle 12">
            <a:extLst>
              <a:ext uri="{FF2B5EF4-FFF2-40B4-BE49-F238E27FC236}">
                <a16:creationId xmlns:a16="http://schemas.microsoft.com/office/drawing/2014/main" id="{CA21CD07-CDA0-3802-F71F-DEC7D5EE7DFE}"/>
              </a:ext>
            </a:extLst>
          </p:cNvPr>
          <p:cNvSpPr>
            <a:spLocks noGrp="1"/>
          </p:cNvSpPr>
          <p:nvPr/>
        </p:nvSpPr>
        <p:spPr>
          <a:xfrm>
            <a:off x="5932618" y="2702622"/>
            <a:ext cx="2381250" cy="338032"/>
          </a:xfrm>
          <a:prstGeom prst="rect">
            <a:avLst/>
          </a:prstGeom>
          <a:noFill/>
          <a:ln w="0">
            <a:noFill/>
          </a:ln>
        </p:spPr>
        <p:txBody>
          <a:bodyPr wrap="square" lIns="0" tIns="0" rIns="0" bIns="0" anchor="ctr">
            <a:noAutofit/>
          </a:bodyPr>
          <a:lstStyle/>
          <a:p>
            <a:pPr algn="l">
              <a:defRPr sz="1350" b="0">
                <a:solidFill>
                  <a:srgbClr val="132238"/>
                </a:solidFill>
                <a:latin typeface="Nimbus Sans"/>
                <a:ea typeface="Nimbus Sans"/>
                <a:cs typeface="Nimbus Sans"/>
              </a:defRPr>
            </a:pPr>
            <a:r>
              <a:rPr lang="en-US" sz="1350" b="0" dirty="0">
                <a:solidFill>
                  <a:srgbClr val="132238"/>
                </a:solidFill>
                <a:latin typeface="Nimbus Sans"/>
                <a:ea typeface="Nimbus Sans"/>
                <a:cs typeface="Nimbus Sans"/>
              </a:rPr>
              <a:t>Netflix</a:t>
            </a:r>
            <a:endParaRPr sz="1350" b="0" dirty="0">
              <a:solidFill>
                <a:srgbClr val="132238"/>
              </a:solidFill>
              <a:latin typeface="Nimbus Sans"/>
              <a:ea typeface="Nimbus Sans"/>
              <a:cs typeface="Nimbus Sans"/>
            </a:endParaRPr>
          </a:p>
        </p:txBody>
      </p:sp>
      <p:sp>
        <p:nvSpPr>
          <p:cNvPr id="15" name="Rectangle 14">
            <a:extLst>
              <a:ext uri="{FF2B5EF4-FFF2-40B4-BE49-F238E27FC236}">
                <a16:creationId xmlns:a16="http://schemas.microsoft.com/office/drawing/2014/main" id="{62B7CF39-3C00-ACEB-3038-B5A13253B4D4}"/>
              </a:ext>
            </a:extLst>
          </p:cNvPr>
          <p:cNvSpPr>
            <a:spLocks noGrp="1"/>
          </p:cNvSpPr>
          <p:nvPr/>
        </p:nvSpPr>
        <p:spPr>
          <a:xfrm>
            <a:off x="5837368" y="2575902"/>
            <a:ext cx="47625" cy="579484"/>
          </a:xfrm>
          <a:prstGeom prst="rect">
            <a:avLst/>
          </a:prstGeom>
          <a:solidFill>
            <a:srgbClr val="0F766E"/>
          </a:solidFill>
          <a:ln w="0">
            <a:noFill/>
          </a:ln>
        </p:spPr>
        <p:txBody>
          <a:bodyPr/>
          <a:lstStyle/>
          <a:p>
            <a:endParaRPr lang="en-US"/>
          </a:p>
        </p:txBody>
      </p:sp>
      <p:sp>
        <p:nvSpPr>
          <p:cNvPr id="17" name="Rectangle 16">
            <a:extLst>
              <a:ext uri="{FF2B5EF4-FFF2-40B4-BE49-F238E27FC236}">
                <a16:creationId xmlns:a16="http://schemas.microsoft.com/office/drawing/2014/main" id="{1C85C0BE-4CE9-73E3-14F3-FA5C29B642E3}"/>
              </a:ext>
            </a:extLst>
          </p:cNvPr>
          <p:cNvSpPr>
            <a:spLocks noGrp="1"/>
          </p:cNvSpPr>
          <p:nvPr/>
        </p:nvSpPr>
        <p:spPr>
          <a:xfrm>
            <a:off x="8637717" y="2290231"/>
            <a:ext cx="2571750" cy="265597"/>
          </a:xfrm>
          <a:prstGeom prst="rect">
            <a:avLst/>
          </a:prstGeom>
          <a:noFill/>
          <a:ln w="0">
            <a:noFill/>
          </a:ln>
        </p:spPr>
        <p:txBody>
          <a:bodyPr wrap="square" lIns="0" tIns="0" rIns="0" bIns="0" anchor="t">
            <a:noAutofit/>
          </a:bodyPr>
          <a:lstStyle/>
          <a:p>
            <a:pPr algn="l">
              <a:defRPr sz="900" b="1">
                <a:solidFill>
                  <a:srgbClr val="5B6B7E"/>
                </a:solidFill>
                <a:latin typeface="Nimbus Sans"/>
                <a:ea typeface="Nimbus Sans"/>
                <a:cs typeface="Nimbus Sans"/>
              </a:defRPr>
            </a:pPr>
            <a:r>
              <a:rPr lang="en-US" sz="900" b="1" dirty="0">
                <a:solidFill>
                  <a:srgbClr val="5B6B7E"/>
                </a:solidFill>
                <a:latin typeface="Nimbus Sans"/>
                <a:ea typeface="Nimbus Sans"/>
                <a:cs typeface="Nimbus Sans"/>
              </a:rPr>
              <a:t>AMOUNT</a:t>
            </a:r>
            <a:endParaRPr sz="900" b="1" dirty="0">
              <a:solidFill>
                <a:srgbClr val="5B6B7E"/>
              </a:solidFill>
              <a:latin typeface="Nimbus Sans"/>
              <a:ea typeface="Nimbus Sans"/>
              <a:cs typeface="Nimbus Sans"/>
            </a:endParaRPr>
          </a:p>
        </p:txBody>
      </p:sp>
      <p:sp>
        <p:nvSpPr>
          <p:cNvPr id="19" name="Rectangle: Rounded Corners 18">
            <a:extLst>
              <a:ext uri="{FF2B5EF4-FFF2-40B4-BE49-F238E27FC236}">
                <a16:creationId xmlns:a16="http://schemas.microsoft.com/office/drawing/2014/main" id="{52C6DCF8-0C51-2134-2849-31E469FC6C0F}"/>
              </a:ext>
            </a:extLst>
          </p:cNvPr>
          <p:cNvSpPr>
            <a:spLocks noGrp="1"/>
          </p:cNvSpPr>
          <p:nvPr/>
        </p:nvSpPr>
        <p:spPr>
          <a:xfrm>
            <a:off x="8637717" y="2575902"/>
            <a:ext cx="2571750" cy="579484"/>
          </a:xfrm>
          <a:prstGeom prst="roundRect">
            <a:avLst>
              <a:gd name="adj" fmla="val 20833"/>
            </a:avLst>
          </a:prstGeom>
          <a:solidFill>
            <a:srgbClr val="FFFFFF"/>
          </a:solidFill>
          <a:ln w="9525">
            <a:solidFill>
              <a:srgbClr val="D7DFE5"/>
            </a:solidFill>
            <a:prstDash val="solid"/>
          </a:ln>
        </p:spPr>
        <p:txBody>
          <a:bodyPr/>
          <a:lstStyle/>
          <a:p>
            <a:endParaRPr lang="en-US"/>
          </a:p>
        </p:txBody>
      </p:sp>
      <p:sp>
        <p:nvSpPr>
          <p:cNvPr id="21" name="Rectangle 20">
            <a:extLst>
              <a:ext uri="{FF2B5EF4-FFF2-40B4-BE49-F238E27FC236}">
                <a16:creationId xmlns:a16="http://schemas.microsoft.com/office/drawing/2014/main" id="{DB338384-35A0-154D-AEEB-45CA84A17C16}"/>
              </a:ext>
            </a:extLst>
          </p:cNvPr>
          <p:cNvSpPr>
            <a:spLocks noGrp="1"/>
          </p:cNvSpPr>
          <p:nvPr/>
        </p:nvSpPr>
        <p:spPr>
          <a:xfrm>
            <a:off x="8732967" y="2671152"/>
            <a:ext cx="2381250" cy="338032"/>
          </a:xfrm>
          <a:prstGeom prst="rect">
            <a:avLst/>
          </a:prstGeom>
          <a:noFill/>
          <a:ln w="0">
            <a:noFill/>
          </a:ln>
        </p:spPr>
        <p:txBody>
          <a:bodyPr wrap="square" lIns="0" tIns="0" rIns="0" bIns="0" anchor="ctr">
            <a:noAutofit/>
          </a:bodyPr>
          <a:lstStyle/>
          <a:p>
            <a:pPr algn="l">
              <a:defRPr sz="1350" b="0">
                <a:solidFill>
                  <a:srgbClr val="132238"/>
                </a:solidFill>
                <a:latin typeface="Nimbus Sans"/>
                <a:ea typeface="Nimbus Sans"/>
                <a:cs typeface="Nimbus Sans"/>
              </a:defRPr>
            </a:pPr>
            <a:r>
              <a:rPr lang="en-US" sz="1350" dirty="0">
                <a:solidFill>
                  <a:srgbClr val="132238"/>
                </a:solidFill>
                <a:latin typeface="Nimbus Sans"/>
                <a:ea typeface="Nimbus Sans"/>
                <a:cs typeface="Nimbus Sans"/>
              </a:rPr>
              <a:t>$26.99</a:t>
            </a:r>
            <a:endParaRPr sz="1350" b="0" dirty="0">
              <a:solidFill>
                <a:srgbClr val="132238"/>
              </a:solidFill>
              <a:latin typeface="Nimbus Sans"/>
              <a:ea typeface="Nimbus Sans"/>
              <a:cs typeface="Nimbus Sans"/>
            </a:endParaRPr>
          </a:p>
        </p:txBody>
      </p:sp>
      <p:sp>
        <p:nvSpPr>
          <p:cNvPr id="23" name="Rectangle 22">
            <a:extLst>
              <a:ext uri="{FF2B5EF4-FFF2-40B4-BE49-F238E27FC236}">
                <a16:creationId xmlns:a16="http://schemas.microsoft.com/office/drawing/2014/main" id="{B07F8962-B7E1-223F-1247-5B8FA37D7BB8}"/>
              </a:ext>
            </a:extLst>
          </p:cNvPr>
          <p:cNvSpPr>
            <a:spLocks noGrp="1"/>
          </p:cNvSpPr>
          <p:nvPr/>
        </p:nvSpPr>
        <p:spPr>
          <a:xfrm>
            <a:off x="8637717" y="2575902"/>
            <a:ext cx="47625" cy="579484"/>
          </a:xfrm>
          <a:prstGeom prst="rect">
            <a:avLst/>
          </a:prstGeom>
          <a:solidFill>
            <a:srgbClr val="0F766E"/>
          </a:solidFill>
          <a:ln w="0">
            <a:noFill/>
          </a:ln>
        </p:spPr>
        <p:txBody>
          <a:bodyPr/>
          <a:lstStyle/>
          <a:p>
            <a:endParaRPr lang="en-US"/>
          </a:p>
        </p:txBody>
      </p:sp>
      <p:sp>
        <p:nvSpPr>
          <p:cNvPr id="25" name="Rectangle 24">
            <a:extLst>
              <a:ext uri="{FF2B5EF4-FFF2-40B4-BE49-F238E27FC236}">
                <a16:creationId xmlns:a16="http://schemas.microsoft.com/office/drawing/2014/main" id="{01BD6259-C1C3-E06E-671C-E6C492B2F606}"/>
              </a:ext>
            </a:extLst>
          </p:cNvPr>
          <p:cNvSpPr>
            <a:spLocks noGrp="1"/>
          </p:cNvSpPr>
          <p:nvPr/>
        </p:nvSpPr>
        <p:spPr>
          <a:xfrm>
            <a:off x="5837368" y="3294173"/>
            <a:ext cx="2571750" cy="265597"/>
          </a:xfrm>
          <a:prstGeom prst="rect">
            <a:avLst/>
          </a:prstGeom>
          <a:noFill/>
          <a:ln w="0">
            <a:noFill/>
          </a:ln>
        </p:spPr>
        <p:txBody>
          <a:bodyPr wrap="square" lIns="0" tIns="0" rIns="0" bIns="0" anchor="t">
            <a:noAutofit/>
          </a:bodyPr>
          <a:lstStyle/>
          <a:p>
            <a:pPr algn="l">
              <a:defRPr sz="900" b="1">
                <a:solidFill>
                  <a:srgbClr val="5B6B7E"/>
                </a:solidFill>
                <a:latin typeface="Nimbus Sans"/>
                <a:ea typeface="Nimbus Sans"/>
                <a:cs typeface="Nimbus Sans"/>
              </a:defRPr>
            </a:pPr>
            <a:r>
              <a:rPr lang="en-US" sz="900" b="1" dirty="0">
                <a:solidFill>
                  <a:srgbClr val="5B6B7E"/>
                </a:solidFill>
                <a:latin typeface="Nimbus Sans"/>
                <a:ea typeface="Nimbus Sans"/>
                <a:cs typeface="Nimbus Sans"/>
              </a:rPr>
              <a:t>FREQUENCY</a:t>
            </a:r>
            <a:endParaRPr sz="900" b="1" dirty="0">
              <a:solidFill>
                <a:srgbClr val="5B6B7E"/>
              </a:solidFill>
              <a:latin typeface="Nimbus Sans"/>
              <a:ea typeface="Nimbus Sans"/>
              <a:cs typeface="Nimbus Sans"/>
            </a:endParaRPr>
          </a:p>
        </p:txBody>
      </p:sp>
      <p:sp>
        <p:nvSpPr>
          <p:cNvPr id="27" name="Rectangle: Rounded Corners 26">
            <a:extLst>
              <a:ext uri="{FF2B5EF4-FFF2-40B4-BE49-F238E27FC236}">
                <a16:creationId xmlns:a16="http://schemas.microsoft.com/office/drawing/2014/main" id="{33AE87AD-F665-2A8D-FD22-263682403817}"/>
              </a:ext>
            </a:extLst>
          </p:cNvPr>
          <p:cNvSpPr>
            <a:spLocks noGrp="1"/>
          </p:cNvSpPr>
          <p:nvPr/>
        </p:nvSpPr>
        <p:spPr>
          <a:xfrm>
            <a:off x="5837368" y="3552751"/>
            <a:ext cx="2571750" cy="579484"/>
          </a:xfrm>
          <a:prstGeom prst="roundRect">
            <a:avLst>
              <a:gd name="adj" fmla="val 20833"/>
            </a:avLst>
          </a:prstGeom>
          <a:solidFill>
            <a:srgbClr val="FFFFFF"/>
          </a:solidFill>
          <a:ln w="9525">
            <a:solidFill>
              <a:srgbClr val="D7DFE5"/>
            </a:solidFill>
            <a:prstDash val="solid"/>
          </a:ln>
        </p:spPr>
        <p:txBody>
          <a:bodyPr/>
          <a:lstStyle/>
          <a:p>
            <a:endParaRPr lang="en-US"/>
          </a:p>
        </p:txBody>
      </p:sp>
      <p:sp>
        <p:nvSpPr>
          <p:cNvPr id="29" name="Rectangle 28">
            <a:extLst>
              <a:ext uri="{FF2B5EF4-FFF2-40B4-BE49-F238E27FC236}">
                <a16:creationId xmlns:a16="http://schemas.microsoft.com/office/drawing/2014/main" id="{9055B0D4-40A5-AC60-3749-ECE3C587AAD2}"/>
              </a:ext>
            </a:extLst>
          </p:cNvPr>
          <p:cNvSpPr>
            <a:spLocks noGrp="1"/>
          </p:cNvSpPr>
          <p:nvPr/>
        </p:nvSpPr>
        <p:spPr>
          <a:xfrm>
            <a:off x="5932618" y="3675918"/>
            <a:ext cx="2381250" cy="338032"/>
          </a:xfrm>
          <a:prstGeom prst="rect">
            <a:avLst/>
          </a:prstGeom>
          <a:noFill/>
          <a:ln w="0">
            <a:noFill/>
          </a:ln>
        </p:spPr>
        <p:txBody>
          <a:bodyPr wrap="square" lIns="0" tIns="0" rIns="0" bIns="0" anchor="ctr">
            <a:noAutofit/>
          </a:bodyPr>
          <a:lstStyle/>
          <a:p>
            <a:pPr algn="l">
              <a:defRPr sz="1350" b="0">
                <a:solidFill>
                  <a:srgbClr val="132238"/>
                </a:solidFill>
                <a:latin typeface="Nimbus Sans"/>
                <a:ea typeface="Nimbus Sans"/>
                <a:cs typeface="Nimbus Sans"/>
              </a:defRPr>
            </a:pPr>
            <a:r>
              <a:rPr lang="en-US" sz="1350" b="0" dirty="0">
                <a:solidFill>
                  <a:srgbClr val="132238"/>
                </a:solidFill>
                <a:latin typeface="Nimbus Sans"/>
                <a:ea typeface="Nimbus Sans"/>
                <a:cs typeface="Nimbus Sans"/>
              </a:rPr>
              <a:t>Month</a:t>
            </a:r>
            <a:r>
              <a:rPr lang="en-US" sz="1350" dirty="0">
                <a:solidFill>
                  <a:srgbClr val="132238"/>
                </a:solidFill>
                <a:latin typeface="Nimbus Sans"/>
                <a:ea typeface="Nimbus Sans"/>
                <a:cs typeface="Nimbus Sans"/>
              </a:rPr>
              <a:t>ly</a:t>
            </a:r>
            <a:endParaRPr sz="1350" b="0" dirty="0">
              <a:solidFill>
                <a:srgbClr val="132238"/>
              </a:solidFill>
              <a:latin typeface="Nimbus Sans"/>
              <a:ea typeface="Nimbus Sans"/>
              <a:cs typeface="Nimbus Sans"/>
            </a:endParaRPr>
          </a:p>
        </p:txBody>
      </p:sp>
      <p:sp>
        <p:nvSpPr>
          <p:cNvPr id="31" name="Rectangle 30">
            <a:extLst>
              <a:ext uri="{FF2B5EF4-FFF2-40B4-BE49-F238E27FC236}">
                <a16:creationId xmlns:a16="http://schemas.microsoft.com/office/drawing/2014/main" id="{9CBB61D2-3EA6-B0AC-644C-9BFE8CDEDBAB}"/>
              </a:ext>
            </a:extLst>
          </p:cNvPr>
          <p:cNvSpPr>
            <a:spLocks noGrp="1"/>
          </p:cNvSpPr>
          <p:nvPr/>
        </p:nvSpPr>
        <p:spPr>
          <a:xfrm>
            <a:off x="5837368" y="3555350"/>
            <a:ext cx="47625" cy="579484"/>
          </a:xfrm>
          <a:prstGeom prst="rect">
            <a:avLst/>
          </a:prstGeom>
          <a:solidFill>
            <a:srgbClr val="0F766E"/>
          </a:solidFill>
          <a:ln w="0">
            <a:noFill/>
          </a:ln>
        </p:spPr>
        <p:txBody>
          <a:bodyPr/>
          <a:lstStyle/>
          <a:p>
            <a:endParaRPr lang="en-US"/>
          </a:p>
        </p:txBody>
      </p:sp>
      <p:sp>
        <p:nvSpPr>
          <p:cNvPr id="33" name="Rectangle 32">
            <a:extLst>
              <a:ext uri="{FF2B5EF4-FFF2-40B4-BE49-F238E27FC236}">
                <a16:creationId xmlns:a16="http://schemas.microsoft.com/office/drawing/2014/main" id="{41EF756D-85DA-7873-A55D-9A36BD698EA8}"/>
              </a:ext>
            </a:extLst>
          </p:cNvPr>
          <p:cNvSpPr>
            <a:spLocks noGrp="1"/>
          </p:cNvSpPr>
          <p:nvPr/>
        </p:nvSpPr>
        <p:spPr>
          <a:xfrm>
            <a:off x="8732968" y="3786188"/>
            <a:ext cx="2381250" cy="338032"/>
          </a:xfrm>
          <a:prstGeom prst="rect">
            <a:avLst/>
          </a:prstGeom>
          <a:noFill/>
          <a:ln w="0">
            <a:noFill/>
          </a:ln>
        </p:spPr>
        <p:txBody>
          <a:bodyPr wrap="square" lIns="0" tIns="0" rIns="0" bIns="0" anchor="ctr">
            <a:noAutofit/>
          </a:bodyPr>
          <a:lstStyle/>
          <a:p>
            <a:pPr algn="l">
              <a:defRPr sz="1350" b="0">
                <a:solidFill>
                  <a:srgbClr val="132238"/>
                </a:solidFill>
                <a:latin typeface="Nimbus Sans"/>
                <a:ea typeface="Nimbus Sans"/>
                <a:cs typeface="Nimbus Sans"/>
              </a:defRPr>
            </a:pPr>
            <a:endParaRPr sz="1350" b="0" dirty="0">
              <a:solidFill>
                <a:srgbClr val="132238"/>
              </a:solidFill>
              <a:latin typeface="Nimbus Sans"/>
              <a:ea typeface="Nimbus Sans"/>
              <a:cs typeface="Nimbus Sans"/>
            </a:endParaRPr>
          </a:p>
        </p:txBody>
      </p:sp>
      <p:sp>
        <p:nvSpPr>
          <p:cNvPr id="35" name="Rectangle: Rounded Corners 34">
            <a:extLst>
              <a:ext uri="{FF2B5EF4-FFF2-40B4-BE49-F238E27FC236}">
                <a16:creationId xmlns:a16="http://schemas.microsoft.com/office/drawing/2014/main" id="{C26DB9C7-8EC3-0C3F-E734-D3FC1F5A3DB4}"/>
              </a:ext>
            </a:extLst>
          </p:cNvPr>
          <p:cNvSpPr>
            <a:spLocks noGrp="1"/>
          </p:cNvSpPr>
          <p:nvPr/>
        </p:nvSpPr>
        <p:spPr>
          <a:xfrm>
            <a:off x="8685342" y="4620454"/>
            <a:ext cx="1143000" cy="603629"/>
          </a:xfrm>
          <a:prstGeom prst="roundRect">
            <a:avLst>
              <a:gd name="adj" fmla="val 24000"/>
            </a:avLst>
          </a:prstGeom>
          <a:solidFill>
            <a:srgbClr val="EDF1F4"/>
          </a:solidFill>
          <a:ln w="0">
            <a:noFill/>
          </a:ln>
        </p:spPr>
        <p:txBody>
          <a:bodyPr wrap="square" lIns="57150" tIns="47625" rIns="57150" bIns="47625" anchor="ctr">
            <a:noAutofit/>
          </a:bodyPr>
          <a:lstStyle/>
          <a:p>
            <a:pPr algn="ctr">
              <a:defRPr sz="1350" b="1">
                <a:solidFill>
                  <a:srgbClr val="5B6B7E"/>
                </a:solidFill>
                <a:latin typeface="Nimbus Sans"/>
                <a:ea typeface="Nimbus Sans"/>
                <a:cs typeface="Nimbus Sans"/>
              </a:defRPr>
            </a:pPr>
            <a:r>
              <a:rPr sz="1350" b="1" dirty="0">
                <a:solidFill>
                  <a:srgbClr val="5B6B7E"/>
                </a:solidFill>
                <a:latin typeface="Nimbus Sans"/>
                <a:ea typeface="Nimbus Sans"/>
                <a:cs typeface="Nimbus Sans"/>
              </a:rPr>
              <a:t>Cancel</a:t>
            </a:r>
          </a:p>
        </p:txBody>
      </p:sp>
      <p:sp>
        <p:nvSpPr>
          <p:cNvPr id="37" name="Rectangle: Rounded Corners 36">
            <a:extLst>
              <a:ext uri="{FF2B5EF4-FFF2-40B4-BE49-F238E27FC236}">
                <a16:creationId xmlns:a16="http://schemas.microsoft.com/office/drawing/2014/main" id="{DA571CFA-CF1C-3670-67F3-DFF82EF7D7ED}"/>
              </a:ext>
            </a:extLst>
          </p:cNvPr>
          <p:cNvSpPr>
            <a:spLocks noGrp="1"/>
          </p:cNvSpPr>
          <p:nvPr/>
        </p:nvSpPr>
        <p:spPr>
          <a:xfrm>
            <a:off x="9885996" y="4627089"/>
            <a:ext cx="1466850" cy="603629"/>
          </a:xfrm>
          <a:prstGeom prst="roundRect">
            <a:avLst>
              <a:gd name="adj" fmla="val 24000"/>
            </a:avLst>
          </a:prstGeom>
          <a:solidFill>
            <a:srgbClr val="0F766E"/>
          </a:solidFill>
          <a:ln w="0">
            <a:noFill/>
          </a:ln>
        </p:spPr>
        <p:txBody>
          <a:bodyPr wrap="square" lIns="57150" tIns="47625" rIns="57150" bIns="47625" anchor="ctr">
            <a:noAutofit/>
          </a:bodyPr>
          <a:lstStyle/>
          <a:p>
            <a:pPr algn="ctr">
              <a:defRPr sz="1350" b="1">
                <a:solidFill>
                  <a:srgbClr val="FFFFFF"/>
                </a:solidFill>
                <a:latin typeface="Nimbus Sans"/>
                <a:ea typeface="Nimbus Sans"/>
                <a:cs typeface="Nimbus Sans"/>
              </a:defRPr>
            </a:pPr>
            <a:r>
              <a:rPr lang="en-US" sz="1350" b="1" dirty="0">
                <a:solidFill>
                  <a:srgbClr val="FFFFFF"/>
                </a:solidFill>
                <a:latin typeface="Nimbus Sans"/>
                <a:ea typeface="Nimbus Sans"/>
                <a:cs typeface="Nimbus Sans"/>
              </a:rPr>
              <a:t>Create</a:t>
            </a:r>
            <a:endParaRPr sz="1350" b="1" dirty="0">
              <a:solidFill>
                <a:srgbClr val="FFFFFF"/>
              </a:solidFill>
              <a:latin typeface="Nimbus Sans"/>
              <a:ea typeface="Nimbus Sans"/>
              <a:cs typeface="Nimbus Sans"/>
            </a:endParaRPr>
          </a:p>
        </p:txBody>
      </p:sp>
      <p:sp>
        <p:nvSpPr>
          <p:cNvPr id="39" name="Rectangle 38">
            <a:extLst>
              <a:ext uri="{FF2B5EF4-FFF2-40B4-BE49-F238E27FC236}">
                <a16:creationId xmlns:a16="http://schemas.microsoft.com/office/drawing/2014/main" id="{68ACA8BB-BE80-921A-669B-B609363FE8FB}"/>
              </a:ext>
            </a:extLst>
          </p:cNvPr>
          <p:cNvSpPr>
            <a:spLocks noGrp="1"/>
          </p:cNvSpPr>
          <p:nvPr/>
        </p:nvSpPr>
        <p:spPr>
          <a:xfrm>
            <a:off x="5873441" y="5491776"/>
            <a:ext cx="5180383" cy="362178"/>
          </a:xfrm>
          <a:prstGeom prst="rect">
            <a:avLst/>
          </a:prstGeom>
          <a:noFill/>
          <a:ln w="0">
            <a:noFill/>
          </a:ln>
        </p:spPr>
        <p:txBody>
          <a:bodyPr wrap="square" lIns="0" tIns="0" rIns="0" bIns="0" anchor="t">
            <a:noAutofit/>
          </a:bodyPr>
          <a:lstStyle/>
          <a:p>
            <a:pPr algn="l">
              <a:defRPr sz="975" b="0">
                <a:solidFill>
                  <a:srgbClr val="5B6B7E"/>
                </a:solidFill>
                <a:latin typeface="Nimbus Sans"/>
                <a:ea typeface="Nimbus Sans"/>
                <a:cs typeface="Nimbus Sans"/>
              </a:defRPr>
            </a:pPr>
            <a:r>
              <a:rPr sz="975" b="0" dirty="0">
                <a:solidFill>
                  <a:srgbClr val="5B6B7E"/>
                </a:solidFill>
                <a:latin typeface="Nimbus Sans"/>
                <a:ea typeface="Nimbus Sans"/>
                <a:cs typeface="Nimbus Sans"/>
              </a:rPr>
              <a:t>Employment   Financial aid   Scholarships</a:t>
            </a:r>
            <a:r>
              <a:rPr lang="en-US" sz="975" b="0" dirty="0">
                <a:solidFill>
                  <a:srgbClr val="5B6B7E"/>
                </a:solidFill>
                <a:latin typeface="Nimbus Sans"/>
                <a:ea typeface="Nimbus Sans"/>
                <a:cs typeface="Nimbus Sans"/>
              </a:rPr>
              <a:t> </a:t>
            </a:r>
            <a:r>
              <a:rPr sz="975" b="0" dirty="0">
                <a:solidFill>
                  <a:srgbClr val="5B6B7E"/>
                </a:solidFill>
                <a:latin typeface="Nimbus Sans"/>
                <a:ea typeface="Nimbus Sans"/>
                <a:cs typeface="Nimbus Sans"/>
              </a:rPr>
              <a:t>Allowance   Self employment   Other income</a:t>
            </a:r>
          </a:p>
        </p:txBody>
      </p:sp>
      <p:sp>
        <p:nvSpPr>
          <p:cNvPr id="45" name="Rectangle: Rounded Corners 44">
            <a:extLst>
              <a:ext uri="{FF2B5EF4-FFF2-40B4-BE49-F238E27FC236}">
                <a16:creationId xmlns:a16="http://schemas.microsoft.com/office/drawing/2014/main" id="{BF63D4FF-0484-49C9-A861-85058DB5C1B6}"/>
              </a:ext>
            </a:extLst>
          </p:cNvPr>
          <p:cNvSpPr>
            <a:spLocks noGrp="1"/>
          </p:cNvSpPr>
          <p:nvPr/>
        </p:nvSpPr>
        <p:spPr>
          <a:xfrm>
            <a:off x="5861180" y="4627089"/>
            <a:ext cx="2571750" cy="579484"/>
          </a:xfrm>
          <a:prstGeom prst="roundRect">
            <a:avLst>
              <a:gd name="adj" fmla="val 20833"/>
            </a:avLst>
          </a:prstGeom>
          <a:solidFill>
            <a:srgbClr val="FFFFFF"/>
          </a:solidFill>
          <a:ln w="9525">
            <a:solidFill>
              <a:srgbClr val="D7DFE5"/>
            </a:solidFill>
            <a:prstDash val="solid"/>
          </a:ln>
        </p:spPr>
        <p:txBody>
          <a:bodyPr/>
          <a:lstStyle/>
          <a:p>
            <a:endParaRPr lang="en-US" dirty="0"/>
          </a:p>
        </p:txBody>
      </p:sp>
      <p:sp>
        <p:nvSpPr>
          <p:cNvPr id="47" name="Rectangle 46">
            <a:extLst>
              <a:ext uri="{FF2B5EF4-FFF2-40B4-BE49-F238E27FC236}">
                <a16:creationId xmlns:a16="http://schemas.microsoft.com/office/drawing/2014/main" id="{1F4DBEEC-F4A5-B1EB-D66D-278FE4CBCCBF}"/>
              </a:ext>
            </a:extLst>
          </p:cNvPr>
          <p:cNvSpPr>
            <a:spLocks noGrp="1"/>
          </p:cNvSpPr>
          <p:nvPr/>
        </p:nvSpPr>
        <p:spPr>
          <a:xfrm>
            <a:off x="5861180" y="4627089"/>
            <a:ext cx="47625" cy="579484"/>
          </a:xfrm>
          <a:prstGeom prst="rect">
            <a:avLst/>
          </a:prstGeom>
          <a:solidFill>
            <a:srgbClr val="0F766E"/>
          </a:solidFill>
          <a:ln w="0">
            <a:noFill/>
          </a:ln>
        </p:spPr>
        <p:txBody>
          <a:bodyPr/>
          <a:lstStyle/>
          <a:p>
            <a:endParaRPr lang="en-US"/>
          </a:p>
        </p:txBody>
      </p:sp>
      <p:sp>
        <p:nvSpPr>
          <p:cNvPr id="53" name="Rectangle 52">
            <a:extLst>
              <a:ext uri="{FF2B5EF4-FFF2-40B4-BE49-F238E27FC236}">
                <a16:creationId xmlns:a16="http://schemas.microsoft.com/office/drawing/2014/main" id="{286247E4-D653-9CD0-D3B4-027DB6693E93}"/>
              </a:ext>
            </a:extLst>
          </p:cNvPr>
          <p:cNvSpPr>
            <a:spLocks noGrp="1"/>
          </p:cNvSpPr>
          <p:nvPr/>
        </p:nvSpPr>
        <p:spPr>
          <a:xfrm>
            <a:off x="5891883" y="4328976"/>
            <a:ext cx="2571750" cy="265597"/>
          </a:xfrm>
          <a:prstGeom prst="rect">
            <a:avLst/>
          </a:prstGeom>
          <a:noFill/>
          <a:ln w="0">
            <a:noFill/>
          </a:ln>
        </p:spPr>
        <p:txBody>
          <a:bodyPr wrap="square" lIns="0" tIns="0" rIns="0" bIns="0" anchor="t">
            <a:noAutofit/>
          </a:bodyPr>
          <a:lstStyle/>
          <a:p>
            <a:pPr algn="l">
              <a:defRPr sz="900" b="1">
                <a:solidFill>
                  <a:srgbClr val="5B6B7E"/>
                </a:solidFill>
                <a:latin typeface="Nimbus Sans"/>
                <a:ea typeface="Nimbus Sans"/>
                <a:cs typeface="Nimbus Sans"/>
              </a:defRPr>
            </a:pPr>
            <a:r>
              <a:rPr sz="900" b="1" dirty="0">
                <a:solidFill>
                  <a:srgbClr val="5B6B7E"/>
                </a:solidFill>
                <a:latin typeface="Nimbus Sans"/>
                <a:ea typeface="Nimbus Sans"/>
                <a:cs typeface="Nimbus Sans"/>
              </a:rPr>
              <a:t>CATEGORY</a:t>
            </a:r>
          </a:p>
        </p:txBody>
      </p:sp>
      <p:sp>
        <p:nvSpPr>
          <p:cNvPr id="57" name="Rectangle 56">
            <a:extLst>
              <a:ext uri="{FF2B5EF4-FFF2-40B4-BE49-F238E27FC236}">
                <a16:creationId xmlns:a16="http://schemas.microsoft.com/office/drawing/2014/main" id="{DA192DB7-4CC0-7C65-55E2-78FEB7051C24}"/>
              </a:ext>
            </a:extLst>
          </p:cNvPr>
          <p:cNvSpPr>
            <a:spLocks noGrp="1"/>
          </p:cNvSpPr>
          <p:nvPr/>
        </p:nvSpPr>
        <p:spPr>
          <a:xfrm>
            <a:off x="5956430" y="4742762"/>
            <a:ext cx="2381250" cy="338032"/>
          </a:xfrm>
          <a:prstGeom prst="rect">
            <a:avLst/>
          </a:prstGeom>
          <a:noFill/>
          <a:ln w="0">
            <a:noFill/>
          </a:ln>
        </p:spPr>
        <p:txBody>
          <a:bodyPr wrap="square" lIns="0" tIns="0" rIns="0" bIns="0" anchor="ctr">
            <a:noAutofit/>
          </a:bodyPr>
          <a:lstStyle/>
          <a:p>
            <a:pPr algn="l">
              <a:defRPr sz="1350" b="0">
                <a:solidFill>
                  <a:srgbClr val="132238"/>
                </a:solidFill>
                <a:latin typeface="Nimbus Sans"/>
                <a:ea typeface="Nimbus Sans"/>
                <a:cs typeface="Nimbus Sans"/>
              </a:defRPr>
            </a:pPr>
            <a:r>
              <a:rPr lang="en-US" sz="1350" dirty="0">
                <a:solidFill>
                  <a:srgbClr val="132238"/>
                </a:solidFill>
                <a:latin typeface="Nimbus Sans"/>
                <a:ea typeface="Nimbus Sans"/>
                <a:cs typeface="Nimbus Sans"/>
              </a:rPr>
              <a:t>Entertainment</a:t>
            </a:r>
          </a:p>
        </p:txBody>
      </p:sp>
      <p:sp>
        <p:nvSpPr>
          <p:cNvPr id="59" name="Rectangle 58">
            <a:extLst>
              <a:ext uri="{FF2B5EF4-FFF2-40B4-BE49-F238E27FC236}">
                <a16:creationId xmlns:a16="http://schemas.microsoft.com/office/drawing/2014/main" id="{FEB9A8CD-57B0-C742-04B1-41A601667140}"/>
              </a:ext>
            </a:extLst>
          </p:cNvPr>
          <p:cNvSpPr>
            <a:spLocks noGrp="1"/>
          </p:cNvSpPr>
          <p:nvPr/>
        </p:nvSpPr>
        <p:spPr>
          <a:xfrm>
            <a:off x="8637717" y="3276437"/>
            <a:ext cx="2571750" cy="265597"/>
          </a:xfrm>
          <a:prstGeom prst="rect">
            <a:avLst/>
          </a:prstGeom>
          <a:noFill/>
          <a:ln w="0">
            <a:noFill/>
          </a:ln>
        </p:spPr>
        <p:txBody>
          <a:bodyPr wrap="square" lIns="0" tIns="0" rIns="0" bIns="0" anchor="t">
            <a:noAutofit/>
          </a:bodyPr>
          <a:lstStyle/>
          <a:p>
            <a:pPr algn="l">
              <a:defRPr sz="900" b="1">
                <a:solidFill>
                  <a:srgbClr val="5B6B7E"/>
                </a:solidFill>
                <a:latin typeface="Nimbus Sans"/>
                <a:ea typeface="Nimbus Sans"/>
                <a:cs typeface="Nimbus Sans"/>
              </a:defRPr>
            </a:pPr>
            <a:r>
              <a:rPr lang="en-US" sz="900" b="1" dirty="0">
                <a:solidFill>
                  <a:srgbClr val="5B6B7E"/>
                </a:solidFill>
                <a:latin typeface="Nimbus Sans"/>
                <a:ea typeface="Nimbus Sans"/>
                <a:cs typeface="Nimbus Sans"/>
              </a:rPr>
              <a:t>START </a:t>
            </a:r>
            <a:r>
              <a:rPr sz="900" b="1" dirty="0">
                <a:solidFill>
                  <a:srgbClr val="5B6B7E"/>
                </a:solidFill>
                <a:latin typeface="Nimbus Sans"/>
                <a:ea typeface="Nimbus Sans"/>
                <a:cs typeface="Nimbus Sans"/>
              </a:rPr>
              <a:t>DATE</a:t>
            </a:r>
          </a:p>
        </p:txBody>
      </p:sp>
      <p:sp>
        <p:nvSpPr>
          <p:cNvPr id="61" name="Rectangle: Rounded Corners 60">
            <a:extLst>
              <a:ext uri="{FF2B5EF4-FFF2-40B4-BE49-F238E27FC236}">
                <a16:creationId xmlns:a16="http://schemas.microsoft.com/office/drawing/2014/main" id="{569C5894-2474-CF45-A1EC-AAEB98E5AE31}"/>
              </a:ext>
            </a:extLst>
          </p:cNvPr>
          <p:cNvSpPr>
            <a:spLocks noGrp="1"/>
          </p:cNvSpPr>
          <p:nvPr/>
        </p:nvSpPr>
        <p:spPr>
          <a:xfrm>
            <a:off x="8637717" y="3555350"/>
            <a:ext cx="2571750" cy="579484"/>
          </a:xfrm>
          <a:prstGeom prst="roundRect">
            <a:avLst>
              <a:gd name="adj" fmla="val 20833"/>
            </a:avLst>
          </a:prstGeom>
          <a:solidFill>
            <a:srgbClr val="FFFFFF"/>
          </a:solidFill>
          <a:ln w="9525">
            <a:solidFill>
              <a:srgbClr val="D7DFE5"/>
            </a:solidFill>
            <a:prstDash val="solid"/>
          </a:ln>
        </p:spPr>
        <p:txBody>
          <a:bodyPr/>
          <a:lstStyle/>
          <a:p>
            <a:endParaRPr lang="en-US"/>
          </a:p>
        </p:txBody>
      </p:sp>
      <p:sp>
        <p:nvSpPr>
          <p:cNvPr id="63" name="Rectangle 62">
            <a:extLst>
              <a:ext uri="{FF2B5EF4-FFF2-40B4-BE49-F238E27FC236}">
                <a16:creationId xmlns:a16="http://schemas.microsoft.com/office/drawing/2014/main" id="{E5530C67-E03B-B400-C032-0C810E07DD4B}"/>
              </a:ext>
            </a:extLst>
          </p:cNvPr>
          <p:cNvSpPr>
            <a:spLocks noGrp="1"/>
          </p:cNvSpPr>
          <p:nvPr/>
        </p:nvSpPr>
        <p:spPr>
          <a:xfrm>
            <a:off x="8732967" y="3650600"/>
            <a:ext cx="2381250" cy="338032"/>
          </a:xfrm>
          <a:prstGeom prst="rect">
            <a:avLst/>
          </a:prstGeom>
          <a:noFill/>
          <a:ln w="0">
            <a:noFill/>
          </a:ln>
        </p:spPr>
        <p:txBody>
          <a:bodyPr wrap="square" lIns="0" tIns="0" rIns="0" bIns="0" anchor="ctr">
            <a:noAutofit/>
          </a:bodyPr>
          <a:lstStyle/>
          <a:p>
            <a:pPr algn="l">
              <a:defRPr sz="1350" b="0">
                <a:solidFill>
                  <a:srgbClr val="132238"/>
                </a:solidFill>
                <a:latin typeface="Nimbus Sans"/>
                <a:ea typeface="Nimbus Sans"/>
                <a:cs typeface="Nimbus Sans"/>
              </a:defRPr>
            </a:pPr>
            <a:r>
              <a:rPr sz="1350" b="0" dirty="0">
                <a:solidFill>
                  <a:srgbClr val="132238"/>
                </a:solidFill>
                <a:latin typeface="Nimbus Sans"/>
                <a:ea typeface="Nimbus Sans"/>
                <a:cs typeface="Nimbus Sans"/>
              </a:rPr>
              <a:t>Select a date</a:t>
            </a:r>
          </a:p>
        </p:txBody>
      </p:sp>
      <p:sp>
        <p:nvSpPr>
          <p:cNvPr id="65" name="Rectangle 64">
            <a:extLst>
              <a:ext uri="{FF2B5EF4-FFF2-40B4-BE49-F238E27FC236}">
                <a16:creationId xmlns:a16="http://schemas.microsoft.com/office/drawing/2014/main" id="{4456E57B-8ADA-4667-AA03-D69E4A7E1F43}"/>
              </a:ext>
            </a:extLst>
          </p:cNvPr>
          <p:cNvSpPr>
            <a:spLocks noGrp="1"/>
          </p:cNvSpPr>
          <p:nvPr/>
        </p:nvSpPr>
        <p:spPr>
          <a:xfrm>
            <a:off x="8637717" y="3555350"/>
            <a:ext cx="47625" cy="579484"/>
          </a:xfrm>
          <a:prstGeom prst="rect">
            <a:avLst/>
          </a:prstGeom>
          <a:solidFill>
            <a:srgbClr val="0F766E"/>
          </a:solidFill>
          <a:ln w="0">
            <a:noFill/>
          </a:ln>
        </p:spPr>
        <p:txBody>
          <a:bodyPr/>
          <a:lstStyle/>
          <a:p>
            <a:endParaRPr lang="en-US"/>
          </a:p>
        </p:txBody>
      </p:sp>
      <p:pic>
        <p:nvPicPr>
          <p:cNvPr id="6" name="Picture 5">
            <a:extLst>
              <a:ext uri="{FF2B5EF4-FFF2-40B4-BE49-F238E27FC236}">
                <a16:creationId xmlns:a16="http://schemas.microsoft.com/office/drawing/2014/main" id="{DD04EDC6-1973-A870-EC9D-5405A7B5BFCB}"/>
              </a:ext>
            </a:extLst>
          </p:cNvPr>
          <p:cNvPicPr>
            <a:picLocks noChangeAspect="1"/>
          </p:cNvPicPr>
          <p:nvPr/>
        </p:nvPicPr>
        <p:blipFill>
          <a:blip r:embed="rId2"/>
          <a:stretch>
            <a:fillRect/>
          </a:stretch>
        </p:blipFill>
        <p:spPr>
          <a:xfrm>
            <a:off x="507082" y="792615"/>
            <a:ext cx="781050" cy="47625"/>
          </a:xfrm>
          <a:prstGeom prst="rect">
            <a:avLst/>
          </a:prstGeom>
        </p:spPr>
      </p:pic>
    </p:spTree>
    <p:extLst>
      <p:ext uri="{BB962C8B-B14F-4D97-AF65-F5344CB8AC3E}">
        <p14:creationId xmlns:p14="http://schemas.microsoft.com/office/powerpoint/2010/main" val="1645901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3596C-19EF-D356-CE49-6CD6553E58EA}"/>
              </a:ext>
            </a:extLst>
          </p:cNvPr>
          <p:cNvSpPr>
            <a:spLocks noGrp="1"/>
          </p:cNvSpPr>
          <p:nvPr>
            <p:ph type="title" idx="4294967295"/>
          </p:nvPr>
        </p:nvSpPr>
        <p:spPr>
          <a:xfrm>
            <a:off x="876885" y="74594"/>
            <a:ext cx="10515600" cy="883487"/>
          </a:xfrm>
        </p:spPr>
        <p:txBody>
          <a:bodyPr/>
          <a:lstStyle/>
          <a:p>
            <a:r>
              <a:rPr lang="en-US" dirty="0">
                <a:solidFill>
                  <a:schemeClr val="bg1"/>
                </a:solidFill>
              </a:rPr>
              <a:t>Recurring Expenses - Dashboard</a:t>
            </a:r>
          </a:p>
        </p:txBody>
      </p:sp>
      <p:sp>
        <p:nvSpPr>
          <p:cNvPr id="3" name="Content Placeholder 2">
            <a:extLst>
              <a:ext uri="{FF2B5EF4-FFF2-40B4-BE49-F238E27FC236}">
                <a16:creationId xmlns:a16="http://schemas.microsoft.com/office/drawing/2014/main" id="{ECB81B67-8C0A-C1E1-D1CB-B618452BE5F4}"/>
              </a:ext>
            </a:extLst>
          </p:cNvPr>
          <p:cNvSpPr>
            <a:spLocks noGrp="1"/>
          </p:cNvSpPr>
          <p:nvPr>
            <p:ph idx="4294967295"/>
          </p:nvPr>
        </p:nvSpPr>
        <p:spPr>
          <a:xfrm>
            <a:off x="559647" y="1679400"/>
            <a:ext cx="4291013" cy="4351338"/>
          </a:xfrm>
        </p:spPr>
        <p:txBody>
          <a:bodyPr/>
          <a:lstStyle/>
          <a:p>
            <a:r>
              <a:rPr lang="en-US" dirty="0">
                <a:latin typeface="Nimbus Sans"/>
              </a:rPr>
              <a:t>Create, edit, and delete recurring expenses.</a:t>
            </a:r>
          </a:p>
          <a:p>
            <a:r>
              <a:rPr lang="en-US" dirty="0">
                <a:latin typeface="Nimbus Sans"/>
              </a:rPr>
              <a:t>View upcoming expenses</a:t>
            </a:r>
          </a:p>
          <a:p>
            <a:r>
              <a:rPr lang="en-US" dirty="0">
                <a:latin typeface="Nimbus Sans"/>
              </a:rPr>
              <a:t>Sorted based on next payment</a:t>
            </a:r>
          </a:p>
        </p:txBody>
      </p:sp>
      <p:sp>
        <p:nvSpPr>
          <p:cNvPr id="5" name="Rectangle: Rounded Corners 4">
            <a:extLst>
              <a:ext uri="{FF2B5EF4-FFF2-40B4-BE49-F238E27FC236}">
                <a16:creationId xmlns:a16="http://schemas.microsoft.com/office/drawing/2014/main" id="{7833F2DE-D753-6AFB-8071-862C59AAA2FA}"/>
              </a:ext>
            </a:extLst>
          </p:cNvPr>
          <p:cNvSpPr>
            <a:spLocks noGrp="1"/>
          </p:cNvSpPr>
          <p:nvPr/>
        </p:nvSpPr>
        <p:spPr>
          <a:xfrm>
            <a:off x="5343637" y="1555047"/>
            <a:ext cx="6191250" cy="4351339"/>
          </a:xfrm>
          <a:prstGeom prst="roundRect">
            <a:avLst>
              <a:gd name="adj" fmla="val 4525"/>
            </a:avLst>
          </a:prstGeom>
          <a:solidFill>
            <a:srgbClr val="FFFFFF"/>
          </a:solidFill>
          <a:ln w="9525">
            <a:solidFill>
              <a:srgbClr val="D7DFE5"/>
            </a:solidFill>
            <a:prstDash val="solid"/>
          </a:ln>
        </p:spPr>
        <p:style>
          <a:lnRef idx="0">
            <a:scrgbClr r="0" g="0" b="0"/>
          </a:lnRef>
          <a:fillRef idx="0">
            <a:scrgbClr r="0" g="0" b="0"/>
          </a:fillRef>
          <a:effectRef idx="4">
            <a:scrgbClr r="0" g="0" b="0"/>
          </a:effectRef>
          <a:fontRef idx="major"/>
        </p:style>
        <p:txBody>
          <a:bodyPr/>
          <a:lstStyle/>
          <a:p>
            <a:endParaRPr lang="en-US" dirty="0"/>
          </a:p>
          <a:p>
            <a:endParaRPr lang="en-US" dirty="0"/>
          </a:p>
        </p:txBody>
      </p:sp>
      <p:sp>
        <p:nvSpPr>
          <p:cNvPr id="7" name="Rectangle: Rounded Corners 6">
            <a:extLst>
              <a:ext uri="{FF2B5EF4-FFF2-40B4-BE49-F238E27FC236}">
                <a16:creationId xmlns:a16="http://schemas.microsoft.com/office/drawing/2014/main" id="{2C4D9305-D071-F113-55A4-1A94143B7BAE}"/>
              </a:ext>
            </a:extLst>
          </p:cNvPr>
          <p:cNvSpPr>
            <a:spLocks noGrp="1"/>
          </p:cNvSpPr>
          <p:nvPr/>
        </p:nvSpPr>
        <p:spPr>
          <a:xfrm>
            <a:off x="5717464" y="1811719"/>
            <a:ext cx="3063465" cy="846324"/>
          </a:xfrm>
          <a:prstGeom prst="roundRect">
            <a:avLst>
              <a:gd name="adj" fmla="val 4525"/>
            </a:avLst>
          </a:prstGeom>
          <a:solidFill>
            <a:srgbClr val="FFFFFF"/>
          </a:solidFill>
          <a:ln w="9525">
            <a:solidFill>
              <a:srgbClr val="D7DFE5"/>
            </a:solidFill>
            <a:prstDash val="solid"/>
          </a:ln>
        </p:spPr>
        <p:style>
          <a:lnRef idx="0">
            <a:scrgbClr r="0" g="0" b="0"/>
          </a:lnRef>
          <a:fillRef idx="0">
            <a:scrgbClr r="0" g="0" b="0"/>
          </a:fillRef>
          <a:effectRef idx="4">
            <a:scrgbClr r="0" g="0" b="0"/>
          </a:effectRef>
          <a:fontRef idx="major"/>
        </p:style>
        <p:txBody>
          <a:bodyPr anchor="ctr"/>
          <a:lstStyle/>
          <a:p>
            <a:r>
              <a:rPr lang="en-US" dirty="0"/>
              <a:t>       Create Recurring Expense</a:t>
            </a:r>
          </a:p>
        </p:txBody>
      </p:sp>
      <p:sp>
        <p:nvSpPr>
          <p:cNvPr id="9" name="Rectangle: Rounded Corners 8">
            <a:extLst>
              <a:ext uri="{FF2B5EF4-FFF2-40B4-BE49-F238E27FC236}">
                <a16:creationId xmlns:a16="http://schemas.microsoft.com/office/drawing/2014/main" id="{BC837C57-2770-1985-8AE2-C150F0F80B94}"/>
              </a:ext>
            </a:extLst>
          </p:cNvPr>
          <p:cNvSpPr>
            <a:spLocks noGrp="1"/>
          </p:cNvSpPr>
          <p:nvPr/>
        </p:nvSpPr>
        <p:spPr>
          <a:xfrm>
            <a:off x="5712982" y="2811281"/>
            <a:ext cx="5461523" cy="846324"/>
          </a:xfrm>
          <a:prstGeom prst="roundRect">
            <a:avLst>
              <a:gd name="adj" fmla="val 4525"/>
            </a:avLst>
          </a:prstGeom>
          <a:solidFill>
            <a:schemeClr val="accent1">
              <a:lumMod val="20000"/>
              <a:lumOff val="80000"/>
            </a:schemeClr>
          </a:solidFill>
          <a:ln w="9525">
            <a:solidFill>
              <a:srgbClr val="D7DFE5"/>
            </a:solidFill>
            <a:prstDash val="solid"/>
          </a:ln>
        </p:spPr>
        <p:style>
          <a:lnRef idx="0">
            <a:scrgbClr r="0" g="0" b="0"/>
          </a:lnRef>
          <a:fillRef idx="0">
            <a:scrgbClr r="0" g="0" b="0"/>
          </a:fillRef>
          <a:effectRef idx="4">
            <a:scrgbClr r="0" g="0" b="0"/>
          </a:effectRef>
          <a:fontRef idx="major"/>
        </p:style>
        <p:txBody>
          <a:bodyPr anchor="ctr"/>
          <a:lstStyle/>
          <a:p>
            <a:r>
              <a:rPr lang="en-US" dirty="0"/>
              <a:t>Rent</a:t>
            </a:r>
          </a:p>
        </p:txBody>
      </p:sp>
      <p:sp>
        <p:nvSpPr>
          <p:cNvPr id="11" name="Rectangle: Rounded Corners 10">
            <a:extLst>
              <a:ext uri="{FF2B5EF4-FFF2-40B4-BE49-F238E27FC236}">
                <a16:creationId xmlns:a16="http://schemas.microsoft.com/office/drawing/2014/main" id="{C61B6AA2-339C-69FA-A30A-F23F4E2B66CD}"/>
              </a:ext>
            </a:extLst>
          </p:cNvPr>
          <p:cNvSpPr>
            <a:spLocks noGrp="1"/>
          </p:cNvSpPr>
          <p:nvPr/>
        </p:nvSpPr>
        <p:spPr>
          <a:xfrm>
            <a:off x="5708501" y="3806373"/>
            <a:ext cx="5461523" cy="846324"/>
          </a:xfrm>
          <a:prstGeom prst="roundRect">
            <a:avLst>
              <a:gd name="adj" fmla="val 4525"/>
            </a:avLst>
          </a:prstGeom>
          <a:solidFill>
            <a:schemeClr val="accent2">
              <a:lumMod val="20000"/>
              <a:lumOff val="80000"/>
            </a:schemeClr>
          </a:solidFill>
          <a:ln w="9525">
            <a:solidFill>
              <a:srgbClr val="D7DFE5"/>
            </a:solidFill>
            <a:prstDash val="solid"/>
          </a:ln>
        </p:spPr>
        <p:style>
          <a:lnRef idx="0">
            <a:scrgbClr r="0" g="0" b="0"/>
          </a:lnRef>
          <a:fillRef idx="0">
            <a:scrgbClr r="0" g="0" b="0"/>
          </a:fillRef>
          <a:effectRef idx="4">
            <a:scrgbClr r="0" g="0" b="0"/>
          </a:effectRef>
          <a:fontRef idx="major"/>
        </p:style>
        <p:txBody>
          <a:bodyPr anchor="ctr"/>
          <a:lstStyle/>
          <a:p>
            <a:r>
              <a:rPr lang="en-US" dirty="0"/>
              <a:t>Netflix</a:t>
            </a:r>
          </a:p>
        </p:txBody>
      </p:sp>
      <p:sp>
        <p:nvSpPr>
          <p:cNvPr id="13" name="Rectangle: Rounded Corners 12">
            <a:extLst>
              <a:ext uri="{FF2B5EF4-FFF2-40B4-BE49-F238E27FC236}">
                <a16:creationId xmlns:a16="http://schemas.microsoft.com/office/drawing/2014/main" id="{C6BC51E5-48A1-6787-BE66-A26AAC459945}"/>
              </a:ext>
            </a:extLst>
          </p:cNvPr>
          <p:cNvSpPr>
            <a:spLocks noGrp="1"/>
          </p:cNvSpPr>
          <p:nvPr/>
        </p:nvSpPr>
        <p:spPr>
          <a:xfrm>
            <a:off x="5708501" y="4805935"/>
            <a:ext cx="5461523" cy="846324"/>
          </a:xfrm>
          <a:prstGeom prst="roundRect">
            <a:avLst>
              <a:gd name="adj" fmla="val 4525"/>
            </a:avLst>
          </a:prstGeom>
          <a:solidFill>
            <a:schemeClr val="accent3">
              <a:lumMod val="20000"/>
              <a:lumOff val="80000"/>
            </a:schemeClr>
          </a:solidFill>
          <a:ln w="9525">
            <a:solidFill>
              <a:srgbClr val="D7DFE5"/>
            </a:solidFill>
            <a:prstDash val="solid"/>
          </a:ln>
        </p:spPr>
        <p:style>
          <a:lnRef idx="0">
            <a:scrgbClr r="0" g="0" b="0"/>
          </a:lnRef>
          <a:fillRef idx="0">
            <a:scrgbClr r="0" g="0" b="0"/>
          </a:fillRef>
          <a:effectRef idx="4">
            <a:scrgbClr r="0" g="0" b="0"/>
          </a:effectRef>
          <a:fontRef idx="major"/>
        </p:style>
        <p:txBody>
          <a:bodyPr anchor="ctr"/>
          <a:lstStyle/>
          <a:p>
            <a:r>
              <a:rPr lang="en-US" dirty="0"/>
              <a:t>Dropbox</a:t>
            </a:r>
          </a:p>
        </p:txBody>
      </p:sp>
      <p:sp>
        <p:nvSpPr>
          <p:cNvPr id="15" name="Rectangle 14">
            <a:extLst>
              <a:ext uri="{FF2B5EF4-FFF2-40B4-BE49-F238E27FC236}">
                <a16:creationId xmlns:a16="http://schemas.microsoft.com/office/drawing/2014/main" id="{36198C94-21F1-A400-8E6A-F57652292A9D}"/>
              </a:ext>
            </a:extLst>
          </p:cNvPr>
          <p:cNvSpPr>
            <a:spLocks noGrp="1"/>
          </p:cNvSpPr>
          <p:nvPr/>
        </p:nvSpPr>
        <p:spPr>
          <a:xfrm>
            <a:off x="7398463" y="2890931"/>
            <a:ext cx="840105" cy="708409"/>
          </a:xfrm>
          <a:prstGeom prst="rect">
            <a:avLst/>
          </a:prstGeom>
          <a:noFill/>
          <a:ln w="0">
            <a:noFill/>
          </a:ln>
        </p:spPr>
        <p:txBody>
          <a:bodyPr wrap="square" lIns="0" tIns="0" rIns="0" bIns="0" anchor="t">
            <a:noAutofit/>
          </a:bodyPr>
          <a:lstStyle/>
          <a:p>
            <a:pPr algn="l">
              <a:defRPr sz="900" b="1">
                <a:solidFill>
                  <a:srgbClr val="5B6B7E"/>
                </a:solidFill>
                <a:latin typeface="Nimbus Sans"/>
                <a:ea typeface="Nimbus Sans"/>
                <a:cs typeface="Nimbus Sans"/>
              </a:defRPr>
            </a:pPr>
            <a:r>
              <a:rPr sz="900" b="1" dirty="0">
                <a:solidFill>
                  <a:srgbClr val="5B6B7E"/>
                </a:solidFill>
                <a:latin typeface="Nimbus Sans"/>
                <a:ea typeface="Nimbus Sans"/>
                <a:cs typeface="Nimbus Sans"/>
              </a:rPr>
              <a:t>AMOUNT</a:t>
            </a:r>
            <a:r>
              <a:rPr lang="en-US" sz="900" b="1" dirty="0">
                <a:solidFill>
                  <a:srgbClr val="5B6B7E"/>
                </a:solidFill>
                <a:latin typeface="Nimbus Sans"/>
                <a:ea typeface="Nimbus Sans"/>
                <a:cs typeface="Nimbus Sans"/>
              </a:rPr>
              <a:t>:</a:t>
            </a:r>
          </a:p>
          <a:p>
            <a:pPr algn="l">
              <a:defRPr sz="900" b="1">
                <a:solidFill>
                  <a:srgbClr val="5B6B7E"/>
                </a:solidFill>
                <a:latin typeface="Nimbus Sans"/>
                <a:ea typeface="Nimbus Sans"/>
                <a:cs typeface="Nimbus Sans"/>
              </a:defRPr>
            </a:pPr>
            <a:endParaRPr lang="en-US" sz="900" b="1" dirty="0">
              <a:solidFill>
                <a:srgbClr val="5B6B7E"/>
              </a:solidFill>
              <a:latin typeface="Nimbus Sans"/>
              <a:ea typeface="Nimbus Sans"/>
              <a:cs typeface="Nimbus Sans"/>
            </a:endParaRPr>
          </a:p>
          <a:p>
            <a:pPr algn="l">
              <a:defRPr sz="900" b="1">
                <a:solidFill>
                  <a:srgbClr val="5B6B7E"/>
                </a:solidFill>
                <a:latin typeface="Nimbus Sans"/>
                <a:ea typeface="Nimbus Sans"/>
                <a:cs typeface="Nimbus Sans"/>
              </a:defRPr>
            </a:pPr>
            <a:r>
              <a:rPr lang="en-US" sz="900" b="1" dirty="0">
                <a:solidFill>
                  <a:srgbClr val="5B6B7E"/>
                </a:solidFill>
                <a:latin typeface="Nimbus Sans"/>
                <a:ea typeface="Nimbus Sans"/>
                <a:cs typeface="Nimbus Sans"/>
              </a:rPr>
              <a:t>NEXT PAYMENT:</a:t>
            </a:r>
            <a:br>
              <a:rPr lang="en-US" sz="900" b="1" dirty="0">
                <a:solidFill>
                  <a:srgbClr val="5B6B7E"/>
                </a:solidFill>
                <a:latin typeface="Nimbus Sans"/>
                <a:ea typeface="Nimbus Sans"/>
                <a:cs typeface="Nimbus Sans"/>
              </a:rPr>
            </a:br>
            <a:br>
              <a:rPr lang="en-US" sz="900" b="1" dirty="0">
                <a:solidFill>
                  <a:srgbClr val="5B6B7E"/>
                </a:solidFill>
                <a:latin typeface="Nimbus Sans"/>
                <a:ea typeface="Nimbus Sans"/>
                <a:cs typeface="Nimbus Sans"/>
              </a:rPr>
            </a:br>
            <a:r>
              <a:rPr lang="en-US" sz="900" b="1" dirty="0">
                <a:solidFill>
                  <a:srgbClr val="5B6B7E"/>
                </a:solidFill>
                <a:latin typeface="Nimbus Sans"/>
                <a:ea typeface="Nimbus Sans"/>
                <a:cs typeface="Nimbus Sans"/>
              </a:rPr>
              <a:t>CATEGORY:</a:t>
            </a:r>
          </a:p>
        </p:txBody>
      </p:sp>
      <p:sp>
        <p:nvSpPr>
          <p:cNvPr id="17" name="Rectangle: Rounded Corners 16">
            <a:extLst>
              <a:ext uri="{FF2B5EF4-FFF2-40B4-BE49-F238E27FC236}">
                <a16:creationId xmlns:a16="http://schemas.microsoft.com/office/drawing/2014/main" id="{3A9F213C-5ED2-9DC2-8D06-E78497BEAD5A}"/>
              </a:ext>
            </a:extLst>
          </p:cNvPr>
          <p:cNvSpPr>
            <a:spLocks noGrp="1"/>
          </p:cNvSpPr>
          <p:nvPr/>
        </p:nvSpPr>
        <p:spPr>
          <a:xfrm>
            <a:off x="8240431" y="2864472"/>
            <a:ext cx="1027202" cy="227125"/>
          </a:xfrm>
          <a:prstGeom prst="roundRect">
            <a:avLst>
              <a:gd name="adj" fmla="val 20833"/>
            </a:avLst>
          </a:prstGeom>
          <a:solidFill>
            <a:srgbClr val="FFFFFF"/>
          </a:solidFill>
          <a:ln w="9525">
            <a:solidFill>
              <a:srgbClr val="D7DFE5"/>
            </a:solidFill>
            <a:prstDash val="solid"/>
          </a:ln>
        </p:spPr>
        <p:txBody>
          <a:bodyPr/>
          <a:lstStyle/>
          <a:p>
            <a:r>
              <a:rPr lang="en-US" sz="900" dirty="0"/>
              <a:t>$ 500</a:t>
            </a:r>
          </a:p>
        </p:txBody>
      </p:sp>
      <p:sp>
        <p:nvSpPr>
          <p:cNvPr id="19" name="Rectangle 18">
            <a:extLst>
              <a:ext uri="{FF2B5EF4-FFF2-40B4-BE49-F238E27FC236}">
                <a16:creationId xmlns:a16="http://schemas.microsoft.com/office/drawing/2014/main" id="{3F4DC44D-DECE-9540-ED1E-8F0DF43219E2}"/>
              </a:ext>
            </a:extLst>
          </p:cNvPr>
          <p:cNvSpPr>
            <a:spLocks noGrp="1"/>
          </p:cNvSpPr>
          <p:nvPr/>
        </p:nvSpPr>
        <p:spPr>
          <a:xfrm>
            <a:off x="8513333" y="3688063"/>
            <a:ext cx="2381250" cy="266700"/>
          </a:xfrm>
          <a:prstGeom prst="rect">
            <a:avLst/>
          </a:prstGeom>
          <a:noFill/>
          <a:ln w="0">
            <a:noFill/>
          </a:ln>
        </p:spPr>
        <p:txBody>
          <a:bodyPr wrap="square" lIns="0" tIns="0" rIns="0" bIns="0" anchor="ctr">
            <a:noAutofit/>
          </a:bodyPr>
          <a:lstStyle/>
          <a:p>
            <a:pPr algn="l">
              <a:defRPr sz="1350" b="0">
                <a:solidFill>
                  <a:srgbClr val="132238"/>
                </a:solidFill>
                <a:latin typeface="Nimbus Sans"/>
                <a:ea typeface="Nimbus Sans"/>
                <a:cs typeface="Nimbus Sans"/>
              </a:defRPr>
            </a:pPr>
            <a:endParaRPr sz="1350" b="0" dirty="0">
              <a:solidFill>
                <a:srgbClr val="132238"/>
              </a:solidFill>
              <a:latin typeface="Nimbus Sans"/>
              <a:ea typeface="Nimbus Sans"/>
              <a:cs typeface="Nimbus Sans"/>
            </a:endParaRPr>
          </a:p>
        </p:txBody>
      </p:sp>
      <p:sp>
        <p:nvSpPr>
          <p:cNvPr id="21" name="Rectangle 20">
            <a:extLst>
              <a:ext uri="{FF2B5EF4-FFF2-40B4-BE49-F238E27FC236}">
                <a16:creationId xmlns:a16="http://schemas.microsoft.com/office/drawing/2014/main" id="{5E0D59A9-1D73-EF66-7A2E-8A56B4E6AAEF}"/>
              </a:ext>
            </a:extLst>
          </p:cNvPr>
          <p:cNvSpPr>
            <a:spLocks noGrp="1"/>
          </p:cNvSpPr>
          <p:nvPr/>
        </p:nvSpPr>
        <p:spPr>
          <a:xfrm>
            <a:off x="5684688" y="1807895"/>
            <a:ext cx="45719" cy="853032"/>
          </a:xfrm>
          <a:prstGeom prst="rect">
            <a:avLst/>
          </a:prstGeom>
          <a:solidFill>
            <a:srgbClr val="0F766E"/>
          </a:solidFill>
          <a:ln w="0">
            <a:noFill/>
          </a:ln>
        </p:spPr>
        <p:txBody>
          <a:bodyPr/>
          <a:lstStyle/>
          <a:p>
            <a:endParaRPr lang="en-US"/>
          </a:p>
        </p:txBody>
      </p:sp>
      <p:sp>
        <p:nvSpPr>
          <p:cNvPr id="23" name="Rectangle 22">
            <a:extLst>
              <a:ext uri="{FF2B5EF4-FFF2-40B4-BE49-F238E27FC236}">
                <a16:creationId xmlns:a16="http://schemas.microsoft.com/office/drawing/2014/main" id="{6634A511-2EF4-9C12-6476-BA074FE33941}"/>
              </a:ext>
            </a:extLst>
          </p:cNvPr>
          <p:cNvSpPr>
            <a:spLocks noGrp="1"/>
          </p:cNvSpPr>
          <p:nvPr/>
        </p:nvSpPr>
        <p:spPr>
          <a:xfrm>
            <a:off x="5684688" y="3810724"/>
            <a:ext cx="45719" cy="853032"/>
          </a:xfrm>
          <a:prstGeom prst="rect">
            <a:avLst/>
          </a:prstGeom>
          <a:solidFill>
            <a:srgbClr val="0F766E"/>
          </a:solidFill>
          <a:ln w="0">
            <a:noFill/>
          </a:ln>
        </p:spPr>
        <p:txBody>
          <a:bodyPr/>
          <a:lstStyle/>
          <a:p>
            <a:endParaRPr lang="en-US"/>
          </a:p>
        </p:txBody>
      </p:sp>
      <p:sp>
        <p:nvSpPr>
          <p:cNvPr id="25" name="Rectangle 24">
            <a:extLst>
              <a:ext uri="{FF2B5EF4-FFF2-40B4-BE49-F238E27FC236}">
                <a16:creationId xmlns:a16="http://schemas.microsoft.com/office/drawing/2014/main" id="{2A5D8A93-B7AC-120D-AAB5-9C5BAF22FCCD}"/>
              </a:ext>
            </a:extLst>
          </p:cNvPr>
          <p:cNvSpPr>
            <a:spLocks noGrp="1"/>
          </p:cNvSpPr>
          <p:nvPr/>
        </p:nvSpPr>
        <p:spPr>
          <a:xfrm>
            <a:off x="5684688" y="2807338"/>
            <a:ext cx="45719" cy="853032"/>
          </a:xfrm>
          <a:prstGeom prst="rect">
            <a:avLst/>
          </a:prstGeom>
          <a:solidFill>
            <a:srgbClr val="0F766E"/>
          </a:solidFill>
          <a:ln w="0">
            <a:noFill/>
          </a:ln>
        </p:spPr>
        <p:txBody>
          <a:bodyPr/>
          <a:lstStyle/>
          <a:p>
            <a:endParaRPr lang="en-US"/>
          </a:p>
        </p:txBody>
      </p:sp>
      <p:sp>
        <p:nvSpPr>
          <p:cNvPr id="27" name="Rectangle 26">
            <a:extLst>
              <a:ext uri="{FF2B5EF4-FFF2-40B4-BE49-F238E27FC236}">
                <a16:creationId xmlns:a16="http://schemas.microsoft.com/office/drawing/2014/main" id="{816F0E47-836F-7C68-C494-08AC4516AEA4}"/>
              </a:ext>
            </a:extLst>
          </p:cNvPr>
          <p:cNvSpPr>
            <a:spLocks noGrp="1"/>
          </p:cNvSpPr>
          <p:nvPr/>
        </p:nvSpPr>
        <p:spPr>
          <a:xfrm>
            <a:off x="5684688" y="4797496"/>
            <a:ext cx="45719" cy="853032"/>
          </a:xfrm>
          <a:prstGeom prst="rect">
            <a:avLst/>
          </a:prstGeom>
          <a:solidFill>
            <a:srgbClr val="0F766E"/>
          </a:solidFill>
          <a:ln w="0">
            <a:noFill/>
          </a:ln>
        </p:spPr>
        <p:txBody>
          <a:bodyPr/>
          <a:lstStyle/>
          <a:p>
            <a:endParaRPr lang="en-US"/>
          </a:p>
        </p:txBody>
      </p:sp>
      <p:sp>
        <p:nvSpPr>
          <p:cNvPr id="29" name="Rectangle: Rounded Corners 28">
            <a:extLst>
              <a:ext uri="{FF2B5EF4-FFF2-40B4-BE49-F238E27FC236}">
                <a16:creationId xmlns:a16="http://schemas.microsoft.com/office/drawing/2014/main" id="{BDBB50D9-AE9C-0E97-BB5C-0C6B87E259D1}"/>
              </a:ext>
            </a:extLst>
          </p:cNvPr>
          <p:cNvSpPr>
            <a:spLocks noGrp="1"/>
          </p:cNvSpPr>
          <p:nvPr/>
        </p:nvSpPr>
        <p:spPr>
          <a:xfrm>
            <a:off x="10293489" y="4931335"/>
            <a:ext cx="744988" cy="292677"/>
          </a:xfrm>
          <a:prstGeom prst="roundRect">
            <a:avLst>
              <a:gd name="adj" fmla="val 24000"/>
            </a:avLst>
          </a:prstGeom>
          <a:solidFill>
            <a:srgbClr val="EDF1F4"/>
          </a:solidFill>
          <a:ln w="0">
            <a:noFill/>
          </a:ln>
        </p:spPr>
        <p:txBody>
          <a:bodyPr wrap="square" lIns="57150" tIns="47625" rIns="57150" bIns="47625" anchor="ctr">
            <a:noAutofit/>
          </a:bodyPr>
          <a:lstStyle/>
          <a:p>
            <a:pPr algn="ctr">
              <a:defRPr sz="1350" b="1">
                <a:solidFill>
                  <a:srgbClr val="5B6B7E"/>
                </a:solidFill>
                <a:latin typeface="Nimbus Sans"/>
                <a:ea typeface="Nimbus Sans"/>
                <a:cs typeface="Nimbus Sans"/>
              </a:defRPr>
            </a:pPr>
            <a:r>
              <a:rPr lang="en-US" sz="1350" b="1" dirty="0">
                <a:solidFill>
                  <a:srgbClr val="5B6B7E"/>
                </a:solidFill>
                <a:latin typeface="Nimbus Sans"/>
                <a:ea typeface="Nimbus Sans"/>
                <a:cs typeface="Nimbus Sans"/>
              </a:rPr>
              <a:t>Edit</a:t>
            </a:r>
            <a:endParaRPr sz="1350" b="1" dirty="0">
              <a:solidFill>
                <a:srgbClr val="5B6B7E"/>
              </a:solidFill>
              <a:latin typeface="Nimbus Sans"/>
              <a:ea typeface="Nimbus Sans"/>
              <a:cs typeface="Nimbus Sans"/>
            </a:endParaRPr>
          </a:p>
        </p:txBody>
      </p:sp>
      <p:sp>
        <p:nvSpPr>
          <p:cNvPr id="31" name="Rectangle: Rounded Corners 30">
            <a:extLst>
              <a:ext uri="{FF2B5EF4-FFF2-40B4-BE49-F238E27FC236}">
                <a16:creationId xmlns:a16="http://schemas.microsoft.com/office/drawing/2014/main" id="{D375094F-3C05-7AED-A918-B81639B5A9EA}"/>
              </a:ext>
            </a:extLst>
          </p:cNvPr>
          <p:cNvSpPr>
            <a:spLocks noGrp="1"/>
          </p:cNvSpPr>
          <p:nvPr/>
        </p:nvSpPr>
        <p:spPr>
          <a:xfrm>
            <a:off x="10293489" y="5240536"/>
            <a:ext cx="744988" cy="292677"/>
          </a:xfrm>
          <a:prstGeom prst="roundRect">
            <a:avLst>
              <a:gd name="adj" fmla="val 24000"/>
            </a:avLst>
          </a:prstGeom>
          <a:solidFill>
            <a:srgbClr val="EDF1F4"/>
          </a:solidFill>
          <a:ln w="0">
            <a:noFill/>
          </a:ln>
        </p:spPr>
        <p:txBody>
          <a:bodyPr wrap="square" lIns="57150" tIns="47625" rIns="57150" bIns="47625" anchor="ctr">
            <a:noAutofit/>
          </a:bodyPr>
          <a:lstStyle/>
          <a:p>
            <a:pPr algn="ctr">
              <a:defRPr sz="1350" b="1">
                <a:solidFill>
                  <a:srgbClr val="5B6B7E"/>
                </a:solidFill>
                <a:latin typeface="Nimbus Sans"/>
                <a:ea typeface="Nimbus Sans"/>
                <a:cs typeface="Nimbus Sans"/>
              </a:defRPr>
            </a:pPr>
            <a:r>
              <a:rPr lang="en-US" sz="1350" b="1" dirty="0">
                <a:solidFill>
                  <a:srgbClr val="5B6B7E"/>
                </a:solidFill>
                <a:latin typeface="Nimbus Sans"/>
                <a:ea typeface="Nimbus Sans"/>
                <a:cs typeface="Nimbus Sans"/>
              </a:rPr>
              <a:t>Delete</a:t>
            </a:r>
            <a:endParaRPr sz="1350" b="1" dirty="0">
              <a:solidFill>
                <a:srgbClr val="5B6B7E"/>
              </a:solidFill>
              <a:latin typeface="Nimbus Sans"/>
              <a:ea typeface="Nimbus Sans"/>
              <a:cs typeface="Nimbus Sans"/>
            </a:endParaRPr>
          </a:p>
        </p:txBody>
      </p:sp>
      <p:sp>
        <p:nvSpPr>
          <p:cNvPr id="33" name="Rectangle: Rounded Corners 32">
            <a:extLst>
              <a:ext uri="{FF2B5EF4-FFF2-40B4-BE49-F238E27FC236}">
                <a16:creationId xmlns:a16="http://schemas.microsoft.com/office/drawing/2014/main" id="{214FEF71-C5AA-6882-AF82-35D448786015}"/>
              </a:ext>
            </a:extLst>
          </p:cNvPr>
          <p:cNvSpPr>
            <a:spLocks noGrp="1"/>
          </p:cNvSpPr>
          <p:nvPr/>
        </p:nvSpPr>
        <p:spPr>
          <a:xfrm>
            <a:off x="10287316" y="3950603"/>
            <a:ext cx="744988" cy="292677"/>
          </a:xfrm>
          <a:prstGeom prst="roundRect">
            <a:avLst>
              <a:gd name="adj" fmla="val 24000"/>
            </a:avLst>
          </a:prstGeom>
          <a:solidFill>
            <a:srgbClr val="EDF1F4"/>
          </a:solidFill>
          <a:ln w="0">
            <a:noFill/>
          </a:ln>
        </p:spPr>
        <p:txBody>
          <a:bodyPr wrap="square" lIns="57150" tIns="47625" rIns="57150" bIns="47625" anchor="ctr">
            <a:noAutofit/>
          </a:bodyPr>
          <a:lstStyle/>
          <a:p>
            <a:pPr algn="ctr">
              <a:defRPr sz="1350" b="1">
                <a:solidFill>
                  <a:srgbClr val="5B6B7E"/>
                </a:solidFill>
                <a:latin typeface="Nimbus Sans"/>
                <a:ea typeface="Nimbus Sans"/>
                <a:cs typeface="Nimbus Sans"/>
              </a:defRPr>
            </a:pPr>
            <a:r>
              <a:rPr lang="en-US" sz="1350" b="1" dirty="0">
                <a:solidFill>
                  <a:srgbClr val="5B6B7E"/>
                </a:solidFill>
                <a:latin typeface="Nimbus Sans"/>
                <a:ea typeface="Nimbus Sans"/>
                <a:cs typeface="Nimbus Sans"/>
              </a:rPr>
              <a:t>Edit</a:t>
            </a:r>
            <a:endParaRPr sz="1350" b="1" dirty="0">
              <a:solidFill>
                <a:srgbClr val="5B6B7E"/>
              </a:solidFill>
              <a:latin typeface="Nimbus Sans"/>
              <a:ea typeface="Nimbus Sans"/>
              <a:cs typeface="Nimbus Sans"/>
            </a:endParaRPr>
          </a:p>
        </p:txBody>
      </p:sp>
      <p:sp>
        <p:nvSpPr>
          <p:cNvPr id="35" name="Rectangle: Rounded Corners 34">
            <a:extLst>
              <a:ext uri="{FF2B5EF4-FFF2-40B4-BE49-F238E27FC236}">
                <a16:creationId xmlns:a16="http://schemas.microsoft.com/office/drawing/2014/main" id="{CBCC0682-81E8-6A5C-B141-AC16269E3A44}"/>
              </a:ext>
            </a:extLst>
          </p:cNvPr>
          <p:cNvSpPr>
            <a:spLocks noGrp="1"/>
          </p:cNvSpPr>
          <p:nvPr/>
        </p:nvSpPr>
        <p:spPr>
          <a:xfrm>
            <a:off x="10287316" y="4259804"/>
            <a:ext cx="744988" cy="292677"/>
          </a:xfrm>
          <a:prstGeom prst="roundRect">
            <a:avLst>
              <a:gd name="adj" fmla="val 24000"/>
            </a:avLst>
          </a:prstGeom>
          <a:solidFill>
            <a:srgbClr val="EDF1F4"/>
          </a:solidFill>
          <a:ln w="0">
            <a:noFill/>
          </a:ln>
        </p:spPr>
        <p:txBody>
          <a:bodyPr wrap="square" lIns="57150" tIns="47625" rIns="57150" bIns="47625" anchor="ctr">
            <a:noAutofit/>
          </a:bodyPr>
          <a:lstStyle/>
          <a:p>
            <a:pPr algn="ctr">
              <a:defRPr sz="1350" b="1">
                <a:solidFill>
                  <a:srgbClr val="5B6B7E"/>
                </a:solidFill>
                <a:latin typeface="Nimbus Sans"/>
                <a:ea typeface="Nimbus Sans"/>
                <a:cs typeface="Nimbus Sans"/>
              </a:defRPr>
            </a:pPr>
            <a:r>
              <a:rPr lang="en-US" sz="1350" b="1" dirty="0">
                <a:solidFill>
                  <a:srgbClr val="5B6B7E"/>
                </a:solidFill>
                <a:latin typeface="Nimbus Sans"/>
                <a:ea typeface="Nimbus Sans"/>
                <a:cs typeface="Nimbus Sans"/>
              </a:rPr>
              <a:t>Delete</a:t>
            </a:r>
            <a:endParaRPr sz="1350" b="1" dirty="0">
              <a:solidFill>
                <a:srgbClr val="5B6B7E"/>
              </a:solidFill>
              <a:latin typeface="Nimbus Sans"/>
              <a:ea typeface="Nimbus Sans"/>
              <a:cs typeface="Nimbus Sans"/>
            </a:endParaRPr>
          </a:p>
        </p:txBody>
      </p:sp>
      <p:sp>
        <p:nvSpPr>
          <p:cNvPr id="37" name="Rectangle: Rounded Corners 36">
            <a:extLst>
              <a:ext uri="{FF2B5EF4-FFF2-40B4-BE49-F238E27FC236}">
                <a16:creationId xmlns:a16="http://schemas.microsoft.com/office/drawing/2014/main" id="{EE7FEADC-1F13-EB82-3E1F-DFEB1EBACD0A}"/>
              </a:ext>
            </a:extLst>
          </p:cNvPr>
          <p:cNvSpPr>
            <a:spLocks noGrp="1"/>
          </p:cNvSpPr>
          <p:nvPr/>
        </p:nvSpPr>
        <p:spPr>
          <a:xfrm>
            <a:off x="10293489" y="2931269"/>
            <a:ext cx="744988" cy="292677"/>
          </a:xfrm>
          <a:prstGeom prst="roundRect">
            <a:avLst>
              <a:gd name="adj" fmla="val 24000"/>
            </a:avLst>
          </a:prstGeom>
          <a:solidFill>
            <a:srgbClr val="EDF1F4"/>
          </a:solidFill>
          <a:ln w="0">
            <a:noFill/>
          </a:ln>
        </p:spPr>
        <p:txBody>
          <a:bodyPr wrap="square" lIns="57150" tIns="47625" rIns="57150" bIns="47625" anchor="ctr">
            <a:noAutofit/>
          </a:bodyPr>
          <a:lstStyle/>
          <a:p>
            <a:pPr algn="ctr">
              <a:defRPr sz="1350" b="1">
                <a:solidFill>
                  <a:srgbClr val="5B6B7E"/>
                </a:solidFill>
                <a:latin typeface="Nimbus Sans"/>
                <a:ea typeface="Nimbus Sans"/>
                <a:cs typeface="Nimbus Sans"/>
              </a:defRPr>
            </a:pPr>
            <a:r>
              <a:rPr lang="en-US" sz="1350" b="1" dirty="0">
                <a:solidFill>
                  <a:srgbClr val="5B6B7E"/>
                </a:solidFill>
                <a:latin typeface="Nimbus Sans"/>
                <a:ea typeface="Nimbus Sans"/>
                <a:cs typeface="Nimbus Sans"/>
              </a:rPr>
              <a:t>Edit</a:t>
            </a:r>
            <a:endParaRPr sz="1350" b="1" dirty="0">
              <a:solidFill>
                <a:srgbClr val="5B6B7E"/>
              </a:solidFill>
              <a:latin typeface="Nimbus Sans"/>
              <a:ea typeface="Nimbus Sans"/>
              <a:cs typeface="Nimbus Sans"/>
            </a:endParaRPr>
          </a:p>
        </p:txBody>
      </p:sp>
      <p:sp>
        <p:nvSpPr>
          <p:cNvPr id="39" name="Rectangle: Rounded Corners 38">
            <a:extLst>
              <a:ext uri="{FF2B5EF4-FFF2-40B4-BE49-F238E27FC236}">
                <a16:creationId xmlns:a16="http://schemas.microsoft.com/office/drawing/2014/main" id="{B768B1BA-C9D7-6BFE-98AF-7A2E50FF470B}"/>
              </a:ext>
            </a:extLst>
          </p:cNvPr>
          <p:cNvSpPr>
            <a:spLocks noGrp="1"/>
          </p:cNvSpPr>
          <p:nvPr/>
        </p:nvSpPr>
        <p:spPr>
          <a:xfrm>
            <a:off x="10293489" y="3240470"/>
            <a:ext cx="744988" cy="292677"/>
          </a:xfrm>
          <a:prstGeom prst="roundRect">
            <a:avLst>
              <a:gd name="adj" fmla="val 24000"/>
            </a:avLst>
          </a:prstGeom>
          <a:solidFill>
            <a:srgbClr val="EDF1F4"/>
          </a:solidFill>
          <a:ln w="0">
            <a:noFill/>
          </a:ln>
        </p:spPr>
        <p:txBody>
          <a:bodyPr wrap="square" lIns="57150" tIns="47625" rIns="57150" bIns="47625" anchor="ctr">
            <a:noAutofit/>
          </a:bodyPr>
          <a:lstStyle/>
          <a:p>
            <a:pPr algn="ctr">
              <a:defRPr sz="1350" b="1">
                <a:solidFill>
                  <a:srgbClr val="5B6B7E"/>
                </a:solidFill>
                <a:latin typeface="Nimbus Sans"/>
                <a:ea typeface="Nimbus Sans"/>
                <a:cs typeface="Nimbus Sans"/>
              </a:defRPr>
            </a:pPr>
            <a:r>
              <a:rPr lang="en-US" sz="1350" b="1" dirty="0">
                <a:solidFill>
                  <a:srgbClr val="5B6B7E"/>
                </a:solidFill>
                <a:latin typeface="Nimbus Sans"/>
                <a:ea typeface="Nimbus Sans"/>
                <a:cs typeface="Nimbus Sans"/>
              </a:rPr>
              <a:t>Delete</a:t>
            </a:r>
            <a:endParaRPr sz="1350" b="1" dirty="0">
              <a:solidFill>
                <a:srgbClr val="5B6B7E"/>
              </a:solidFill>
              <a:latin typeface="Nimbus Sans"/>
              <a:ea typeface="Nimbus Sans"/>
              <a:cs typeface="Nimbus Sans"/>
            </a:endParaRPr>
          </a:p>
        </p:txBody>
      </p:sp>
      <p:sp>
        <p:nvSpPr>
          <p:cNvPr id="41" name="TextBox 40">
            <a:extLst>
              <a:ext uri="{FF2B5EF4-FFF2-40B4-BE49-F238E27FC236}">
                <a16:creationId xmlns:a16="http://schemas.microsoft.com/office/drawing/2014/main" id="{A0A0B45A-23A3-814C-4BBD-68BEB8466A28}"/>
              </a:ext>
            </a:extLst>
          </p:cNvPr>
          <p:cNvSpPr txBox="1"/>
          <p:nvPr/>
        </p:nvSpPr>
        <p:spPr>
          <a:xfrm>
            <a:off x="5730407" y="1945997"/>
            <a:ext cx="404278" cy="584775"/>
          </a:xfrm>
          <a:prstGeom prst="rect">
            <a:avLst/>
          </a:prstGeom>
          <a:noFill/>
        </p:spPr>
        <p:txBody>
          <a:bodyPr wrap="none" rtlCol="0">
            <a:spAutoFit/>
          </a:bodyPr>
          <a:lstStyle/>
          <a:p>
            <a:r>
              <a:rPr lang="en-US" sz="3200" dirty="0"/>
              <a:t>+</a:t>
            </a:r>
          </a:p>
        </p:txBody>
      </p:sp>
      <p:sp>
        <p:nvSpPr>
          <p:cNvPr id="43" name="Rectangle: Rounded Corners 42">
            <a:extLst>
              <a:ext uri="{FF2B5EF4-FFF2-40B4-BE49-F238E27FC236}">
                <a16:creationId xmlns:a16="http://schemas.microsoft.com/office/drawing/2014/main" id="{781897C3-CE89-808A-3113-37170010B545}"/>
              </a:ext>
            </a:extLst>
          </p:cNvPr>
          <p:cNvSpPr>
            <a:spLocks noGrp="1"/>
          </p:cNvSpPr>
          <p:nvPr/>
        </p:nvSpPr>
        <p:spPr>
          <a:xfrm>
            <a:off x="8240431" y="3126907"/>
            <a:ext cx="1027202" cy="227125"/>
          </a:xfrm>
          <a:prstGeom prst="roundRect">
            <a:avLst>
              <a:gd name="adj" fmla="val 20833"/>
            </a:avLst>
          </a:prstGeom>
          <a:solidFill>
            <a:srgbClr val="FFFFFF"/>
          </a:solidFill>
          <a:ln w="9525">
            <a:solidFill>
              <a:srgbClr val="D7DFE5"/>
            </a:solidFill>
            <a:prstDash val="solid"/>
          </a:ln>
        </p:spPr>
        <p:txBody>
          <a:bodyPr/>
          <a:lstStyle/>
          <a:p>
            <a:r>
              <a:rPr lang="en-US" sz="900" dirty="0"/>
              <a:t>12/01/26</a:t>
            </a:r>
          </a:p>
        </p:txBody>
      </p:sp>
      <p:sp>
        <p:nvSpPr>
          <p:cNvPr id="45" name="Rectangle: Rounded Corners 44">
            <a:extLst>
              <a:ext uri="{FF2B5EF4-FFF2-40B4-BE49-F238E27FC236}">
                <a16:creationId xmlns:a16="http://schemas.microsoft.com/office/drawing/2014/main" id="{8747CBEB-3F4F-1359-3FF3-BD021426F4D6}"/>
              </a:ext>
            </a:extLst>
          </p:cNvPr>
          <p:cNvSpPr>
            <a:spLocks noGrp="1"/>
          </p:cNvSpPr>
          <p:nvPr/>
        </p:nvSpPr>
        <p:spPr>
          <a:xfrm>
            <a:off x="8240431" y="3395981"/>
            <a:ext cx="1027202" cy="227125"/>
          </a:xfrm>
          <a:prstGeom prst="roundRect">
            <a:avLst>
              <a:gd name="adj" fmla="val 20833"/>
            </a:avLst>
          </a:prstGeom>
          <a:solidFill>
            <a:srgbClr val="FFFFFF"/>
          </a:solidFill>
          <a:ln w="9525">
            <a:solidFill>
              <a:srgbClr val="D7DFE5"/>
            </a:solidFill>
            <a:prstDash val="solid"/>
          </a:ln>
        </p:spPr>
        <p:txBody>
          <a:bodyPr/>
          <a:lstStyle/>
          <a:p>
            <a:r>
              <a:rPr lang="en-US" sz="900" dirty="0"/>
              <a:t>Housing</a:t>
            </a:r>
          </a:p>
        </p:txBody>
      </p:sp>
      <p:sp>
        <p:nvSpPr>
          <p:cNvPr id="47" name="Rectangle 46">
            <a:extLst>
              <a:ext uri="{FF2B5EF4-FFF2-40B4-BE49-F238E27FC236}">
                <a16:creationId xmlns:a16="http://schemas.microsoft.com/office/drawing/2014/main" id="{B503CC28-B688-7D7A-4AFC-5EA152DA93A2}"/>
              </a:ext>
            </a:extLst>
          </p:cNvPr>
          <p:cNvSpPr>
            <a:spLocks noGrp="1"/>
          </p:cNvSpPr>
          <p:nvPr/>
        </p:nvSpPr>
        <p:spPr>
          <a:xfrm>
            <a:off x="7398462" y="3881528"/>
            <a:ext cx="839430" cy="708409"/>
          </a:xfrm>
          <a:prstGeom prst="rect">
            <a:avLst/>
          </a:prstGeom>
          <a:noFill/>
          <a:ln w="0">
            <a:noFill/>
          </a:ln>
        </p:spPr>
        <p:txBody>
          <a:bodyPr wrap="square" lIns="0" tIns="0" rIns="0" bIns="0" anchor="t">
            <a:noAutofit/>
          </a:bodyPr>
          <a:lstStyle/>
          <a:p>
            <a:pPr>
              <a:defRPr sz="900" b="1">
                <a:solidFill>
                  <a:srgbClr val="5B6B7E"/>
                </a:solidFill>
                <a:latin typeface="Nimbus Sans"/>
                <a:ea typeface="Nimbus Sans"/>
                <a:cs typeface="Nimbus Sans"/>
              </a:defRPr>
            </a:pPr>
            <a:r>
              <a:rPr lang="en-US" sz="900" b="1" dirty="0">
                <a:solidFill>
                  <a:srgbClr val="5B6B7E"/>
                </a:solidFill>
                <a:latin typeface="Nimbus Sans"/>
                <a:ea typeface="Nimbus Sans"/>
                <a:cs typeface="Nimbus Sans"/>
              </a:rPr>
              <a:t>AMOUNT:</a:t>
            </a:r>
          </a:p>
          <a:p>
            <a:pPr>
              <a:defRPr sz="900" b="1">
                <a:solidFill>
                  <a:srgbClr val="5B6B7E"/>
                </a:solidFill>
                <a:latin typeface="Nimbus Sans"/>
                <a:ea typeface="Nimbus Sans"/>
                <a:cs typeface="Nimbus Sans"/>
              </a:defRPr>
            </a:pPr>
            <a:endParaRPr lang="en-US" sz="900" b="1" dirty="0">
              <a:solidFill>
                <a:srgbClr val="5B6B7E"/>
              </a:solidFill>
              <a:latin typeface="Nimbus Sans"/>
              <a:ea typeface="Nimbus Sans"/>
              <a:cs typeface="Nimbus Sans"/>
            </a:endParaRPr>
          </a:p>
          <a:p>
            <a:pPr>
              <a:defRPr sz="900" b="1">
                <a:solidFill>
                  <a:srgbClr val="5B6B7E"/>
                </a:solidFill>
                <a:latin typeface="Nimbus Sans"/>
                <a:ea typeface="Nimbus Sans"/>
                <a:cs typeface="Nimbus Sans"/>
              </a:defRPr>
            </a:pPr>
            <a:r>
              <a:rPr lang="en-US" sz="900" b="1" dirty="0">
                <a:solidFill>
                  <a:srgbClr val="5B6B7E"/>
                </a:solidFill>
                <a:latin typeface="Nimbus Sans"/>
                <a:ea typeface="Nimbus Sans"/>
                <a:cs typeface="Nimbus Sans"/>
              </a:rPr>
              <a:t>NEXT PAYMENT:</a:t>
            </a:r>
            <a:br>
              <a:rPr lang="en-US" sz="900" b="1" dirty="0">
                <a:solidFill>
                  <a:srgbClr val="5B6B7E"/>
                </a:solidFill>
                <a:latin typeface="Nimbus Sans"/>
                <a:ea typeface="Nimbus Sans"/>
                <a:cs typeface="Nimbus Sans"/>
              </a:rPr>
            </a:br>
            <a:br>
              <a:rPr lang="en-US" sz="900" b="1" dirty="0">
                <a:solidFill>
                  <a:srgbClr val="5B6B7E"/>
                </a:solidFill>
                <a:latin typeface="Nimbus Sans"/>
                <a:ea typeface="Nimbus Sans"/>
                <a:cs typeface="Nimbus Sans"/>
              </a:rPr>
            </a:br>
            <a:r>
              <a:rPr lang="en-US" sz="900" b="1" dirty="0">
                <a:solidFill>
                  <a:srgbClr val="5B6B7E"/>
                </a:solidFill>
                <a:latin typeface="Nimbus Sans"/>
                <a:ea typeface="Nimbus Sans"/>
                <a:cs typeface="Nimbus Sans"/>
              </a:rPr>
              <a:t>CATEGORY:</a:t>
            </a:r>
          </a:p>
        </p:txBody>
      </p:sp>
      <p:sp>
        <p:nvSpPr>
          <p:cNvPr id="49" name="Rectangle: Rounded Corners 48">
            <a:extLst>
              <a:ext uri="{FF2B5EF4-FFF2-40B4-BE49-F238E27FC236}">
                <a16:creationId xmlns:a16="http://schemas.microsoft.com/office/drawing/2014/main" id="{33C8F378-FBCD-1077-E419-EAAC7CE4FE62}"/>
              </a:ext>
            </a:extLst>
          </p:cNvPr>
          <p:cNvSpPr>
            <a:spLocks noGrp="1"/>
          </p:cNvSpPr>
          <p:nvPr/>
        </p:nvSpPr>
        <p:spPr>
          <a:xfrm>
            <a:off x="8240430" y="3855069"/>
            <a:ext cx="1027202" cy="227125"/>
          </a:xfrm>
          <a:prstGeom prst="roundRect">
            <a:avLst>
              <a:gd name="adj" fmla="val 20833"/>
            </a:avLst>
          </a:prstGeom>
          <a:solidFill>
            <a:srgbClr val="FFFFFF"/>
          </a:solidFill>
          <a:ln w="9525">
            <a:solidFill>
              <a:srgbClr val="D7DFE5"/>
            </a:solidFill>
            <a:prstDash val="solid"/>
          </a:ln>
        </p:spPr>
        <p:txBody>
          <a:bodyPr/>
          <a:lstStyle/>
          <a:p>
            <a:r>
              <a:rPr lang="en-US" sz="900" dirty="0"/>
              <a:t>$ 26.99</a:t>
            </a:r>
          </a:p>
        </p:txBody>
      </p:sp>
      <p:sp>
        <p:nvSpPr>
          <p:cNvPr id="51" name="Rectangle: Rounded Corners 50">
            <a:extLst>
              <a:ext uri="{FF2B5EF4-FFF2-40B4-BE49-F238E27FC236}">
                <a16:creationId xmlns:a16="http://schemas.microsoft.com/office/drawing/2014/main" id="{F617B3F6-1953-D397-95BF-26547E4E3CD4}"/>
              </a:ext>
            </a:extLst>
          </p:cNvPr>
          <p:cNvSpPr>
            <a:spLocks noGrp="1"/>
          </p:cNvSpPr>
          <p:nvPr/>
        </p:nvSpPr>
        <p:spPr>
          <a:xfrm>
            <a:off x="8240430" y="4117504"/>
            <a:ext cx="1027202" cy="227125"/>
          </a:xfrm>
          <a:prstGeom prst="roundRect">
            <a:avLst>
              <a:gd name="adj" fmla="val 20833"/>
            </a:avLst>
          </a:prstGeom>
          <a:solidFill>
            <a:srgbClr val="FFFFFF"/>
          </a:solidFill>
          <a:ln w="9525">
            <a:solidFill>
              <a:srgbClr val="D7DFE5"/>
            </a:solidFill>
            <a:prstDash val="solid"/>
          </a:ln>
        </p:spPr>
        <p:txBody>
          <a:bodyPr/>
          <a:lstStyle/>
          <a:p>
            <a:r>
              <a:rPr lang="en-US" sz="900" dirty="0"/>
              <a:t>12/01/26</a:t>
            </a:r>
          </a:p>
        </p:txBody>
      </p:sp>
      <p:sp>
        <p:nvSpPr>
          <p:cNvPr id="53" name="Rectangle: Rounded Corners 52">
            <a:extLst>
              <a:ext uri="{FF2B5EF4-FFF2-40B4-BE49-F238E27FC236}">
                <a16:creationId xmlns:a16="http://schemas.microsoft.com/office/drawing/2014/main" id="{19ED6B7D-DFBD-681E-49B3-EFC6C2A836DC}"/>
              </a:ext>
            </a:extLst>
          </p:cNvPr>
          <p:cNvSpPr>
            <a:spLocks noGrp="1"/>
          </p:cNvSpPr>
          <p:nvPr/>
        </p:nvSpPr>
        <p:spPr>
          <a:xfrm>
            <a:off x="8240430" y="4386578"/>
            <a:ext cx="1027202" cy="227125"/>
          </a:xfrm>
          <a:prstGeom prst="roundRect">
            <a:avLst>
              <a:gd name="adj" fmla="val 20833"/>
            </a:avLst>
          </a:prstGeom>
          <a:solidFill>
            <a:srgbClr val="FFFFFF"/>
          </a:solidFill>
          <a:ln w="9525">
            <a:solidFill>
              <a:srgbClr val="D7DFE5"/>
            </a:solidFill>
            <a:prstDash val="solid"/>
          </a:ln>
        </p:spPr>
        <p:txBody>
          <a:bodyPr/>
          <a:lstStyle/>
          <a:p>
            <a:r>
              <a:rPr lang="en-US" sz="900" dirty="0"/>
              <a:t>Entertainment</a:t>
            </a:r>
          </a:p>
        </p:txBody>
      </p:sp>
      <p:sp>
        <p:nvSpPr>
          <p:cNvPr id="55" name="Rectangle 54">
            <a:extLst>
              <a:ext uri="{FF2B5EF4-FFF2-40B4-BE49-F238E27FC236}">
                <a16:creationId xmlns:a16="http://schemas.microsoft.com/office/drawing/2014/main" id="{B280F807-858E-0339-1A97-C1789343E7D5}"/>
              </a:ext>
            </a:extLst>
          </p:cNvPr>
          <p:cNvSpPr>
            <a:spLocks noGrp="1"/>
          </p:cNvSpPr>
          <p:nvPr/>
        </p:nvSpPr>
        <p:spPr>
          <a:xfrm>
            <a:off x="7398463" y="4881094"/>
            <a:ext cx="839429" cy="708409"/>
          </a:xfrm>
          <a:prstGeom prst="rect">
            <a:avLst/>
          </a:prstGeom>
          <a:noFill/>
          <a:ln w="0">
            <a:noFill/>
          </a:ln>
        </p:spPr>
        <p:txBody>
          <a:bodyPr wrap="square" lIns="0" tIns="0" rIns="0" bIns="0" anchor="t">
            <a:noAutofit/>
          </a:bodyPr>
          <a:lstStyle/>
          <a:p>
            <a:pPr>
              <a:defRPr sz="900" b="1">
                <a:solidFill>
                  <a:srgbClr val="5B6B7E"/>
                </a:solidFill>
                <a:latin typeface="Nimbus Sans"/>
                <a:ea typeface="Nimbus Sans"/>
                <a:cs typeface="Nimbus Sans"/>
              </a:defRPr>
            </a:pPr>
            <a:r>
              <a:rPr lang="en-US" sz="900" b="1" dirty="0">
                <a:solidFill>
                  <a:srgbClr val="5B6B7E"/>
                </a:solidFill>
                <a:latin typeface="Nimbus Sans"/>
                <a:ea typeface="Nimbus Sans"/>
                <a:cs typeface="Nimbus Sans"/>
              </a:rPr>
              <a:t>AMOUNT:</a:t>
            </a:r>
          </a:p>
          <a:p>
            <a:pPr>
              <a:defRPr sz="900" b="1">
                <a:solidFill>
                  <a:srgbClr val="5B6B7E"/>
                </a:solidFill>
                <a:latin typeface="Nimbus Sans"/>
                <a:ea typeface="Nimbus Sans"/>
                <a:cs typeface="Nimbus Sans"/>
              </a:defRPr>
            </a:pPr>
            <a:endParaRPr lang="en-US" sz="900" b="1" dirty="0">
              <a:solidFill>
                <a:srgbClr val="5B6B7E"/>
              </a:solidFill>
              <a:latin typeface="Nimbus Sans"/>
              <a:ea typeface="Nimbus Sans"/>
              <a:cs typeface="Nimbus Sans"/>
            </a:endParaRPr>
          </a:p>
          <a:p>
            <a:pPr>
              <a:defRPr sz="900" b="1">
                <a:solidFill>
                  <a:srgbClr val="5B6B7E"/>
                </a:solidFill>
                <a:latin typeface="Nimbus Sans"/>
                <a:ea typeface="Nimbus Sans"/>
                <a:cs typeface="Nimbus Sans"/>
              </a:defRPr>
            </a:pPr>
            <a:r>
              <a:rPr lang="en-US" sz="900" b="1" dirty="0">
                <a:solidFill>
                  <a:srgbClr val="5B6B7E"/>
                </a:solidFill>
                <a:latin typeface="Nimbus Sans"/>
                <a:ea typeface="Nimbus Sans"/>
                <a:cs typeface="Nimbus Sans"/>
              </a:rPr>
              <a:t>NEXT PAYMENT:</a:t>
            </a:r>
            <a:br>
              <a:rPr lang="en-US" sz="900" b="1" dirty="0">
                <a:solidFill>
                  <a:srgbClr val="5B6B7E"/>
                </a:solidFill>
                <a:latin typeface="Nimbus Sans"/>
                <a:ea typeface="Nimbus Sans"/>
                <a:cs typeface="Nimbus Sans"/>
              </a:rPr>
            </a:br>
            <a:br>
              <a:rPr lang="en-US" sz="900" b="1" dirty="0">
                <a:solidFill>
                  <a:srgbClr val="5B6B7E"/>
                </a:solidFill>
                <a:latin typeface="Nimbus Sans"/>
                <a:ea typeface="Nimbus Sans"/>
                <a:cs typeface="Nimbus Sans"/>
              </a:rPr>
            </a:br>
            <a:r>
              <a:rPr lang="en-US" sz="900" b="1" dirty="0">
                <a:solidFill>
                  <a:srgbClr val="5B6B7E"/>
                </a:solidFill>
                <a:latin typeface="Nimbus Sans"/>
                <a:ea typeface="Nimbus Sans"/>
                <a:cs typeface="Nimbus Sans"/>
              </a:rPr>
              <a:t>CATEGORY:</a:t>
            </a:r>
          </a:p>
        </p:txBody>
      </p:sp>
      <p:sp>
        <p:nvSpPr>
          <p:cNvPr id="57" name="Rectangle: Rounded Corners 56">
            <a:extLst>
              <a:ext uri="{FF2B5EF4-FFF2-40B4-BE49-F238E27FC236}">
                <a16:creationId xmlns:a16="http://schemas.microsoft.com/office/drawing/2014/main" id="{1B803113-A6D7-2307-F8E1-DB9E213BBD65}"/>
              </a:ext>
            </a:extLst>
          </p:cNvPr>
          <p:cNvSpPr>
            <a:spLocks noGrp="1"/>
          </p:cNvSpPr>
          <p:nvPr/>
        </p:nvSpPr>
        <p:spPr>
          <a:xfrm>
            <a:off x="8240431" y="4854635"/>
            <a:ext cx="1027202" cy="227125"/>
          </a:xfrm>
          <a:prstGeom prst="roundRect">
            <a:avLst>
              <a:gd name="adj" fmla="val 20833"/>
            </a:avLst>
          </a:prstGeom>
          <a:solidFill>
            <a:srgbClr val="FFFFFF"/>
          </a:solidFill>
          <a:ln w="9525">
            <a:solidFill>
              <a:srgbClr val="D7DFE5"/>
            </a:solidFill>
            <a:prstDash val="solid"/>
          </a:ln>
        </p:spPr>
        <p:txBody>
          <a:bodyPr/>
          <a:lstStyle/>
          <a:p>
            <a:r>
              <a:rPr lang="en-US" sz="900" dirty="0"/>
              <a:t>$ 180</a:t>
            </a:r>
          </a:p>
        </p:txBody>
      </p:sp>
      <p:sp>
        <p:nvSpPr>
          <p:cNvPr id="59" name="Rectangle: Rounded Corners 58">
            <a:extLst>
              <a:ext uri="{FF2B5EF4-FFF2-40B4-BE49-F238E27FC236}">
                <a16:creationId xmlns:a16="http://schemas.microsoft.com/office/drawing/2014/main" id="{97509DB3-205C-FD6D-C4D4-1ABAE0AF1DC0}"/>
              </a:ext>
            </a:extLst>
          </p:cNvPr>
          <p:cNvSpPr>
            <a:spLocks noGrp="1"/>
          </p:cNvSpPr>
          <p:nvPr/>
        </p:nvSpPr>
        <p:spPr>
          <a:xfrm>
            <a:off x="8240431" y="5117070"/>
            <a:ext cx="1027202" cy="227125"/>
          </a:xfrm>
          <a:prstGeom prst="roundRect">
            <a:avLst>
              <a:gd name="adj" fmla="val 20833"/>
            </a:avLst>
          </a:prstGeom>
          <a:solidFill>
            <a:srgbClr val="FFFFFF"/>
          </a:solidFill>
          <a:ln w="9525">
            <a:solidFill>
              <a:srgbClr val="D7DFE5"/>
            </a:solidFill>
            <a:prstDash val="solid"/>
          </a:ln>
        </p:spPr>
        <p:txBody>
          <a:bodyPr/>
          <a:lstStyle/>
          <a:p>
            <a:r>
              <a:rPr lang="en-US" sz="900" dirty="0"/>
              <a:t>05/19/27</a:t>
            </a:r>
          </a:p>
        </p:txBody>
      </p:sp>
      <p:sp>
        <p:nvSpPr>
          <p:cNvPr id="61" name="Rectangle: Rounded Corners 60">
            <a:extLst>
              <a:ext uri="{FF2B5EF4-FFF2-40B4-BE49-F238E27FC236}">
                <a16:creationId xmlns:a16="http://schemas.microsoft.com/office/drawing/2014/main" id="{4F584EC6-FB40-0C96-1051-ACDADB0454B2}"/>
              </a:ext>
            </a:extLst>
          </p:cNvPr>
          <p:cNvSpPr>
            <a:spLocks noGrp="1"/>
          </p:cNvSpPr>
          <p:nvPr/>
        </p:nvSpPr>
        <p:spPr>
          <a:xfrm>
            <a:off x="8240431" y="5386144"/>
            <a:ext cx="1027202" cy="227125"/>
          </a:xfrm>
          <a:prstGeom prst="roundRect">
            <a:avLst>
              <a:gd name="adj" fmla="val 20833"/>
            </a:avLst>
          </a:prstGeom>
          <a:solidFill>
            <a:srgbClr val="FFFFFF"/>
          </a:solidFill>
          <a:ln w="9525">
            <a:solidFill>
              <a:srgbClr val="D7DFE5"/>
            </a:solidFill>
            <a:prstDash val="solid"/>
          </a:ln>
        </p:spPr>
        <p:txBody>
          <a:bodyPr/>
          <a:lstStyle/>
          <a:p>
            <a:r>
              <a:rPr lang="en-US" sz="900" dirty="0"/>
              <a:t>Utility</a:t>
            </a:r>
          </a:p>
        </p:txBody>
      </p:sp>
      <p:sp>
        <p:nvSpPr>
          <p:cNvPr id="62" name="TextBox 61">
            <a:extLst>
              <a:ext uri="{FF2B5EF4-FFF2-40B4-BE49-F238E27FC236}">
                <a16:creationId xmlns:a16="http://schemas.microsoft.com/office/drawing/2014/main" id="{3110FDCA-1E4A-81C4-7AF9-6AEF987F3BB3}"/>
              </a:ext>
            </a:extLst>
          </p:cNvPr>
          <p:cNvSpPr txBox="1"/>
          <p:nvPr/>
        </p:nvSpPr>
        <p:spPr>
          <a:xfrm>
            <a:off x="5770430" y="3366344"/>
            <a:ext cx="651140" cy="253916"/>
          </a:xfrm>
          <a:prstGeom prst="rect">
            <a:avLst/>
          </a:prstGeom>
          <a:noFill/>
        </p:spPr>
        <p:txBody>
          <a:bodyPr wrap="none" rtlCol="0">
            <a:spAutoFit/>
          </a:bodyPr>
          <a:lstStyle/>
          <a:p>
            <a:r>
              <a:rPr lang="en-US" sz="1050" dirty="0">
                <a:solidFill>
                  <a:schemeClr val="bg2">
                    <a:lumMod val="75000"/>
                  </a:schemeClr>
                </a:solidFill>
              </a:rPr>
              <a:t>Monthly</a:t>
            </a:r>
            <a:endParaRPr lang="en-US" sz="1400" dirty="0">
              <a:solidFill>
                <a:schemeClr val="bg2">
                  <a:lumMod val="75000"/>
                </a:schemeClr>
              </a:solidFill>
            </a:endParaRPr>
          </a:p>
        </p:txBody>
      </p:sp>
      <p:sp>
        <p:nvSpPr>
          <p:cNvPr id="64" name="TextBox 63">
            <a:extLst>
              <a:ext uri="{FF2B5EF4-FFF2-40B4-BE49-F238E27FC236}">
                <a16:creationId xmlns:a16="http://schemas.microsoft.com/office/drawing/2014/main" id="{C9EB2288-AFB1-0E73-A18E-03CE08DC1552}"/>
              </a:ext>
            </a:extLst>
          </p:cNvPr>
          <p:cNvSpPr txBox="1"/>
          <p:nvPr/>
        </p:nvSpPr>
        <p:spPr>
          <a:xfrm>
            <a:off x="5712982" y="4369875"/>
            <a:ext cx="651140" cy="253916"/>
          </a:xfrm>
          <a:prstGeom prst="rect">
            <a:avLst/>
          </a:prstGeom>
          <a:noFill/>
        </p:spPr>
        <p:txBody>
          <a:bodyPr wrap="none" rtlCol="0">
            <a:spAutoFit/>
          </a:bodyPr>
          <a:lstStyle/>
          <a:p>
            <a:r>
              <a:rPr lang="en-US" sz="1050" dirty="0">
                <a:solidFill>
                  <a:schemeClr val="bg2">
                    <a:lumMod val="75000"/>
                  </a:schemeClr>
                </a:solidFill>
              </a:rPr>
              <a:t>Monthly</a:t>
            </a:r>
            <a:endParaRPr lang="en-US" sz="1400" dirty="0">
              <a:solidFill>
                <a:schemeClr val="bg2">
                  <a:lumMod val="75000"/>
                </a:schemeClr>
              </a:solidFill>
            </a:endParaRPr>
          </a:p>
        </p:txBody>
      </p:sp>
      <p:sp>
        <p:nvSpPr>
          <p:cNvPr id="66" name="TextBox 65">
            <a:extLst>
              <a:ext uri="{FF2B5EF4-FFF2-40B4-BE49-F238E27FC236}">
                <a16:creationId xmlns:a16="http://schemas.microsoft.com/office/drawing/2014/main" id="{34D74FDE-2831-1BBE-E223-F81BC85544FE}"/>
              </a:ext>
            </a:extLst>
          </p:cNvPr>
          <p:cNvSpPr txBox="1"/>
          <p:nvPr/>
        </p:nvSpPr>
        <p:spPr>
          <a:xfrm>
            <a:off x="5769701" y="5359353"/>
            <a:ext cx="691215" cy="253916"/>
          </a:xfrm>
          <a:prstGeom prst="rect">
            <a:avLst/>
          </a:prstGeom>
          <a:noFill/>
        </p:spPr>
        <p:txBody>
          <a:bodyPr wrap="none" rtlCol="0">
            <a:spAutoFit/>
          </a:bodyPr>
          <a:lstStyle/>
          <a:p>
            <a:r>
              <a:rPr lang="en-US" sz="1050" dirty="0">
                <a:solidFill>
                  <a:schemeClr val="bg2">
                    <a:lumMod val="75000"/>
                  </a:schemeClr>
                </a:solidFill>
              </a:rPr>
              <a:t>Annually</a:t>
            </a:r>
            <a:endParaRPr lang="en-US" sz="1400" dirty="0">
              <a:solidFill>
                <a:schemeClr val="bg2">
                  <a:lumMod val="75000"/>
                </a:schemeClr>
              </a:solidFill>
            </a:endParaRPr>
          </a:p>
        </p:txBody>
      </p:sp>
      <p:pic>
        <p:nvPicPr>
          <p:cNvPr id="6" name="Picture 5">
            <a:extLst>
              <a:ext uri="{FF2B5EF4-FFF2-40B4-BE49-F238E27FC236}">
                <a16:creationId xmlns:a16="http://schemas.microsoft.com/office/drawing/2014/main" id="{C76D6CB6-9105-0229-2560-689CE668B3C7}"/>
              </a:ext>
            </a:extLst>
          </p:cNvPr>
          <p:cNvPicPr>
            <a:picLocks noChangeAspect="1"/>
          </p:cNvPicPr>
          <p:nvPr/>
        </p:nvPicPr>
        <p:blipFill>
          <a:blip r:embed="rId2"/>
          <a:stretch>
            <a:fillRect/>
          </a:stretch>
        </p:blipFill>
        <p:spPr>
          <a:xfrm>
            <a:off x="428367" y="779275"/>
            <a:ext cx="781050" cy="47625"/>
          </a:xfrm>
          <a:prstGeom prst="rect">
            <a:avLst/>
          </a:prstGeom>
        </p:spPr>
      </p:pic>
    </p:spTree>
    <p:extLst>
      <p:ext uri="{BB962C8B-B14F-4D97-AF65-F5344CB8AC3E}">
        <p14:creationId xmlns:p14="http://schemas.microsoft.com/office/powerpoint/2010/main" val="1983879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04A105-CA71-C332-9E2C-97009B4BFC23}"/>
              </a:ext>
            </a:extLst>
          </p:cNvPr>
          <p:cNvSpPr txBox="1"/>
          <p:nvPr/>
        </p:nvSpPr>
        <p:spPr>
          <a:xfrm>
            <a:off x="928635" y="0"/>
            <a:ext cx="10515600" cy="97429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kern="1200" dirty="0">
                <a:solidFill>
                  <a:schemeClr val="bg1"/>
                </a:solidFill>
                <a:latin typeface="+mj-lt"/>
                <a:ea typeface="+mj-ea"/>
                <a:cs typeface="+mj-cs"/>
              </a:rPr>
              <a:t>Questions?</a:t>
            </a:r>
          </a:p>
        </p:txBody>
      </p:sp>
      <p:pic>
        <p:nvPicPr>
          <p:cNvPr id="4" name="Picture 3" descr="Yellow question mark">
            <a:extLst>
              <a:ext uri="{FF2B5EF4-FFF2-40B4-BE49-F238E27FC236}">
                <a16:creationId xmlns:a16="http://schemas.microsoft.com/office/drawing/2014/main" id="{6805B973-D7F7-4AC7-9FEB-C5CF32AA0A02}"/>
              </a:ext>
            </a:extLst>
          </p:cNvPr>
          <p:cNvPicPr>
            <a:picLocks noChangeAspect="1"/>
          </p:cNvPicPr>
          <p:nvPr/>
        </p:nvPicPr>
        <p:blipFill>
          <a:blip r:embed="rId2"/>
          <a:srcRect t="7109" b="23924"/>
          <a:stretch>
            <a:fillRect/>
          </a:stretch>
        </p:blipFill>
        <p:spPr>
          <a:xfrm>
            <a:off x="838200" y="1825625"/>
            <a:ext cx="10515600" cy="4351338"/>
          </a:xfrm>
          <a:prstGeom prst="rect">
            <a:avLst/>
          </a:prstGeom>
          <a:noFill/>
        </p:spPr>
      </p:pic>
      <p:pic>
        <p:nvPicPr>
          <p:cNvPr id="5" name="Picture 4">
            <a:extLst>
              <a:ext uri="{FF2B5EF4-FFF2-40B4-BE49-F238E27FC236}">
                <a16:creationId xmlns:a16="http://schemas.microsoft.com/office/drawing/2014/main" id="{BD9A0B91-AF8E-75A3-977D-6478A39F746C}"/>
              </a:ext>
            </a:extLst>
          </p:cNvPr>
          <p:cNvPicPr>
            <a:picLocks noChangeAspect="1"/>
          </p:cNvPicPr>
          <p:nvPr/>
        </p:nvPicPr>
        <p:blipFill>
          <a:blip r:embed="rId3"/>
          <a:stretch>
            <a:fillRect/>
          </a:stretch>
        </p:blipFill>
        <p:spPr>
          <a:xfrm>
            <a:off x="447675" y="852906"/>
            <a:ext cx="781050" cy="47625"/>
          </a:xfrm>
          <a:prstGeom prst="rect">
            <a:avLst/>
          </a:prstGeom>
        </p:spPr>
      </p:pic>
    </p:spTree>
    <p:extLst>
      <p:ext uri="{BB962C8B-B14F-4D97-AF65-F5344CB8AC3E}">
        <p14:creationId xmlns:p14="http://schemas.microsoft.com/office/powerpoint/2010/main" val="3026978273"/>
      </p:ext>
    </p:extLst>
  </p:cSld>
  <p:clrMapOvr>
    <a:masterClrMapping/>
  </p:clrMapOvr>
</p:sld>
</file>

<file path=ppt/theme/theme1.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212</TotalTime>
  <Words>1654</Words>
  <Application>Microsoft Office PowerPoint</Application>
  <DocSecurity>0</DocSecurity>
  <PresentationFormat>Widescreen</PresentationFormat>
  <Paragraphs>297</Paragraphs>
  <Slides>19</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Aptos Display</vt:lpstr>
      <vt:lpstr>Arial</vt:lpstr>
      <vt:lpstr>Calibri</vt:lpstr>
      <vt:lpstr>Nimbus 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Budget Planner -  Overview</vt:lpstr>
      <vt:lpstr>Budget Planner</vt:lpstr>
      <vt:lpstr>Recurring Expenses</vt:lpstr>
      <vt:lpstr>Recurring Expenses - Dashboard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WILFREDO CEDANO VENTURA</cp:lastModifiedBy>
  <cp:revision>27</cp:revision>
  <dcterms:created xsi:type="dcterms:W3CDTF">2026-09-16T00:08:26Z</dcterms:created>
  <dcterms:modified xsi:type="dcterms:W3CDTF">2026-09-17T23:48:30Z</dcterms:modified>
</cp:coreProperties>
</file>